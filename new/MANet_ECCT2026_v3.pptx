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74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Recall by Threshold Strategy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98-41A0-B0F0-9C4B2611C78C}"/>
              </c:ext>
            </c:extLst>
          </c:dPt>
          <c:dPt>
            <c:idx val="1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98-41A0-B0F0-9C4B2611C78C}"/>
              </c:ext>
            </c:extLst>
          </c:dPt>
          <c:dPt>
            <c:idx val="2"/>
            <c:invertIfNegative val="0"/>
            <c:bubble3D val="0"/>
            <c:spPr>
              <a:solidFill>
                <a:srgbClr val="0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98-41A0-B0F0-9C4B2611C7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Default (τ = 0.50)</c:v>
                </c:pt>
                <c:pt idx="1">
                  <c:v>Strict Max (τ ≈ 0)</c:v>
                </c:pt>
                <c:pt idx="2">
                  <c:v>F2-Optimised (τ* = 0.32)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98.28</c:v>
                </c:pt>
                <c:pt idx="1">
                  <c:v>100</c:v>
                </c:pt>
                <c:pt idx="2">
                  <c:v>98.49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98-41A0-B0F0-9C4B2611C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5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7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053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64592"/>
            <a:ext cx="15544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155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MANet: A Context-Aware Attention Network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6824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Robust Zero-Day Ransomware Detection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011680" y="2395728"/>
            <a:ext cx="5120640" cy="20117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Nabila Ferdous   ·   Sadia Sultana Pinky   ·   Oishi Jyoti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&amp; Computer Engineering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Rajshahi University of Engineering &amp; Technology (RUET), Bangladesh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3547872"/>
            <a:ext cx="219456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547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078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Ransomware  ·  Attention Mechanism  ·  Transformer  ·  Deep Learning  ·  XAI  ·  Behavioral Analysis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01168" y="621792"/>
            <a:ext cx="2651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" y="62179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" y="621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9052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Evasion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92608" y="11521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&amp; metamorphic ransomware bypasses static signature-based detection tools with ease.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71800" y="621792"/>
            <a:ext cx="2651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62179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71800" y="621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044952" y="9052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Independence Fallacy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063240" y="11521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&amp; GBMs evaluate API calls and registry events in isolation, missing relational context.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742432" y="621792"/>
            <a:ext cx="2651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42432" y="62179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42432" y="621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15584" y="9052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Overconfident Misclassification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33872" y="11521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assign up to 99.99% confidence to misclassified zero-day samples — critical SOC risk.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01168" y="1901952"/>
            <a:ext cx="2651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1168" y="190195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0116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" y="21854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 in Evaluation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92608" y="24323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k-fold cross-validation leaks future families into training, inflating reported accuracy.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71800" y="1901952"/>
            <a:ext cx="2651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971800" y="190195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7180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044952" y="21854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Scalar-Only Explainability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063240" y="24323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provide marginal per-feature scores but cannot capture interaction effects between signals.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742432" y="1901952"/>
            <a:ext cx="2651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42432" y="190195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42432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15584" y="21854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Alert Fatigue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833872" y="243230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 rates from poorly calibrated models overwhelm security analysts operationally.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(1/2): Traditional &amp; Sequential Models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01168" y="621792"/>
            <a:ext cx="26974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" y="6217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90088" y="621792"/>
            <a:ext cx="26974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0088" y="6217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ML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(RF, LightGBM, SVM)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79008" y="621792"/>
            <a:ext cx="26974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9008" y="62179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01168" y="1033272"/>
            <a:ext cx="2697480" cy="69494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1033272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990088" y="1033272"/>
            <a:ext cx="2697480" cy="69494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81528" y="1033272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known byte/hash patterns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779008" y="1033272"/>
            <a:ext cx="2697480" cy="69494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1033272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features + ensemble classifiers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01168" y="1783080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1783080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990088" y="1783080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81528" y="1783080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Fast; low FP for known threats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779008" y="1783080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70448" y="1783080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deployed; interpretable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01168" y="2532888"/>
            <a:ext cx="2697480" cy="69494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2608" y="2532888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Limitation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990088" y="2532888"/>
            <a:ext cx="2697480" cy="69494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81528" y="2532888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 by polymorphism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779008" y="2532888"/>
            <a:ext cx="2697480" cy="69494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70448" y="2532888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independence assumption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01168" y="3282696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2608" y="328269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Gap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990088" y="3282696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81528" y="328269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completely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779008" y="3282696"/>
            <a:ext cx="2697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70448" y="328269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wrong predictions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(2/2): Attention Models &amp; XAI Comparison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21792"/>
            <a:ext cx="228600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6217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0" y="621792"/>
            <a:ext cx="15544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621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023360" y="621792"/>
            <a:ext cx="15544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0" y="621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621792"/>
            <a:ext cx="15544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621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32320" y="621792"/>
            <a:ext cx="155448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621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82880" y="1097280"/>
            <a:ext cx="228600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109728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468880" y="1097280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14600" y="10972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023360" y="1097280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69080" y="10972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577840" y="1097280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23560" y="10972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32320" y="1097280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78040" y="10972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82880" y="157276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15727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468880" y="157276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14600" y="15727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023360" y="157276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69080" y="15727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577840" y="157276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23560" y="15727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132320" y="157276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78040" y="15727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82880" y="2048256"/>
            <a:ext cx="228600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28600" y="20482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468880" y="2048256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514600" y="204825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023360" y="2048256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069080" y="204825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577840" y="2048256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623560" y="204825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132320" y="2048256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78040" y="204825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182880" y="252374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28600" y="252374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Classifier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2468880" y="252374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14600" y="25237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023360" y="252374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069080" y="25237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577840" y="252374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623560" y="25237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7132320" y="252374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78040" y="25237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182880" y="2999232"/>
            <a:ext cx="228600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28600" y="299923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2468880" y="2999232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514600" y="29992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023360" y="2999232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069080" y="29992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577840" y="2999232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623560" y="29992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7132320" y="2999232"/>
            <a:ext cx="1554480" cy="47548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178040" y="29992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182880" y="3474720"/>
            <a:ext cx="228600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28600" y="34747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(Ours)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2468880" y="3474720"/>
            <a:ext cx="155448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514600" y="3474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4023360" y="3474720"/>
            <a:ext cx="155448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069080" y="3474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5577840" y="3474720"/>
            <a:ext cx="155448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623560" y="3474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7132320" y="3474720"/>
            <a:ext cx="1554480" cy="475488"/>
          </a:xfrm>
          <a:prstGeom prst="rect">
            <a:avLst/>
          </a:prstGeom>
          <a:solidFill>
            <a:srgbClr val="000000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78040" y="34747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82880" y="440740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is the only approach satisfying all four criteria simultaneously.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01168" y="658368"/>
            <a:ext cx="8741664" cy="117043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" y="658368"/>
            <a:ext cx="804672" cy="1170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" y="658368"/>
            <a:ext cx="8046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749808"/>
            <a:ext cx="7717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relational attention-based feature interaction learning address the high-confidence misclassification errors of zero-day ransomware families that defeat tabular classifiers?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1168" y="1938528"/>
            <a:ext cx="8741664" cy="117043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" y="1938528"/>
            <a:ext cx="804672" cy="1170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" y="1938528"/>
            <a:ext cx="8046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568" y="2029968"/>
            <a:ext cx="7717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quantitative F2-score threshold calibration reduce SOC alert fatigue while maintaining high recall for novel ransomware families under strict chronological evaluation?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01168" y="3218688"/>
            <a:ext cx="8741664" cy="117043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" y="3218688"/>
            <a:ext cx="804672" cy="1170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" y="3218688"/>
            <a:ext cx="8046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568" y="3310128"/>
            <a:ext cx="77175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Latent Attention Heatmaps and Feature Interaction Networks provide actionable relational explainability that surpasses scalar SHAP attribution for SOC analysts?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21792"/>
            <a:ext cx="2852928" cy="42245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621792"/>
            <a:ext cx="2852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62179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92608" y="12618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Detection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1627632"/>
            <a:ext cx="1572768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1737360"/>
            <a:ext cx="259689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tabular feature independence with multi-head self-attention to capture the contextual grammar of ransomware execution — API calls, registry writes, and file I/O as co-occurring evidence.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63824" y="621792"/>
            <a:ext cx="2852928" cy="42245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63824" y="621792"/>
            <a:ext cx="2852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63824" y="62179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273552" y="12618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03904" y="1627632"/>
            <a:ext cx="1572768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0" y="1737360"/>
            <a:ext cx="259689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classification decision boundary via F2-score maximisation on the validation set, producing a SOC-deployable threshold that prioritises recall while controlling false positives.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44768" y="621792"/>
            <a:ext cx="2852928" cy="42245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44768" y="621792"/>
            <a:ext cx="2852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44768" y="62179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254496" y="126187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Explainability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84848" y="1627632"/>
            <a:ext cx="1572768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72784" y="1737360"/>
            <a:ext cx="2596896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Latent Attention Heatmaps and Feature Interaction Networks that map pairwise behavioral co-activations, bridging deep learning accuracy with actionable cyber threat intelligence.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Impacts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40080"/>
            <a:ext cx="2697480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8412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98.26%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74320" y="151790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(TESSERACT split)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99232" y="640080"/>
            <a:ext cx="2697480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0672" y="8412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090672" y="151790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15584" y="640080"/>
            <a:ext cx="2697480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8412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07024" y="151790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(probability calibration)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82880" y="2121408"/>
            <a:ext cx="2697480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3225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274320" y="29992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Zero-Day Detection Accuracy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99232" y="2121408"/>
            <a:ext cx="2697480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90672" y="23225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98.49%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090672" y="29992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at F2-Optimised τ*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15584" y="2121408"/>
            <a:ext cx="2697480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07024" y="23225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33.5%↓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907024" y="29992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vs. Random Forest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82880" y="444398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outperforms Random Forest and LightGBM across calibration, zero-day generalisation, and explainability under strict TESSERACT chronological evaluation.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(1/2): Dataset &amp; How MANet Works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21792"/>
            <a:ext cx="39319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621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 Used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" y="1005840"/>
            <a:ext cx="393192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10058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MLRan?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700784" y="10058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logs from ransomware running in a safe, isolated computer (sandbox)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82880" y="138531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138531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Recordings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700784" y="1385316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4,880 — ransomware + safe software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82880" y="1764792"/>
            <a:ext cx="393192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032" y="17647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Families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700784" y="176479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different ransomware types, 2,330 samples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82880" y="2144268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" y="214426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Software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1700784" y="214426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2,550 benign samples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182880" y="2523744"/>
            <a:ext cx="393192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252374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1700784" y="252374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80% of recordings — 3,905 samples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182880" y="290322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29032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1700784" y="290322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20% of recordings — 975 samples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182880" y="3282696"/>
            <a:ext cx="3931920" cy="3657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6032" y="328269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1700784" y="3282696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 behavioral indicators per recording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82880" y="3662172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" y="366217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Test Family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1700784" y="366217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— never seen during training (14 samples)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182880" y="4059936"/>
            <a:ext cx="3931920" cy="694944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0965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sort by time?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274320" y="429768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mix old and new data randomly, the model can accidentally learn from future malware. Sorting by time keeps the test completely fair — like a real-world scenario.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315968" y="621792"/>
            <a:ext cx="4626864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15968" y="621792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MANet Works — 3 Steps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315968" y="1005840"/>
            <a:ext cx="4626864" cy="841248"/>
          </a:xfrm>
          <a:prstGeom prst="rect">
            <a:avLst/>
          </a:prstGeom>
          <a:solidFill>
            <a:srgbClr val="F7F7F7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68" y="1005840"/>
            <a:ext cx="585216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15968" y="1005840"/>
            <a:ext cx="585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956048" y="10607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956048" y="1280160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483 numbers describing what a program did. MANet first compresses these into a richer 256-number summary — like turning a long receipt into a short financial report. This is called the Embedding Layer.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4315968" y="1901952"/>
            <a:ext cx="4626864" cy="1993392"/>
          </a:xfrm>
          <a:prstGeom prst="rect">
            <a:avLst/>
          </a:prstGeom>
          <a:solidFill>
            <a:srgbClr val="F7F7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68" y="1901952"/>
            <a:ext cx="585216" cy="19933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315968" y="1901952"/>
            <a:ext cx="58521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956048" y="19568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Learning  ★ Key Idea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956048" y="2176272"/>
            <a:ext cx="3913632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models ask: is this API call suspicious? MANet asks: do these events become suspicious together?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Opening a file is normal. Encrypting it is normal. But opening → encrypting → deleting → connecting to an unknown server — all together — that is ransomware.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uses 8 parallel investigators, each looking at how every feature connects to every other feature. They combine their findings into one shared understanding.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4315968" y="3950208"/>
            <a:ext cx="4626864" cy="841248"/>
          </a:xfrm>
          <a:prstGeom prst="rect">
            <a:avLst/>
          </a:prstGeom>
          <a:solidFill>
            <a:srgbClr val="F7F7F7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68" y="3950208"/>
            <a:ext cx="585216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315968" y="3950208"/>
            <a:ext cx="585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956048" y="40050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4956048" y="4224528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understanding passes through shrinking layers (256 → 128 → 64) and produces one number between 0 and 1. Close to 1 = ransomware. Close to 0 = safe.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(2/2): Four Key Design Decisions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21792"/>
            <a:ext cx="4279392" cy="2048256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621792"/>
            <a:ext cx="427939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21792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Fair Data Scaling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0896" y="104241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training, we scaled all 483 numbers to a common range — using only what the model saw in training. We never touched test data statistics. This ensures no future information sneaks into the learning process.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82880" y="2249424"/>
            <a:ext cx="427939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" y="22677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Prevents the model from having an unfair advantage during testing.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63440" y="621792"/>
            <a:ext cx="4279392" cy="2048256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621792"/>
            <a:ext cx="427939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621792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Penalise Missed Ransomware More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91456" y="104241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we told the model: missing a ransomware is a bigger mistake than raising a false alarm. So we applied a higher penalty for those errors. This pushes the model to be more aggressive in catching threats.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4663440" y="2249424"/>
            <a:ext cx="427939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91456" y="22677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In real life, one missed ransomware attack can be catastrophic.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82880" y="2761488"/>
            <a:ext cx="4279392" cy="2048256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2761488"/>
            <a:ext cx="427939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2761488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Smart Decision Threshold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10896" y="318211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models use 0.5 as the cutoff — above is ransomware, below is safe. We tested every possible cutoff and found that 0.3198 works best. It catches more ransomware while keeping false alarms low.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security gate — we found the exact sensitivity setting that works for a real security team.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182880" y="4389120"/>
            <a:ext cx="427939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" y="44074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right cutoff reduced false alarms to just 9 — same as default — but caught even more ransomware.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63440" y="2761488"/>
            <a:ext cx="4279392" cy="2048256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2761488"/>
            <a:ext cx="4279392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2761488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Visual Explanation Maps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91456" y="318211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detection, we extract what the 8 investigators were focused on. We draw this as a grid map showing which features strongly connected to which others. For Akira ransomware — never seen before — this map showed very clear, structured patterns, confirming the model truly understood the threat.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4663440" y="4389120"/>
            <a:ext cx="427939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91456" y="44074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Security analysts can see why a decision was made — not just that it was made.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(1/3): Global Classification Performance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91440" y="640080"/>
            <a:ext cx="182880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" y="640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20240" y="640080"/>
            <a:ext cx="105156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0" y="6400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71800" y="640080"/>
            <a:ext cx="105156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71800" y="6400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23360" y="640080"/>
            <a:ext cx="100584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640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0" y="640080"/>
            <a:ext cx="100584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640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640080"/>
            <a:ext cx="109728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640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32320" y="640080"/>
            <a:ext cx="100584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0" y="640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440" y="1078992"/>
            <a:ext cx="18288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8016" y="10789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920240" y="1078992"/>
            <a:ext cx="105156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56816" y="1078992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96.82%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971800" y="1078992"/>
            <a:ext cx="105156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08376" y="1078992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95.97%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023360" y="1078992"/>
            <a:ext cx="10058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59936" y="10789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97.42%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0" y="1078992"/>
            <a:ext cx="10058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65776" y="10789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0.9669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035040" y="1078992"/>
            <a:ext cx="109728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71616" y="10789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0.0242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132320" y="1078992"/>
            <a:ext cx="10058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68896" y="10789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0.9956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1440" y="153619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8016" y="15361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920240" y="1536192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956816" y="1536192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97.44%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971800" y="1536192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08376" y="1536192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96.22%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023360" y="153619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059936" y="15361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98.49%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029200" y="153619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65776" y="15361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0.9734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35040" y="1536192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71616" y="15361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0.0198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132320" y="153619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168896" y="15361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1440" y="1993392"/>
            <a:ext cx="182880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28016" y="199339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(Ours)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1920240" y="1993392"/>
            <a:ext cx="105156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956816" y="1993392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98.26%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2971800" y="1993392"/>
            <a:ext cx="105156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008376" y="1993392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98.07%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023360" y="1993392"/>
            <a:ext cx="100584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059936" y="19933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98.28%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029200" y="1993392"/>
            <a:ext cx="100584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065776" y="19933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0.9817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035040" y="1993392"/>
            <a:ext cx="109728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071616" y="19933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0.0161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132320" y="1993392"/>
            <a:ext cx="1005840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168896" y="199339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0.9970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1440" y="3383280"/>
            <a:ext cx="2121408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1440" y="3566160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+1.44%</a:t>
            </a:r>
            <a:endParaRPr lang="en-US" sz="2400" dirty="0"/>
          </a:p>
        </p:txBody>
      </p:sp>
      <p:sp>
        <p:nvSpPr>
          <p:cNvPr id="67" name="Text 64"/>
          <p:cNvSpPr/>
          <p:nvPr/>
        </p:nvSpPr>
        <p:spPr>
          <a:xfrm>
            <a:off x="91440" y="4206240"/>
            <a:ext cx="21214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 Forest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350008" y="3383280"/>
            <a:ext cx="2121408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350008" y="3566160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33.5%↓</a:t>
            </a:r>
            <a:endParaRPr lang="en-US" sz="2400" dirty="0"/>
          </a:p>
        </p:txBody>
      </p:sp>
      <p:sp>
        <p:nvSpPr>
          <p:cNvPr id="70" name="Text 67"/>
          <p:cNvSpPr/>
          <p:nvPr/>
        </p:nvSpPr>
        <p:spPr>
          <a:xfrm>
            <a:off x="2350008" y="4206240"/>
            <a:ext cx="21214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 Forest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4608576" y="3383280"/>
            <a:ext cx="2121408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608576" y="3566160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18.7%↓</a:t>
            </a:r>
            <a:endParaRPr lang="en-US" sz="2400" dirty="0"/>
          </a:p>
        </p:txBody>
      </p:sp>
      <p:sp>
        <p:nvSpPr>
          <p:cNvPr id="73" name="Text 70"/>
          <p:cNvSpPr/>
          <p:nvPr/>
        </p:nvSpPr>
        <p:spPr>
          <a:xfrm>
            <a:off x="4608576" y="4206240"/>
            <a:ext cx="21214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LightGBM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6867144" y="3383280"/>
            <a:ext cx="2121408" cy="138988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67144" y="3566160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0.9967</a:t>
            </a:r>
            <a:endParaRPr lang="en-US" sz="2400" dirty="0"/>
          </a:p>
        </p:txBody>
      </p:sp>
      <p:sp>
        <p:nvSpPr>
          <p:cNvPr id="76" name="Text 73"/>
          <p:cNvSpPr/>
          <p:nvPr/>
        </p:nvSpPr>
        <p:spPr>
          <a:xfrm>
            <a:off x="6867144" y="4206240"/>
            <a:ext cx="21214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(2/3): Cost-Sensitive Threshold Optimisation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182880" y="640080"/>
          <a:ext cx="46634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3" name="Group 52">
            <a:extLst>
              <a:ext uri="{FF2B5EF4-FFF2-40B4-BE49-F238E27FC236}">
                <a16:creationId xmlns:a16="http://schemas.microsoft.com/office/drawing/2014/main" id="{B30D333C-A62F-3CA4-E141-B35591597507}"/>
              </a:ext>
            </a:extLst>
          </p:cNvPr>
          <p:cNvGrpSpPr/>
          <p:nvPr/>
        </p:nvGrpSpPr>
        <p:grpSpPr>
          <a:xfrm>
            <a:off x="5029200" y="640080"/>
            <a:ext cx="3913632" cy="2326233"/>
            <a:chOff x="5029200" y="640080"/>
            <a:chExt cx="6217920" cy="2468880"/>
          </a:xfrm>
        </p:grpSpPr>
        <p:sp>
          <p:nvSpPr>
            <p:cNvPr id="10" name="Shape 6"/>
            <p:cNvSpPr/>
            <p:nvPr/>
          </p:nvSpPr>
          <p:spPr>
            <a:xfrm>
              <a:off x="5029200" y="640080"/>
              <a:ext cx="2103120" cy="60350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1" name="Text 7"/>
            <p:cNvSpPr/>
            <p:nvPr/>
          </p:nvSpPr>
          <p:spPr>
            <a:xfrm>
              <a:off x="5065776" y="640080"/>
              <a:ext cx="20299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Strategy</a:t>
              </a:r>
              <a:endParaRPr lang="en-US" sz="850" dirty="0"/>
            </a:p>
          </p:txBody>
        </p:sp>
        <p:sp>
          <p:nvSpPr>
            <p:cNvPr id="12" name="Shape 8"/>
            <p:cNvSpPr/>
            <p:nvPr/>
          </p:nvSpPr>
          <p:spPr>
            <a:xfrm>
              <a:off x="7132320" y="640080"/>
              <a:ext cx="1188720" cy="60350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3" name="Text 9"/>
            <p:cNvSpPr/>
            <p:nvPr/>
          </p:nvSpPr>
          <p:spPr>
            <a:xfrm>
              <a:off x="7168896" y="640080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Threshold</a:t>
              </a:r>
              <a:endParaRPr lang="en-US" sz="85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8321040" y="640080"/>
              <a:ext cx="1188720" cy="60350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8357616" y="640080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Precision</a:t>
              </a:r>
              <a:endParaRPr lang="en-US" sz="850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9509760" y="640080"/>
              <a:ext cx="1170432" cy="60350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7" name="Text 13"/>
            <p:cNvSpPr/>
            <p:nvPr/>
          </p:nvSpPr>
          <p:spPr>
            <a:xfrm>
              <a:off x="9546336" y="640080"/>
              <a:ext cx="1097280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Recall</a:t>
              </a:r>
              <a:endParaRPr lang="en-US" sz="85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10680192" y="640080"/>
              <a:ext cx="566928" cy="603504"/>
            </a:xfrm>
            <a:prstGeom prst="rect">
              <a:avLst/>
            </a:prstGeom>
            <a:solidFill>
              <a:srgbClr val="000000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9" name="Text 15"/>
            <p:cNvSpPr/>
            <p:nvPr/>
          </p:nvSpPr>
          <p:spPr>
            <a:xfrm>
              <a:off x="10716768" y="640080"/>
              <a:ext cx="493776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FP</a:t>
              </a:r>
              <a:endParaRPr lang="en-US" sz="85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5029200" y="1261872"/>
              <a:ext cx="2103120" cy="6035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21" name="Text 17"/>
            <p:cNvSpPr/>
            <p:nvPr/>
          </p:nvSpPr>
          <p:spPr>
            <a:xfrm>
              <a:off x="5065776" y="1261872"/>
              <a:ext cx="20299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Default</a:t>
              </a:r>
              <a:endParaRPr lang="en-US" sz="850" dirty="0"/>
            </a:p>
          </p:txBody>
        </p:sp>
        <p:sp>
          <p:nvSpPr>
            <p:cNvPr id="22" name="Shape 18"/>
            <p:cNvSpPr/>
            <p:nvPr/>
          </p:nvSpPr>
          <p:spPr>
            <a:xfrm>
              <a:off x="7132320" y="1261872"/>
              <a:ext cx="1188720" cy="6035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23" name="Text 19"/>
            <p:cNvSpPr/>
            <p:nvPr/>
          </p:nvSpPr>
          <p:spPr>
            <a:xfrm>
              <a:off x="7168896" y="1261872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 0.5000</a:t>
              </a:r>
              <a:endParaRPr lang="en-US" sz="85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8321040" y="1261872"/>
              <a:ext cx="1188720" cy="6035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8357616" y="1261872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98.07%</a:t>
              </a:r>
              <a:endParaRPr lang="en-US" sz="850" dirty="0"/>
            </a:p>
          </p:txBody>
        </p:sp>
        <p:sp>
          <p:nvSpPr>
            <p:cNvPr id="26" name="Shape 22"/>
            <p:cNvSpPr/>
            <p:nvPr/>
          </p:nvSpPr>
          <p:spPr>
            <a:xfrm>
              <a:off x="9509760" y="1261872"/>
              <a:ext cx="1170432" cy="6035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27" name="Text 23"/>
            <p:cNvSpPr/>
            <p:nvPr/>
          </p:nvSpPr>
          <p:spPr>
            <a:xfrm>
              <a:off x="9546336" y="1261872"/>
              <a:ext cx="1097280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98.28%</a:t>
              </a:r>
              <a:endParaRPr lang="en-US" sz="850" dirty="0"/>
            </a:p>
          </p:txBody>
        </p:sp>
        <p:sp>
          <p:nvSpPr>
            <p:cNvPr id="28" name="Shape 24"/>
            <p:cNvSpPr/>
            <p:nvPr/>
          </p:nvSpPr>
          <p:spPr>
            <a:xfrm>
              <a:off x="10680192" y="1261872"/>
              <a:ext cx="566928" cy="6035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29" name="Text 25"/>
            <p:cNvSpPr/>
            <p:nvPr/>
          </p:nvSpPr>
          <p:spPr>
            <a:xfrm>
              <a:off x="10716768" y="1261872"/>
              <a:ext cx="493776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850" dirty="0"/>
            </a:p>
          </p:txBody>
        </p:sp>
        <p:sp>
          <p:nvSpPr>
            <p:cNvPr id="30" name="Shape 26"/>
            <p:cNvSpPr/>
            <p:nvPr/>
          </p:nvSpPr>
          <p:spPr>
            <a:xfrm>
              <a:off x="5029200" y="1883664"/>
              <a:ext cx="2103120" cy="603504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31" name="Text 27"/>
            <p:cNvSpPr/>
            <p:nvPr/>
          </p:nvSpPr>
          <p:spPr>
            <a:xfrm>
              <a:off x="5065776" y="1883664"/>
              <a:ext cx="20299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Strict Recall Max</a:t>
              </a:r>
              <a:endParaRPr lang="en-US" sz="85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7132320" y="1883664"/>
              <a:ext cx="1188720" cy="603504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33" name="Text 29"/>
            <p:cNvSpPr/>
            <p:nvPr/>
          </p:nvSpPr>
          <p:spPr>
            <a:xfrm>
              <a:off x="7168896" y="1883664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 0.0001</a:t>
              </a:r>
              <a:endParaRPr lang="en-US" sz="850" dirty="0"/>
            </a:p>
          </p:txBody>
        </p:sp>
        <p:sp>
          <p:nvSpPr>
            <p:cNvPr id="34" name="Shape 30"/>
            <p:cNvSpPr/>
            <p:nvPr/>
          </p:nvSpPr>
          <p:spPr>
            <a:xfrm>
              <a:off x="8321040" y="1883664"/>
              <a:ext cx="1188720" cy="603504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35" name="Text 31"/>
            <p:cNvSpPr/>
            <p:nvPr/>
          </p:nvSpPr>
          <p:spPr>
            <a:xfrm>
              <a:off x="8357616" y="1883664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47.69%</a:t>
              </a:r>
              <a:endParaRPr lang="en-US" sz="850" dirty="0"/>
            </a:p>
          </p:txBody>
        </p:sp>
        <p:sp>
          <p:nvSpPr>
            <p:cNvPr id="36" name="Shape 32"/>
            <p:cNvSpPr/>
            <p:nvPr/>
          </p:nvSpPr>
          <p:spPr>
            <a:xfrm>
              <a:off x="9509760" y="1883664"/>
              <a:ext cx="1170432" cy="603504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37" name="Text 33"/>
            <p:cNvSpPr/>
            <p:nvPr/>
          </p:nvSpPr>
          <p:spPr>
            <a:xfrm>
              <a:off x="9546336" y="1883664"/>
              <a:ext cx="1097280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100.00%</a:t>
              </a:r>
              <a:endParaRPr lang="en-US" sz="850" dirty="0"/>
            </a:p>
          </p:txBody>
        </p:sp>
        <p:sp>
          <p:nvSpPr>
            <p:cNvPr id="38" name="Shape 34"/>
            <p:cNvSpPr/>
            <p:nvPr/>
          </p:nvSpPr>
          <p:spPr>
            <a:xfrm>
              <a:off x="10680192" y="1883664"/>
              <a:ext cx="566928" cy="603504"/>
            </a:xfrm>
            <a:prstGeom prst="rect">
              <a:avLst/>
            </a:prstGeom>
            <a:solidFill>
              <a:srgbClr val="F7F7F7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39" name="Text 35"/>
            <p:cNvSpPr/>
            <p:nvPr/>
          </p:nvSpPr>
          <p:spPr>
            <a:xfrm>
              <a:off x="10716768" y="1883664"/>
              <a:ext cx="493776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510</a:t>
              </a:r>
              <a:endParaRPr lang="en-US" sz="850" dirty="0"/>
            </a:p>
          </p:txBody>
        </p:sp>
        <p:sp>
          <p:nvSpPr>
            <p:cNvPr id="40" name="Shape 36"/>
            <p:cNvSpPr/>
            <p:nvPr/>
          </p:nvSpPr>
          <p:spPr>
            <a:xfrm>
              <a:off x="5029200" y="2505456"/>
              <a:ext cx="2103120" cy="60350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41" name="Text 37"/>
            <p:cNvSpPr/>
            <p:nvPr/>
          </p:nvSpPr>
          <p:spPr>
            <a:xfrm>
              <a:off x="5065776" y="2505456"/>
              <a:ext cx="20299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F2-Optimised ★</a:t>
              </a:r>
              <a:endParaRPr lang="en-US" sz="850" dirty="0"/>
            </a:p>
          </p:txBody>
        </p:sp>
        <p:sp>
          <p:nvSpPr>
            <p:cNvPr id="42" name="Shape 38"/>
            <p:cNvSpPr/>
            <p:nvPr/>
          </p:nvSpPr>
          <p:spPr>
            <a:xfrm>
              <a:off x="7132320" y="2505456"/>
              <a:ext cx="1188720" cy="60350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43" name="Text 39"/>
            <p:cNvSpPr/>
            <p:nvPr/>
          </p:nvSpPr>
          <p:spPr>
            <a:xfrm>
              <a:off x="7168896" y="2505456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 0.3198</a:t>
              </a:r>
              <a:endParaRPr lang="en-US" sz="850" dirty="0"/>
            </a:p>
          </p:txBody>
        </p:sp>
        <p:sp>
          <p:nvSpPr>
            <p:cNvPr id="44" name="Shape 40"/>
            <p:cNvSpPr/>
            <p:nvPr/>
          </p:nvSpPr>
          <p:spPr>
            <a:xfrm>
              <a:off x="8321040" y="2505456"/>
              <a:ext cx="1188720" cy="60350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45" name="Text 41"/>
            <p:cNvSpPr/>
            <p:nvPr/>
          </p:nvSpPr>
          <p:spPr>
            <a:xfrm>
              <a:off x="8357616" y="2505456"/>
              <a:ext cx="1115568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98.07%</a:t>
              </a:r>
              <a:endParaRPr lang="en-US" sz="850" dirty="0"/>
            </a:p>
          </p:txBody>
        </p:sp>
        <p:sp>
          <p:nvSpPr>
            <p:cNvPr id="46" name="Shape 42"/>
            <p:cNvSpPr/>
            <p:nvPr/>
          </p:nvSpPr>
          <p:spPr>
            <a:xfrm>
              <a:off x="9509760" y="2505456"/>
              <a:ext cx="1170432" cy="60350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47" name="Text 43"/>
            <p:cNvSpPr/>
            <p:nvPr/>
          </p:nvSpPr>
          <p:spPr>
            <a:xfrm>
              <a:off x="9546336" y="2505456"/>
              <a:ext cx="1097280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98.49%</a:t>
              </a:r>
              <a:endParaRPr lang="en-US" sz="850" dirty="0"/>
            </a:p>
          </p:txBody>
        </p:sp>
        <p:sp>
          <p:nvSpPr>
            <p:cNvPr id="48" name="Shape 44"/>
            <p:cNvSpPr/>
            <p:nvPr/>
          </p:nvSpPr>
          <p:spPr>
            <a:xfrm>
              <a:off x="10680192" y="2505456"/>
              <a:ext cx="566928" cy="603504"/>
            </a:xfrm>
            <a:prstGeom prst="rect">
              <a:avLst/>
            </a:prstGeom>
            <a:solidFill>
              <a:srgbClr val="1A1A1A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49" name="Text 45"/>
            <p:cNvSpPr/>
            <p:nvPr/>
          </p:nvSpPr>
          <p:spPr>
            <a:xfrm>
              <a:off x="10716768" y="2505456"/>
              <a:ext cx="493776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850" dirty="0"/>
            </a:p>
          </p:txBody>
        </p:sp>
      </p:grpSp>
      <p:sp>
        <p:nvSpPr>
          <p:cNvPr id="50" name="Shape 46"/>
          <p:cNvSpPr/>
          <p:nvPr/>
        </p:nvSpPr>
        <p:spPr>
          <a:xfrm>
            <a:off x="5029200" y="3218688"/>
            <a:ext cx="3913632" cy="157276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20640" y="3291840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5120640" y="3566160"/>
            <a:ext cx="373075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F2-optimisation achieves the same 9 false positives as the default threshold while gaining +0.21% recall — avoiding the 5,567% FP explosion of strict recall maximisation.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(3/3): Zero-Day Detection &amp; Latent Explainability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21792"/>
            <a:ext cx="402336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6217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Akira Family — Detection Results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2880" y="1042416"/>
            <a:ext cx="402336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04241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samples in test set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834640" y="10424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82880" y="146304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1463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exposure to Akira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834640" y="1463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82880" y="1883664"/>
            <a:ext cx="402336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188366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detection accuracy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834640" y="188366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82880" y="2304288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230428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 recall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834640" y="23042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82880" y="2724912"/>
            <a:ext cx="4023360" cy="402336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7249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boundary (tabular)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834640" y="272491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overlapping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82880" y="3145536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14553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boundary (MANet)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2834640" y="314553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separated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82880" y="3657600"/>
            <a:ext cx="4023360" cy="10789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2880" y="3657600"/>
            <a:ext cx="4023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Zero-Day Detection Accuracy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14 Akira samples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407408" y="621792"/>
            <a:ext cx="453542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07408" y="621792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Attention Heatmaps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407408" y="1042416"/>
            <a:ext cx="274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07408" y="104241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00016" y="1042416"/>
            <a:ext cx="4242816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73168" y="104241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256-dim attention-enriched embeddings visualised as 16×16 interaction maps.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407408" y="1536192"/>
            <a:ext cx="274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07408" y="153619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00016" y="1536192"/>
            <a:ext cx="424281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73168" y="153619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joint activation intensity of a latent dimension pair post self-attention.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407408" y="2029968"/>
            <a:ext cx="274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407408" y="202996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700016" y="2029968"/>
            <a:ext cx="4242816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73168" y="20299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patterns for Akira samples confirm specific co-activated feature constellations.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407408" y="2523744"/>
            <a:ext cx="274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07408" y="252374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00016" y="2523744"/>
            <a:ext cx="424281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73168" y="252374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Qualitatively distinct from SHAP: captures interaction structure, not marginal scores.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407408" y="3017520"/>
            <a:ext cx="274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407408" y="301752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700016" y="3017520"/>
            <a:ext cx="4242816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73168" y="301752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over H=8 heads:  Aᵢⱼ = (1/H) Σₕ α⁽ʰ⁾ᵢⱼ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407408" y="3511296"/>
            <a:ext cx="274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407408" y="351129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00016" y="3511296"/>
            <a:ext cx="424281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73168" y="351129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links deep learning decisions to actionable cyber threat intelligence.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08EBF-482D-AE97-E1C1-D52A13597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720"/>
            <a:ext cx="9144000" cy="388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52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077894-5824-4F33-06F4-03CA18D42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011"/>
            <a:ext cx="9144000" cy="38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0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40080"/>
            <a:ext cx="4279392" cy="126187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640080"/>
            <a:ext cx="427939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40080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987552"/>
            <a:ext cx="40599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ransomware detection reformulated as a relational feature interaction problem using Multi-Head Self-Attention, overcoming the tabular independence fallacy.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63440" y="640080"/>
            <a:ext cx="4279392" cy="126187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640080"/>
            <a:ext cx="427939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640080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73168" y="987552"/>
            <a:ext cx="40599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 RFE-selected features → 256-dim latent space → 8-head attention (512-dim FFN, residual, dropout) → calibrated binary classification.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82880" y="1993392"/>
            <a:ext cx="4279392" cy="126187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2880" y="1993392"/>
            <a:ext cx="427939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1993392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92608" y="2340864"/>
            <a:ext cx="40599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98.26% accuracy · F1 = 0.9817 · Brier Score = 0.0161 (33.5% below Random Forest) under strict TESSERACT chronological evaluation.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663440" y="1993392"/>
            <a:ext cx="4279392" cy="126187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1993392"/>
            <a:ext cx="427939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1993392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Generalisation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73168" y="2340864"/>
            <a:ext cx="40599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accuracy on all 14 Akira samples — entirely absent from training — confirming relational attention generalises to unseen behavioral signatures.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182880" y="3346704"/>
            <a:ext cx="4279392" cy="126187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3346704"/>
            <a:ext cx="427939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346704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Deployment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92608" y="3694176"/>
            <a:ext cx="40599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F2-optimised τ* = 0.3198 achieves 98.49% recall with only 9 false positives, directly reducing security operations centre alert fatigue.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4663440" y="3346704"/>
            <a:ext cx="4279392" cy="126187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3346704"/>
            <a:ext cx="4279392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3346704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73168" y="3694176"/>
            <a:ext cx="40599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Attention Heatmaps reveal interaction structure of malicious co-activations, bridging deep learning accuracy with actionable cyber threat intelligence.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40080"/>
            <a:ext cx="2834640" cy="193852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" y="640080"/>
            <a:ext cx="28346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640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Real-Time Streaming Inference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2608" y="1078992"/>
            <a:ext cx="261518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bidirectional attention with a causal unidirectional variant to enable mid-execution interruption of the encryption lifecycle, supporting inline endpoint prevention.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154680" y="640080"/>
            <a:ext cx="2834640" cy="193852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640080"/>
            <a:ext cx="28346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640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VLM Threat Intelligence Synthesis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64408" y="1078992"/>
            <a:ext cx="261518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MANet's 2D Latent Attention Heatmaps into Vision-Language Models (VLMs) to automatically generate natural-language threat intelligence reports for SOC analysts.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126480" y="640080"/>
            <a:ext cx="2834640" cy="1938528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640080"/>
            <a:ext cx="28346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640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Cross-Dataset Generalisation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36208" y="1078992"/>
            <a:ext cx="261518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MANet on additional dynamic analysis datasets beyond MLRan across different sandbox environments and operating systems to establish broad applicability.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182880" y="2724912"/>
            <a:ext cx="4261104" cy="2011680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2724912"/>
            <a:ext cx="426110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2724912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Multi-Family Zero-Day Validation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92608" y="3163824"/>
            <a:ext cx="4041648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TESSERACT evaluation across multiple temporally disjoint zero-day families beyond the single Akira cohort to further strengthen generalisation claims.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90288" y="2724912"/>
            <a:ext cx="4261104" cy="2011680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90288" y="2724912"/>
            <a:ext cx="4261104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2724912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XAI User Study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00016" y="3163824"/>
            <a:ext cx="4041648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evaluate the operational utility of Latent Attention Heatmaps vs. scalar SHAP attribution through a controlled study with professional security operations analysts.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(1/2)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40080"/>
            <a:ext cx="8778240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6675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F. Pendlebury et al., "TESSERACT: Eliminating Experimental Bias in Malware Classification across Space and Time," USENIX Security 2019, pp. 729–746.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182880" y="1080821"/>
            <a:ext cx="8778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108253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A. Vaswani et al., "Attention Is All You Need," NeurIPS, vol. 30, 2017, pp. 5998–6008.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182880" y="1521562"/>
            <a:ext cx="8778240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548994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S. M. Lundberg &amp; S.-I. Lee, "A Unified Approach to Interpreting Model Predictions," NeurIPS, vol. 30, 2017, pp. 4765–4774.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182880" y="1962302"/>
            <a:ext cx="8778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1989734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M. T. Ribeiro et al., "Why Should I Trust You?: Explaining the Predictions of Any Classifier," ACM SIGKDD 2016, pp. 1135–1144.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82880" y="2403043"/>
            <a:ext cx="8778240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430475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A. Barredo Arrieta et al., "Explainable Artificial Intelligence (XAI): Concepts, Taxonomies, Opportunities and Challenges," Information Fusion, vol. 58, pp. 82–115, 2020.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182880" y="2843784"/>
            <a:ext cx="8778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287121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D. Ucci et al., "Survey of Machine Learning Techniques for Malware Analysis," Computers &amp; Security, vol. 81, pp. 123–147, 2019.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182880" y="3284525"/>
            <a:ext cx="8778240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311957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A. Continella et al., "ShieldFS: Forging an In-Kernel Privilege Anomaly Framework to Eliminate Ransomware," ACSAC 2016, pp. 737–748.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182880" y="3725266"/>
            <a:ext cx="8778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75269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D. Sgandurra et al., "Automated Dynamic Analysis of Ransomware," arXiv:1609.03020, 2016.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182880" y="4166006"/>
            <a:ext cx="8778240" cy="420624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19343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A. Kharaz et al., "UNVEIL: A Large-Scale, Automated Approach to Detecting Ransomware," USENIX Security 2016, pp. 757–772.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(2/2)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2880" y="640080"/>
            <a:ext cx="87782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66751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G. Ke et al., "LightGBM: A Highly Efficient Gradient Boosting Decision Tree," NeurIPS, vol. 30, 2017, pp. 3146–3154.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82880" y="1115568"/>
            <a:ext cx="8778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14300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M. Vinayakumar et al., "Deep Learning Approach for Intelligent Intrusion Detection System," IEEE Access, vol. 7, pp. 41525–41550, 2019.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82880" y="1591056"/>
            <a:ext cx="87782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61848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C. Elkan, "The Foundations of Cost-Sensitive Learning," IJCAI 2001, pp. 973–978.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82880" y="2066544"/>
            <a:ext cx="8778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09397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A. Martin et al., "The DET Curve in Assessment of Detection Task Performance," Eurospeech 1997, pp. 1895–1898.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82880" y="2542032"/>
            <a:ext cx="87782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569464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S. O. Arik &amp; T. Pfister, "TabNet: Attentive Interpretable Tabular Learning," AAAI, vol. 35, no. 8, 2021, pp. 6679–6687.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82880" y="3017520"/>
            <a:ext cx="8778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0449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X. Huang et al., "TabTransformer: Tabular Data Modeling Using Contextual Embeddings," arXiv:2012.06678, 2020.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82880" y="3493008"/>
            <a:ext cx="877824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52044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L. van der Maaten &amp; G. Hinton, "Visualizing Data Using t-SNE," JMLR, vol. 9, pp. 2579–2605, 2008.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82880" y="3968496"/>
            <a:ext cx="8778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9959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A. Niculescu-Mizil &amp; R. Caruana, "Predicting Good Probabilities with Supervised Learning," ICML 2005, pp. 625–632.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48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548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864"/>
            <a:ext cx="749808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292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983480"/>
            <a:ext cx="91440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ECCT 2026  |  MANet: Zero-Day Ransomware Detection  |  Ferdous, Pinky &amp; Jyoti  —  RUET, Bangladesh</a:t>
            </a:r>
            <a:endParaRPr lang="en-US" sz="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640080"/>
            <a:ext cx="1828800" cy="10241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1792224"/>
            <a:ext cx="7863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express sincere gratitude to the Department of Electrical &amp; Computer Engineering, Rajshahi University of Engineering &amp; Technology (RUET), Bangladesh, for providing the computational resources and academic environment that supported this research.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828800" y="2706624"/>
            <a:ext cx="5486400" cy="20117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28163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 the creators of the MLRan dataset and the TESSERACT evaluation framework for enabling rigorous chronological zero-day evaluation, and to the open-source communities behind PyTorch and PptxGenJS.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2960" y="3611880"/>
            <a:ext cx="2450592" cy="107899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379476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Nabila Ferdous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22960" y="42062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Dept. · RUET · Bangladesh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456432" y="3611880"/>
            <a:ext cx="2450592" cy="107899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56432" y="379476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Sadia Sultana Pinky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56432" y="42062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Dept. · RUET · Bangladesh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89904" y="3611880"/>
            <a:ext cx="2450592" cy="1078992"/>
          </a:xfrm>
          <a:prstGeom prst="rect">
            <a:avLst/>
          </a:prstGeom>
          <a:solidFill>
            <a:srgbClr val="F7F7F7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89904" y="379476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Oishi Jyoti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089904" y="4206240"/>
            <a:ext cx="2450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Dept. · RUET · Bangladesh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2675</Words>
  <Application>Microsoft Office PowerPoint</Application>
  <PresentationFormat>On-screen Show (16:9)</PresentationFormat>
  <Paragraphs>360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MANet: A Context-Aware Attention Network for Robust Zero-Day Ransomware Detection</dc:title>
  <dc:subject>PptxGenJS Presentation</dc:subject>
  <dc:creator>PptxGenJS</dc:creator>
  <cp:lastModifiedBy>Nabila Ferdous</cp:lastModifiedBy>
  <cp:revision>2</cp:revision>
  <dcterms:created xsi:type="dcterms:W3CDTF">2026-05-07T10:29:19Z</dcterms:created>
  <dcterms:modified xsi:type="dcterms:W3CDTF">2026-05-07T10:52:58Z</dcterms:modified>
</cp:coreProperties>
</file>