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Relevance %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Baseline</c:v>
                  </c:pt>
                  <c:pt idx="1">
                    <c:v>Static</c:v>
                  </c:pt>
                  <c:pt idx="2">
                    <c:v>Dynamic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85.12</c:v>
                </c:pt>
                <c:pt idx="1">
                  <c:v>87.34</c:v>
                </c:pt>
                <c:pt idx="2">
                  <c:v>89.27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Humanitarian %</c:v>
                </c:pt>
              </c:strCache>
            </c:strRef>
          </c:tx>
          <c:spPr>
            <a:solidFill>
              <a:srgbClr val="00897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Baseline</c:v>
                  </c:pt>
                  <c:pt idx="1">
                    <c:v>Static</c:v>
                  </c:pt>
                  <c:pt idx="2">
                    <c:v>Dynamic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78.45</c:v>
                </c:pt>
                <c:pt idx="1">
                  <c:v>80.71</c:v>
                </c:pt>
                <c:pt idx="2">
                  <c:v>82.93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2"/>
          <c:min val="7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91440"/>
            <a:ext cx="1920240" cy="50292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0" y="914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ECCT 2026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132320" y="658368"/>
            <a:ext cx="1920240" cy="347472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0" y="65836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⏱ 30 sec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47472" y="777240"/>
            <a:ext cx="6583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Crisis-CLIP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347472" y="1719072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Resource-Efficient Multimodal Framework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Real-Time Disaster Response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47472" y="2670048"/>
            <a:ext cx="5943600" cy="32004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" y="28346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0A4AE"/>
                </a:solidFill>
              </a:rPr>
              <a:t>Nabila Ferdous   ·   Hafsa Binte Kibria   ·   Moloy Kumar Ghosh   ·   Humaira Tasnim Adiba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472" y="32461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FD8DC"/>
                </a:solidFill>
              </a:rPr>
              <a:t>Dept. of Electrical &amp; Computer Engineering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FD8DC"/>
                </a:solidFill>
              </a:rPr>
              <a:t>Rajshahi University of Engineering &amp; Technology, Bangladesh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" y="4041648"/>
            <a:ext cx="1600200" cy="347472"/>
          </a:xfrm>
          <a:prstGeom prst="rect">
            <a:avLst/>
          </a:prstGeom>
          <a:solidFill>
            <a:srgbClr val="1A237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7472" y="404164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BCD4"/>
                </a:solidFill>
              </a:rPr>
              <a:t>Disaster Response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084832" y="4041648"/>
            <a:ext cx="1600200" cy="347472"/>
          </a:xfrm>
          <a:prstGeom prst="rect">
            <a:avLst/>
          </a:prstGeom>
          <a:solidFill>
            <a:srgbClr val="1A237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084832" y="404164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BCD4"/>
                </a:solidFill>
              </a:rPr>
              <a:t>CLIP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822192" y="4041648"/>
            <a:ext cx="1600200" cy="347472"/>
          </a:xfrm>
          <a:prstGeom prst="rect">
            <a:avLst/>
          </a:prstGeom>
          <a:solidFill>
            <a:srgbClr val="1A237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822192" y="404164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BCD4"/>
                </a:solidFill>
              </a:rPr>
              <a:t>Multimodal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559552" y="4041648"/>
            <a:ext cx="1600200" cy="347472"/>
          </a:xfrm>
          <a:prstGeom prst="rect">
            <a:avLst/>
          </a:prstGeom>
          <a:solidFill>
            <a:srgbClr val="1A237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559552" y="404164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BCD4"/>
                </a:solidFill>
              </a:rPr>
              <a:t>Edge AI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296912" y="4041648"/>
            <a:ext cx="1600200" cy="347472"/>
          </a:xfrm>
          <a:prstGeom prst="rect">
            <a:avLst/>
          </a:prstGeom>
          <a:solidFill>
            <a:srgbClr val="1A237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296912" y="404164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BCD4"/>
                </a:solidFill>
              </a:rPr>
              <a:t>Dynamic Gated Fusion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PROBLEM STATEMENT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046720" y="164592"/>
            <a:ext cx="1005840" cy="384048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16459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⏱ 1 min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2560320" cy="210312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05156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BCD4"/>
                </a:solidFill>
              </a:rPr>
              <a:t>50K+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274320" y="182880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D8DC"/>
                </a:solidFill>
              </a:rPr>
              <a:t>posts/hour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FD8DC"/>
                </a:solidFill>
              </a:rPr>
              <a:t>during disasters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017520" y="914400"/>
            <a:ext cx="2560320" cy="2103120"/>
          </a:xfrm>
          <a:prstGeom prst="rect">
            <a:avLst/>
          </a:prstGeom>
          <a:solidFill>
            <a:srgbClr val="C6282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017520" y="105156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65–72%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017520" y="182880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CDD2"/>
                </a:solidFill>
              </a:rPr>
              <a:t>unimodal model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CDD2"/>
                </a:solidFill>
              </a:rPr>
              <a:t>accuracy only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760720" y="914400"/>
            <a:ext cx="2560320" cy="2103120"/>
          </a:xfrm>
          <a:prstGeom prst="rect">
            <a:avLst/>
          </a:prstGeom>
          <a:solidFill>
            <a:srgbClr val="FF6F0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760720" y="105156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15–30×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5760720" y="182880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3E0"/>
                </a:solidFill>
              </a:rPr>
              <a:t>higher latency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3E0"/>
                </a:solidFill>
              </a:rPr>
              <a:t>with LMMs (GPT-4V)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432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628"/>
                </a:solidFill>
              </a:rPr>
              <a:t>Core Challenges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74320" y="3611880"/>
            <a:ext cx="8595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74F"/>
                </a:solidFill>
              </a:rPr>
              <a:t>Social media generates massive unstructured multimodal data (text + image) during crises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74F"/>
                </a:solidFill>
              </a:rPr>
              <a:t>Existing models lack semantic depth OR are too slow for real-time 'Golden Hour' response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74F"/>
                </a:solidFill>
              </a:rPr>
              <a:t>Cloud-dependent LMMs (ViT+GPT-2) can process only ~15-20 posts/sec — far too slow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74F"/>
                </a:solidFill>
              </a:rPr>
              <a:t>No resource-efficient solution balancing accuracy, recall, and edge-deployability exists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RELATED WORK  (1/2)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772400" y="164592"/>
            <a:ext cx="1280160" cy="384048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16459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⏱ 1.5 min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868680"/>
            <a:ext cx="8686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868680"/>
            <a:ext cx="109728" cy="18288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9418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</a:rPr>
              <a:t>Nguyen et al. (2017)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2161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VGG16 + FastText Late Fusion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5087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74F"/>
                </a:solidFill>
              </a:rPr>
              <a:t>Contribution: </a:t>
            </a:r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</a:rPr>
              <a:t>First multimodal benchmark on CrisisMMD; demonstrated feasibility of combining visual + text features.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18745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2828"/>
                </a:solidFill>
              </a:rPr>
              <a:t>Limitation: </a:t>
            </a:r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</a:rPr>
              <a:t>Late concatenation — no cross-modal interaction; cannot distinguish flood metaphors from actual floods.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2402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Our Advance: </a:t>
            </a:r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</a:rPr>
              <a:t>Crisis-CLIP uses pre-aligned CLIP latent space + dynamic gating instead of naive concatenation.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8600" y="2880360"/>
            <a:ext cx="8686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2880360"/>
            <a:ext cx="109728" cy="18288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953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</a:rPr>
              <a:t>Islam et al. (2023)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2278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BanglaBERT + XLM-RoBERTa + DenseNet169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3520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74F"/>
                </a:solidFill>
              </a:rPr>
              <a:t>Contribution: </a:t>
            </a:r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</a:rPr>
              <a:t>Showed attention mechanisms work for low-resource disaster data (5,037 posts, Bengali).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8862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2828"/>
                </a:solidFill>
              </a:rPr>
              <a:t>Limitation: </a:t>
            </a:r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</a:rPr>
              <a:t>Late fusion via simple concatenation; language-specific; poor cross-domain generalization.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2519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Our Advance: </a:t>
            </a:r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</a:rPr>
              <a:t>Crisis-CLIP is language-agnostic, uses 16,000+ samples, and achieves robust OOD performance (88% on MEDIC).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RELATED WORK  (2/2)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68680"/>
            <a:ext cx="8686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68680"/>
            <a:ext cx="109728" cy="1828800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418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F00"/>
                </a:solidFill>
              </a:rPr>
              <a:t>Gite et al. (2025)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2161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ViT-Base16 + GPT-2 Ensemble + Random Forest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74F"/>
                </a:solidFill>
              </a:rPr>
              <a:t>Contribution: </a:t>
            </a:r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</a:rPr>
              <a:t>Strong semantic extraction using dual transformer models; leverages both modalities' power effectively.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8745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2828"/>
                </a:solidFill>
              </a:rPr>
              <a:t>Limitation: </a:t>
            </a:r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</a:rPr>
              <a:t>Two large transformers in parallel → ~15-20 posts/sec, &gt;6 GB memory, cloud-only. Not edge-deployable.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2402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Our Advance: </a:t>
            </a:r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</a:rPr>
              <a:t>Crisis-CLIP achieves comparable accuracy at 491 posts/sec on consumer hardware (~1.2 GB) — a 25× speedup.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880360"/>
            <a:ext cx="8686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28600" y="2880360"/>
            <a:ext cx="109728" cy="18288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953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</a:rPr>
              <a:t>Radford et al. / CLIP (2021)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2278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Contrastive Language-Image Pre-training (Foundation)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520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74F"/>
                </a:solidFill>
              </a:rPr>
              <a:t>Contribution: </a:t>
            </a:r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</a:rPr>
              <a:t>Pre-aligned visual-text latent space; 'flood' image is mathematically close to 'water rising' text.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8862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2828"/>
                </a:solidFill>
              </a:rPr>
              <a:t>Limitation: </a:t>
            </a:r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</a:rPr>
              <a:t>Not designed for multi-task crisis classification; no dynamic modality weighting mechanism.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2519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Our Advance: </a:t>
            </a:r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</a:rPr>
              <a:t>Crisis-CLIP extends CLIP with Dynamic Gated Fusion + 3 parallel task heads for end-to-end disaster triage.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8600" y="4572000"/>
            <a:ext cx="8686800" cy="41148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65760" y="457200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BCD4"/>
                </a:solidFill>
              </a:rPr>
              <a:t>Research Gap: No prior work achieves high semantic accuracy AND edge-deployable speed simultaneously.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BCD4"/>
                </a:solidFill>
              </a:rPr>
              <a:t>RESEARCH QUESTIONS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772400" y="164592"/>
            <a:ext cx="1280160" cy="384048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16459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⏱ 20 sec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1097280"/>
          </a:xfrm>
          <a:prstGeom prst="rect">
            <a:avLst/>
          </a:prstGeom>
          <a:solidFill>
            <a:srgbClr val="1A237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05840"/>
            <a:ext cx="822960" cy="109728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005840"/>
            <a:ext cx="822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RQ1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1115568"/>
            <a:ext cx="74980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D8DC"/>
                </a:solidFill>
              </a:rPr>
              <a:t>Can a unified CLIP backbone replace computationally expensive ensemble transformer models for disaster triage without sacrificing semantic depth?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2304288"/>
            <a:ext cx="8595360" cy="1097280"/>
          </a:xfrm>
          <a:prstGeom prst="rect">
            <a:avLst/>
          </a:prstGeom>
          <a:solidFill>
            <a:srgbClr val="1A237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304288"/>
            <a:ext cx="822960" cy="109728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2304288"/>
            <a:ext cx="822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RQ2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34440" y="2414016"/>
            <a:ext cx="74980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D8DC"/>
                </a:solidFill>
              </a:rPr>
              <a:t>Does a Dynamic Gated Fusion mechanism improve classification recall for safety-critical categories compared to static fusion?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" y="3602736"/>
            <a:ext cx="8595360" cy="1097280"/>
          </a:xfrm>
          <a:prstGeom prst="rect">
            <a:avLst/>
          </a:prstGeom>
          <a:solidFill>
            <a:srgbClr val="1A237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602736"/>
            <a:ext cx="822960" cy="109728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3602736"/>
            <a:ext cx="822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RQ3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34440" y="3712464"/>
            <a:ext cx="74980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D8DC"/>
                </a:solidFill>
              </a:rPr>
              <a:t>Is it feasible to deploy a high-accuracy (≥89%) multimodal triage system on consumer-grade edge hardware in real time?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OBJECTIVES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772400" y="164592"/>
            <a:ext cx="1280160" cy="384048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16459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⏱ 20 sec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42976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14400"/>
            <a:ext cx="685800" cy="1783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914400"/>
            <a:ext cx="6858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51560" y="10241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</a:rPr>
              <a:t>Dynamic Fusion Architecture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1560" y="1389888"/>
            <a:ext cx="33832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</a:rPr>
              <a:t>Propose a novel dynamic weighting mechanism that assigns reliability-based weights to visual and textual modalities for robust multi-task classification.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914400"/>
            <a:ext cx="42976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914400"/>
            <a:ext cx="685800" cy="178308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914400"/>
            <a:ext cx="6858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532120" y="10241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897B"/>
                </a:solidFill>
              </a:rPr>
              <a:t>Safety-Critical Recall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532120" y="1389888"/>
            <a:ext cx="33832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</a:rPr>
              <a:t>Achieve ≥98% recall for Infrastructure Damage to eliminate false negatives in life-threatening disaster scenarios.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880360"/>
            <a:ext cx="42976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880360"/>
            <a:ext cx="685800" cy="1783080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2880360"/>
            <a:ext cx="6858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51560" y="299008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F00"/>
                </a:solidFill>
              </a:rPr>
              <a:t>Edge AI Viability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51560" y="3355848"/>
            <a:ext cx="33832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</a:rPr>
              <a:t>Demonstrate real-time throughput (&gt;400 posts/sec) on consumer-grade NVIDIA RTX 3050 hardware — no cloud required.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2880360"/>
            <a:ext cx="42976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2880360"/>
            <a:ext cx="685800" cy="178308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2880360"/>
            <a:ext cx="6858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532120" y="299008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</a:rPr>
              <a:t>Cross-Domain Generalization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532120" y="3355848"/>
            <a:ext cx="33832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</a:rPr>
              <a:t>Validate robustness via out-of-distribution (OOD) testing on the MEDIC dataset (10,846 samples).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BCD4"/>
                </a:solidFill>
              </a:rPr>
              <a:t>OUTCOMES &amp; IMPACTS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772400" y="164592"/>
            <a:ext cx="1280160" cy="384048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16459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⏱ 20 sec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2560320" cy="1554480"/>
          </a:xfrm>
          <a:prstGeom prst="rect">
            <a:avLst/>
          </a:prstGeom>
          <a:solidFill>
            <a:srgbClr val="1A237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078992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CD4"/>
                </a:solidFill>
              </a:rPr>
              <a:t>89.27%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74320" y="1828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D8DC"/>
                </a:solidFill>
              </a:rPr>
              <a:t>Relevance Detection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FD8DC"/>
                </a:solidFill>
              </a:rPr>
              <a:t>Accuracy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914400"/>
            <a:ext cx="2560320" cy="1554480"/>
          </a:xfrm>
          <a:prstGeom prst="rect">
            <a:avLst/>
          </a:prstGeom>
          <a:solidFill>
            <a:srgbClr val="1A237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0" y="1078992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3A047"/>
                </a:solidFill>
              </a:rPr>
              <a:t>98%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200400" y="1828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D8DC"/>
                </a:solidFill>
              </a:rPr>
              <a:t>Recall – Infrastructure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FD8DC"/>
                </a:solidFill>
              </a:rPr>
              <a:t>Damage (Critical!)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914400"/>
            <a:ext cx="2560320" cy="1554480"/>
          </a:xfrm>
          <a:prstGeom prst="rect">
            <a:avLst/>
          </a:prstGeom>
          <a:solidFill>
            <a:srgbClr val="1A237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1078992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897B"/>
                </a:solidFill>
              </a:rPr>
              <a:t>491/s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126480" y="1828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D8DC"/>
                </a:solidFill>
              </a:rPr>
              <a:t>Posts Processed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FD8DC"/>
                </a:solidFill>
              </a:rPr>
              <a:t>(RTX 3050 Laptop)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737360" y="2743200"/>
            <a:ext cx="2560320" cy="1554480"/>
          </a:xfrm>
          <a:prstGeom prst="rect">
            <a:avLst/>
          </a:prstGeom>
          <a:solidFill>
            <a:srgbClr val="1A237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737360" y="2907792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6F00"/>
                </a:solidFill>
              </a:rPr>
              <a:t>88%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1737360" y="36576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D8DC"/>
                </a:solidFill>
              </a:rPr>
              <a:t>OOD Accuracy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FD8DC"/>
                </a:solidFill>
              </a:rPr>
              <a:t>on MEDIC Dataset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2743200"/>
            <a:ext cx="2560320" cy="1554480"/>
          </a:xfrm>
          <a:prstGeom prst="rect">
            <a:avLst/>
          </a:prstGeom>
          <a:solidFill>
            <a:srgbClr val="1A237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663440" y="2907792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91E63"/>
                </a:solidFill>
              </a:rPr>
              <a:t>25×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4663440" y="36576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D8DC"/>
                </a:solidFill>
              </a:rPr>
              <a:t>Faster than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FD8DC"/>
                </a:solidFill>
              </a:rPr>
              <a:t>ViT+GPT-2 Ensemble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4617720"/>
            <a:ext cx="8595360" cy="384048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461772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Impact: Democratizes AI-powered disaster triage to NGOs, field offices, and resource-constrained environments worldwide.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METHODOLOGY: SYSTEM ARCHITECTURE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0" y="164592"/>
            <a:ext cx="1280160" cy="384048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16459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⏱ 3 min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868680"/>
            <a:ext cx="1554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868680"/>
            <a:ext cx="1554480" cy="4572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" y="8686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74320" y="1353312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65C0"/>
                </a:solidFill>
              </a:rPr>
              <a:t>Data Input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83464" y="2057400"/>
            <a:ext cx="144475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74F"/>
                </a:solidFill>
              </a:rPr>
              <a:t>CrisisMMD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7474F"/>
                </a:solidFill>
              </a:rPr>
              <a:t>16K tweet pairs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7474F"/>
                </a:solidFill>
              </a:rPr>
              <a:t>7 disasters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783080" y="1828800"/>
            <a:ext cx="201168" cy="54864"/>
          </a:xfrm>
          <a:prstGeom prst="rect">
            <a:avLst/>
          </a:prstGeom>
          <a:solidFill>
            <a:srgbClr val="90A4AE"/>
          </a:solidFill>
          <a:ln/>
        </p:spPr>
      </p:sp>
      <p:sp>
        <p:nvSpPr>
          <p:cNvPr id="12" name="Shape 10"/>
          <p:cNvSpPr/>
          <p:nvPr/>
        </p:nvSpPr>
        <p:spPr>
          <a:xfrm>
            <a:off x="1911096" y="1792224"/>
            <a:ext cx="73152" cy="128016"/>
          </a:xfrm>
          <a:prstGeom prst="rect">
            <a:avLst/>
          </a:prstGeom>
          <a:solidFill>
            <a:srgbClr val="90A4AE"/>
          </a:solidFill>
          <a:ln/>
        </p:spPr>
      </p:sp>
      <p:sp>
        <p:nvSpPr>
          <p:cNvPr id="13" name="Shape 11"/>
          <p:cNvSpPr/>
          <p:nvPr/>
        </p:nvSpPr>
        <p:spPr>
          <a:xfrm>
            <a:off x="1984248" y="868680"/>
            <a:ext cx="1554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984248" y="868680"/>
            <a:ext cx="1554480" cy="4572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5" name="Text 13"/>
          <p:cNvSpPr/>
          <p:nvPr/>
        </p:nvSpPr>
        <p:spPr>
          <a:xfrm>
            <a:off x="1984248" y="8686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029968" y="1353312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897B"/>
                </a:solidFill>
              </a:rPr>
              <a:t>Preprocess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039112" y="2057400"/>
            <a:ext cx="144475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74F"/>
                </a:solidFill>
              </a:rPr>
              <a:t>Text: clean,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7474F"/>
                </a:solidFill>
              </a:rPr>
              <a:t>tokenize (77 tokens)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7474F"/>
                </a:solidFill>
              </a:rPr>
              <a:t>Image: 224×224 px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538728" y="1828800"/>
            <a:ext cx="201168" cy="54864"/>
          </a:xfrm>
          <a:prstGeom prst="rect">
            <a:avLst/>
          </a:prstGeom>
          <a:solidFill>
            <a:srgbClr val="90A4AE"/>
          </a:solidFill>
          <a:ln/>
        </p:spPr>
      </p:sp>
      <p:sp>
        <p:nvSpPr>
          <p:cNvPr id="19" name="Shape 17"/>
          <p:cNvSpPr/>
          <p:nvPr/>
        </p:nvSpPr>
        <p:spPr>
          <a:xfrm>
            <a:off x="3666744" y="1792224"/>
            <a:ext cx="73152" cy="128016"/>
          </a:xfrm>
          <a:prstGeom prst="rect">
            <a:avLst/>
          </a:prstGeom>
          <a:solidFill>
            <a:srgbClr val="90A4AE"/>
          </a:solidFill>
          <a:ln/>
        </p:spPr>
      </p:sp>
      <p:sp>
        <p:nvSpPr>
          <p:cNvPr id="20" name="Shape 18"/>
          <p:cNvSpPr/>
          <p:nvPr/>
        </p:nvSpPr>
        <p:spPr>
          <a:xfrm>
            <a:off x="3739896" y="868680"/>
            <a:ext cx="1554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739896" y="868680"/>
            <a:ext cx="1554480" cy="4572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22" name="Text 20"/>
          <p:cNvSpPr/>
          <p:nvPr/>
        </p:nvSpPr>
        <p:spPr>
          <a:xfrm>
            <a:off x="3739896" y="8686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785616" y="1353312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37E"/>
                </a:solidFill>
              </a:rPr>
              <a:t>CLIP Encoder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237E"/>
                </a:solidFill>
              </a:rPr>
              <a:t>(ViT-B/32)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794760" y="2057400"/>
            <a:ext cx="144475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74F"/>
                </a:solidFill>
              </a:rPr>
              <a:t>Shared backbone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7474F"/>
                </a:solidFill>
              </a:rPr>
              <a:t>512-d embeddings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7474F"/>
                </a:solidFill>
              </a:rPr>
              <a:t>pre-aligned space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294376" y="1828800"/>
            <a:ext cx="201168" cy="54864"/>
          </a:xfrm>
          <a:prstGeom prst="rect">
            <a:avLst/>
          </a:prstGeom>
          <a:solidFill>
            <a:srgbClr val="90A4AE"/>
          </a:solidFill>
          <a:ln/>
        </p:spPr>
      </p:sp>
      <p:sp>
        <p:nvSpPr>
          <p:cNvPr id="26" name="Shape 24"/>
          <p:cNvSpPr/>
          <p:nvPr/>
        </p:nvSpPr>
        <p:spPr>
          <a:xfrm>
            <a:off x="5422392" y="1792224"/>
            <a:ext cx="73152" cy="128016"/>
          </a:xfrm>
          <a:prstGeom prst="rect">
            <a:avLst/>
          </a:prstGeom>
          <a:solidFill>
            <a:srgbClr val="90A4AE"/>
          </a:solidFill>
          <a:ln/>
        </p:spPr>
      </p:sp>
      <p:sp>
        <p:nvSpPr>
          <p:cNvPr id="27" name="Shape 25"/>
          <p:cNvSpPr/>
          <p:nvPr/>
        </p:nvSpPr>
        <p:spPr>
          <a:xfrm>
            <a:off x="5495544" y="868680"/>
            <a:ext cx="1554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495544" y="868680"/>
            <a:ext cx="1554480" cy="457200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29" name="Text 27"/>
          <p:cNvSpPr/>
          <p:nvPr/>
        </p:nvSpPr>
        <p:spPr>
          <a:xfrm>
            <a:off x="5495544" y="8686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541264" y="1353312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F00"/>
                </a:solidFill>
              </a:rPr>
              <a:t>Dynamic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6F00"/>
                </a:solidFill>
              </a:rPr>
              <a:t>Gated Fusion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550408" y="2057400"/>
            <a:ext cx="144475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74F"/>
                </a:solidFill>
              </a:rPr>
              <a:t>Learnable α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7474F"/>
                </a:solidFill>
              </a:rPr>
              <a:t>weights modalities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7474F"/>
                </a:solidFill>
              </a:rPr>
              <a:t>by reliability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050024" y="1828800"/>
            <a:ext cx="201168" cy="54864"/>
          </a:xfrm>
          <a:prstGeom prst="rect">
            <a:avLst/>
          </a:prstGeom>
          <a:solidFill>
            <a:srgbClr val="90A4AE"/>
          </a:solidFill>
          <a:ln/>
        </p:spPr>
      </p:sp>
      <p:sp>
        <p:nvSpPr>
          <p:cNvPr id="33" name="Shape 31"/>
          <p:cNvSpPr/>
          <p:nvPr/>
        </p:nvSpPr>
        <p:spPr>
          <a:xfrm>
            <a:off x="7178040" y="1792224"/>
            <a:ext cx="73152" cy="128016"/>
          </a:xfrm>
          <a:prstGeom prst="rect">
            <a:avLst/>
          </a:prstGeom>
          <a:solidFill>
            <a:srgbClr val="90A4AE"/>
          </a:solidFill>
          <a:ln/>
        </p:spPr>
      </p:sp>
      <p:sp>
        <p:nvSpPr>
          <p:cNvPr id="34" name="Shape 32"/>
          <p:cNvSpPr/>
          <p:nvPr/>
        </p:nvSpPr>
        <p:spPr>
          <a:xfrm>
            <a:off x="7251192" y="868680"/>
            <a:ext cx="1554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251192" y="868680"/>
            <a:ext cx="1554480" cy="457200"/>
          </a:xfrm>
          <a:prstGeom prst="rect">
            <a:avLst/>
          </a:prstGeom>
          <a:solidFill>
            <a:srgbClr val="8E24AA"/>
          </a:solidFill>
          <a:ln/>
        </p:spPr>
      </p:sp>
      <p:sp>
        <p:nvSpPr>
          <p:cNvPr id="36" name="Text 34"/>
          <p:cNvSpPr/>
          <p:nvPr/>
        </p:nvSpPr>
        <p:spPr>
          <a:xfrm>
            <a:off x="7251192" y="8686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296912" y="1353312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E24AA"/>
                </a:solidFill>
              </a:rPr>
              <a:t>3 Task Heads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306056" y="2057400"/>
            <a:ext cx="144475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74F"/>
                </a:solidFill>
              </a:rPr>
              <a:t>Relevance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7474F"/>
                </a:solidFill>
              </a:rPr>
              <a:t>Humanitarian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7474F"/>
                </a:solidFill>
              </a:rPr>
              <a:t>Severity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28600" y="4224528"/>
            <a:ext cx="8686800" cy="658368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320040" y="4224528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CD4"/>
                </a:solidFill>
              </a:rPr>
              <a:t>Fusion: F = α · E_visual + (1−α) · E_text    |    α ∈ [0,1] learned per input context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METHODOLOGY: DYNAMIC GATED FUSION &amp; MULTI-TASK HEADS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28600" y="868680"/>
            <a:ext cx="420624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68680"/>
            <a:ext cx="4206240" cy="438912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868680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Dynamic Gated Fusion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</a:rPr>
              <a:t>Problem with Static Fusion: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709928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</a:rPr>
              <a:t>Noisy social media often has mismatched image &amp; text (e.g., disaster tweet with an unrelated selfie). Static weights treat both modalities equally — causing misclassification.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5760" y="254203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897B"/>
                </a:solidFill>
              </a:rPr>
              <a:t>Our Solution: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834640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</a:rPr>
              <a:t>A learnable gating layer computes scalar α per input.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</a:rPr>
              <a:t>• α → 1.0: prioritize visual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</a:rPr>
              <a:t>• α → 0.0: prioritize text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</a:rPr>
              <a:t>• α ≈ 0.5: balanced (optimal for damage severity)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3858768"/>
            <a:ext cx="3931920" cy="59436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3858768"/>
            <a:ext cx="393192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1628"/>
                </a:solidFill>
              </a:rPr>
              <a:t>Result: α = 0.476 (σ = 0.002) — balanced fusion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A1628"/>
                </a:solidFill>
              </a:rPr>
              <a:t>confirmed optimal for damage assessment (N=529)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868680"/>
            <a:ext cx="420624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868680"/>
            <a:ext cx="4206240" cy="438912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15" name="Text 13"/>
          <p:cNvSpPr/>
          <p:nvPr/>
        </p:nvSpPr>
        <p:spPr>
          <a:xfrm>
            <a:off x="4663440" y="868680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Multi-Task Classification Heads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800600" y="1444752"/>
            <a:ext cx="3931920" cy="10058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0600" y="1444752"/>
            <a:ext cx="91440" cy="10058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4956048" y="14813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</a:rPr>
              <a:t>Task 1: Relevance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56048" y="17556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</a:rPr>
              <a:t>Classes: Informative / Not Informative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956048" y="21214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</a:rPr>
              <a:t>Loss: Binary Cross-Entropy  |  Acc: 89.27%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00600" y="2587752"/>
            <a:ext cx="3931920" cy="10058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00600" y="2587752"/>
            <a:ext cx="91440" cy="100584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23" name="Text 21"/>
          <p:cNvSpPr/>
          <p:nvPr/>
        </p:nvSpPr>
        <p:spPr>
          <a:xfrm>
            <a:off x="4956048" y="26243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897B"/>
                </a:solidFill>
              </a:rPr>
              <a:t>Task 2: Humanitarian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56048" y="28986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</a:rPr>
              <a:t>Classes: Infra Damage, Rescue, Affected,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</a:rPr>
              <a:t>Other Info, Not Humanitarian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956048" y="32644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</a:rPr>
              <a:t>Loss: Categorical Cross-Entropy  |  Acc: 82.93%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00600" y="3730752"/>
            <a:ext cx="3931920" cy="10058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00600" y="3730752"/>
            <a:ext cx="91440" cy="1005840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28" name="Text 26"/>
          <p:cNvSpPr/>
          <p:nvPr/>
        </p:nvSpPr>
        <p:spPr>
          <a:xfrm>
            <a:off x="4956048" y="37673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F00"/>
                </a:solidFill>
              </a:rPr>
              <a:t>Task 3: Severity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56048" y="40416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</a:rPr>
              <a:t>Classes: Severe / Mild / No Damage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956048" y="44074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</a:rPr>
              <a:t>Loss: Class-Weighted Ordinal Loss  |  Acc: 72.00%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RESULTS: CLASSIFICATION PERFORMANCE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0" y="164592"/>
            <a:ext cx="1280160" cy="384048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16459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⏱ 2 min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68680"/>
          <a:ext cx="8595360" cy="3840480"/>
        </p:xfrm>
        <a:graphic>
          <a:graphicData uri="http://schemas.openxmlformats.org/drawingml/2006/table">
            <a:tbl>
              <a:tblPr/>
              <a:tblGrid>
                <a:gridCol w="1645920"/>
                <a:gridCol w="2194560"/>
                <a:gridCol w="1280160"/>
                <a:gridCol w="1280160"/>
                <a:gridCol w="12801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Task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</a:rPr>
                        <a:t>Relevance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</a:rPr>
                        <a:t>Not Informative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</a:rPr>
                        <a:t>0.90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</a:rPr>
                        <a:t>0.87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</a:rPr>
                        <a:t>0.89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</a:rPr>
                        <a:t>Relevance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</a:rPr>
                        <a:t>Informative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</a:rPr>
                        <a:t>0.89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</a:rPr>
                        <a:t>0.91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</a:rPr>
                        <a:t>0.90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</a:rPr>
                        <a:t>Relevance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</a:rPr>
                        <a:t>Accuracy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</a:rPr>
                        <a:t>89.27%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</a:rPr>
                        <a:t>Humanitarian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</a:rPr>
                        <a:t>Infra Damage ★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</a:rPr>
                        <a:t>0.67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E7D32"/>
                          </a:solidFill>
                        </a:rPr>
                        <a:t>0.98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</a:rPr>
                        <a:t>0.79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</a:rPr>
                        <a:t>Humanitarian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</a:rPr>
                        <a:t>Rescue/Donation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</a:rPr>
                        <a:t>0.72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E7D32"/>
                          </a:solidFill>
                        </a:rPr>
                        <a:t>0.93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</a:rPr>
                        <a:t>0.81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</a:rPr>
                        <a:t>Humanitarian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</a:rPr>
                        <a:t>Accuracy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</a:rPr>
                        <a:t>82.93%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</a:rPr>
                        <a:t>Severity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</a:rPr>
                        <a:t>Severe Damage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</a:rPr>
                        <a:t>0.83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</a:rPr>
                        <a:t>0.84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</a:rPr>
                        <a:t>0.84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</a:rPr>
                        <a:t>Severity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</a:rPr>
                        <a:t>Mild Damage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</a:rPr>
                        <a:t>0.49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</a:rPr>
                        <a:t>0.53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</a:rPr>
                        <a:t>0.51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</a:rPr>
                        <a:t>Severity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</a:rPr>
                        <a:t>Accuracy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7474F"/>
                          </a:solidFill>
                        </a:rPr>
                        <a:t>72.00%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4773168"/>
            <a:ext cx="8595360" cy="27432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47731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★ 98% Recall for Infrastructure Damage — critical for zero-miss disaster detection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RESULTS: EFFICIENCY COMPARISON &amp; ABLATION STUDY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274320" y="84124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System Efficiency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34440"/>
          <a:ext cx="4114800" cy="2194560"/>
        </p:xfrm>
        <a:graphic>
          <a:graphicData uri="http://schemas.openxmlformats.org/drawingml/2006/table">
            <a:tbl>
              <a:tblPr/>
              <a:tblGrid>
                <a:gridCol w="2011680"/>
                <a:gridCol w="1097280"/>
                <a:gridCol w="100584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Crisis-CLIP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ViT+GPT-2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</a:rPr>
                        <a:t>Throughput (posts/s)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</a:rPr>
                        <a:t>491.47 ★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</a:rPr>
                        <a:t>~15–20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</a:rPr>
                        <a:t>Hardware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</a:rPr>
                        <a:t>RTX 3050 Laptop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</a:rPr>
                        <a:t>Cloud GPU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</a:rPr>
                        <a:t>Memory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</a:rPr>
                        <a:t>~1.2 GB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</a:rPr>
                        <a:t>&gt;6 GB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</a:rPr>
                        <a:t>Edge Deploy?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E7D32"/>
                          </a:solidFill>
                        </a:rPr>
                        <a:t>Yes ✓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62828"/>
                          </a:solidFill>
                        </a:rPr>
                        <a:t>No ✗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754880" y="84124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Ablation Study</a:t>
            </a:r>
            <a:endParaRPr lang="en-US" sz="14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234440"/>
          <a:ext cx="4114800" cy="1737360"/>
        </p:xfrm>
        <a:graphic>
          <a:graphicData uri="http://schemas.openxmlformats.org/drawingml/2006/table">
            <a:tbl>
              <a:tblPr/>
              <a:tblGrid>
                <a:gridCol w="1645920"/>
                <a:gridCol w="822960"/>
                <a:gridCol w="822960"/>
                <a:gridCol w="822960"/>
              </a:tblGrid>
              <a:tr h="434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Architecture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Rel.%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Hum.%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Infra R.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</a:rPr>
                        <a:t>Baseline (concat)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</a:rPr>
                        <a:t>85.12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</a:rPr>
                        <a:t>78.45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</a:rPr>
                        <a:t>0.89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</a:rPr>
                        <a:t>Static Fusion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</a:rPr>
                        <a:t>87.34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</a:rPr>
                        <a:t>80.71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</a:rPr>
                        <a:t>0.94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</a:rPr>
                        <a:t>Crisis-CLIP ★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</a:rPr>
                        <a:t>89.27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</a:rPr>
                        <a:t>82.93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</a:rPr>
                        <a:t>0.98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Chart 0" descr=""/>
          <p:cNvGraphicFramePr/>
          <p:nvPr/>
        </p:nvGraphicFramePr>
        <p:xfrm>
          <a:off x="4754880" y="3063240"/>
          <a:ext cx="411480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4"/>
          <p:cNvSpPr/>
          <p:nvPr/>
        </p:nvSpPr>
        <p:spPr>
          <a:xfrm>
            <a:off x="274320" y="3566160"/>
            <a:ext cx="4114800" cy="141732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5"/>
          <p:cNvSpPr/>
          <p:nvPr/>
        </p:nvSpPr>
        <p:spPr>
          <a:xfrm>
            <a:off x="411480" y="3657600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D8DC"/>
                </a:solidFill>
              </a:rPr>
              <a:t>Dynamic Gated Fusion: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FD8DC"/>
                </a:solidFill>
              </a:rPr>
              <a:t>• +4.15% over baseline (Relevance)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FD8DC"/>
                </a:solidFill>
              </a:rPr>
              <a:t>• +4.48% over baseline (Humanitarian)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FD8DC"/>
                </a:solidFill>
              </a:rPr>
              <a:t>• 98% recall — perfect safety-net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FD8DC"/>
                </a:solidFill>
              </a:rPr>
              <a:t>• Only modest speed cost (503→491 p/s)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RESULTS: CROSS-DATASET GENERALIZATION (OOD – MEDIC)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841248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7474F"/>
                </a:solidFill>
              </a:rPr>
              <a:t>Out-of-Distribution Evaluation on MEDIC Dataset (N = 10,846 samples — never seen during training)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61872"/>
          <a:ext cx="8595360" cy="1737360"/>
        </p:xfrm>
        <a:graphic>
          <a:graphicData uri="http://schemas.openxmlformats.org/drawingml/2006/table">
            <a:tbl>
              <a:tblPr/>
              <a:tblGrid>
                <a:gridCol w="1645920"/>
                <a:gridCol w="1280160"/>
                <a:gridCol w="1280160"/>
                <a:gridCol w="1280160"/>
                <a:gridCol w="914400"/>
                <a:gridCol w="2194560"/>
              </a:tblGrid>
              <a:tr h="434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Task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Macro F1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Wtd F1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Best Class (F1)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</a:rPr>
                        <a:t>Relevance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</a:rPr>
                        <a:t>Zero-shot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</a:rPr>
                        <a:t>87.0%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</a:rPr>
                        <a:t>0.87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</a:rPr>
                        <a:t>0.87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</a:rPr>
                        <a:t>Not Inform. (0.88)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</a:rPr>
                        <a:t>Humanitarian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</a:rPr>
                        <a:t>PEFT/LoRA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</a:rPr>
                        <a:t>88.0%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</a:rPr>
                        <a:t>0.56*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</a:rPr>
                        <a:t>0.89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</a:rPr>
                        <a:t>Not Humanitarian (0.94)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</a:rPr>
                        <a:t>Severity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</a:rPr>
                        <a:t>PEFT/LoRA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</a:rPr>
                        <a:t>86.0%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</a:rPr>
                        <a:t>0.71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</a:rPr>
                        <a:t>0.85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</a:rPr>
                        <a:t>Little/None (0.94)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3182112"/>
            <a:ext cx="1993392" cy="164592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274320" y="3291840"/>
            <a:ext cx="1993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565C0"/>
                </a:solidFill>
              </a:rPr>
              <a:t>87%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274320" y="3950208"/>
            <a:ext cx="19933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D8DC"/>
                </a:solidFill>
              </a:rPr>
              <a:t>Zero-shot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FD8DC"/>
                </a:solidFill>
              </a:rPr>
              <a:t>Relevance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74320" y="4462272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No retraining needed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450592" y="3182112"/>
            <a:ext cx="1993392" cy="164592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450592" y="3291840"/>
            <a:ext cx="1993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897B"/>
                </a:solidFill>
              </a:rPr>
              <a:t>88%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2450592" y="3950208"/>
            <a:ext cx="19933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D8DC"/>
                </a:solidFill>
              </a:rPr>
              <a:t>Humanitarian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FD8DC"/>
                </a:solidFill>
              </a:rPr>
              <a:t>(LoRA-adapted)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2450592" y="4462272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Weighted F1: 0.89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626864" y="3182112"/>
            <a:ext cx="1993392" cy="164592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626864" y="3291840"/>
            <a:ext cx="1993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6F00"/>
                </a:solidFill>
              </a:rPr>
              <a:t>86%</a:t>
            </a:r>
            <a:endParaRPr lang="en-US" sz="3600" dirty="0"/>
          </a:p>
        </p:txBody>
      </p:sp>
      <p:sp>
        <p:nvSpPr>
          <p:cNvPr id="16" name="Text 13"/>
          <p:cNvSpPr/>
          <p:nvPr/>
        </p:nvSpPr>
        <p:spPr>
          <a:xfrm>
            <a:off x="4626864" y="3950208"/>
            <a:ext cx="19933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D8DC"/>
                </a:solidFill>
              </a:rPr>
              <a:t>Severity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FD8DC"/>
                </a:solidFill>
              </a:rPr>
              <a:t>(LoRA-adapted)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626864" y="4462272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Weighted F1: 0.85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803136" y="3182112"/>
            <a:ext cx="1993392" cy="164592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803136" y="3291840"/>
            <a:ext cx="1993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7D32"/>
                </a:solidFill>
              </a:rPr>
              <a:t>0.94</a:t>
            </a:r>
            <a:endParaRPr lang="en-US" sz="3600" dirty="0"/>
          </a:p>
        </p:txBody>
      </p:sp>
      <p:sp>
        <p:nvSpPr>
          <p:cNvPr id="20" name="Text 17"/>
          <p:cNvSpPr/>
          <p:nvPr/>
        </p:nvSpPr>
        <p:spPr>
          <a:xfrm>
            <a:off x="6803136" y="3950208"/>
            <a:ext cx="19933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D8DC"/>
                </a:solidFill>
              </a:rPr>
              <a:t>Best-class F1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FD8DC"/>
                </a:solidFill>
              </a:rPr>
              <a:t>(2 tasks)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803136" y="4462272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Little/No Damage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0A4AE"/>
                </a:solidFill>
              </a:rPr>
              <a:t>*Macro F1 suppressed due to zero support in the 'Other Info' minority class.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BCD4"/>
                </a:solidFill>
              </a:rPr>
              <a:t>CONCLUSION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772400" y="164592"/>
            <a:ext cx="1280160" cy="384048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16459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⏱ 20 sec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8595360" cy="6858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91440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Crisis-CLIP proves that edge-deployable, high-accuracy multimodal disaster triage is achievable today.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4320" y="1764792"/>
            <a:ext cx="8595360" cy="658368"/>
          </a:xfrm>
          <a:prstGeom prst="rect">
            <a:avLst/>
          </a:prstGeom>
          <a:solidFill>
            <a:srgbClr val="1A237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764792"/>
            <a:ext cx="548640" cy="65836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764792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60120" y="1764792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D8DC"/>
                </a:solidFill>
              </a:rPr>
              <a:t>Unified CLIP backbone replaces expensive ensemble models — pre-aligned semantics without the compute cost.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74320" y="2514600"/>
            <a:ext cx="8595360" cy="658368"/>
          </a:xfrm>
          <a:prstGeom prst="rect">
            <a:avLst/>
          </a:prstGeom>
          <a:solidFill>
            <a:srgbClr val="1A237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514600"/>
            <a:ext cx="548640" cy="65836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2514600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60120" y="251460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D8DC"/>
                </a:solidFill>
              </a:rPr>
              <a:t>Dynamic Gated Fusion achieves 98% recall for Infrastructure Damage — no critical events missed.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74320" y="3264408"/>
            <a:ext cx="8595360" cy="658368"/>
          </a:xfrm>
          <a:prstGeom prst="rect">
            <a:avLst/>
          </a:prstGeom>
          <a:solidFill>
            <a:srgbClr val="1A237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264408"/>
            <a:ext cx="548640" cy="65836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3264408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60120" y="3264408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D8DC"/>
                </a:solidFill>
              </a:rPr>
              <a:t>491 posts/second on consumer-grade RTX 3050 — 25× faster than ViT+GPT-2 ensembles.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274320" y="4014216"/>
            <a:ext cx="8595360" cy="658368"/>
          </a:xfrm>
          <a:prstGeom prst="rect">
            <a:avLst/>
          </a:prstGeom>
          <a:solidFill>
            <a:srgbClr val="1A237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4014216"/>
            <a:ext cx="548640" cy="65836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4014216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60120" y="4014216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D8DC"/>
                </a:solidFill>
              </a:rPr>
              <a:t>88% accuracy on unseen MEDIC dataset confirms real-world generalizability across diverse disasters.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FUTURE RESEARCH DIRECTIONS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772400" y="164592"/>
            <a:ext cx="1280160" cy="384048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16459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⏱ 20 sec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2743200" cy="4069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68680"/>
            <a:ext cx="2743200" cy="5029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8686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65760" y="144475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65C0"/>
                </a:solidFill>
              </a:rPr>
              <a:t>Synthetic Data Augmentation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4048" y="2148840"/>
            <a:ext cx="252374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7474F"/>
                </a:solidFill>
              </a:rPr>
              <a:t>Use diffusion models to upsample under-represented classes (e.g., Affected Individuals — only 9 test samples) and address severe class imbalance.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27832" y="868680"/>
            <a:ext cx="2743200" cy="4069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27832" y="868680"/>
            <a:ext cx="2743200" cy="50292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3" name="Text 11"/>
          <p:cNvSpPr/>
          <p:nvPr/>
        </p:nvSpPr>
        <p:spPr>
          <a:xfrm>
            <a:off x="3227832" y="8686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319272" y="144475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897B"/>
                </a:solidFill>
              </a:rPr>
              <a:t>Multi-Scale Visual Encoders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37560" y="2148840"/>
            <a:ext cx="252374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7474F"/>
                </a:solidFill>
              </a:rPr>
              <a:t>Explore higher-resolution inputs beyond 224×224 to detect fine-grained damage (hairline cracks, minor debris) without sacrificing inference speed.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81344" y="868680"/>
            <a:ext cx="2743200" cy="4069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81344" y="868680"/>
            <a:ext cx="2743200" cy="502920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18" name="Text 16"/>
          <p:cNvSpPr/>
          <p:nvPr/>
        </p:nvSpPr>
        <p:spPr>
          <a:xfrm>
            <a:off x="6181344" y="8686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272784" y="144475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F00"/>
                </a:solidFill>
              </a:rPr>
              <a:t>Geolocation Clustering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91072" y="2148840"/>
            <a:ext cx="252374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7474F"/>
                </a:solidFill>
              </a:rPr>
              <a:t>Extend Crisis-CLIP to map classified incidents spatially — generating real-time 'hotspot' maps of infrastructure failure for emergency coordinators.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REFERENCES  (1/2)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772400" y="164592"/>
            <a:ext cx="1280160" cy="384048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16459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⏱ 15 sec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868680"/>
            <a:ext cx="85953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37474F"/>
                </a:solidFill>
              </a:rPr>
              <a:t>[1] Imran et al. Processing Social Media Messages in Mass Emergency: A Survey. ACM Computing Surveys, 47(4), 2016.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37474F"/>
                </a:solidFill>
              </a:rPr>
              <a:t>[2] Castillo, C. Big Crisis Data: Social Media in Disasters and Time-Critical Situations. Cambridge University Press, 2016.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37474F"/>
                </a:solidFill>
              </a:rPr>
              <a:t>[3] Palen &amp; Liu. Citizen Communications in Crisis. SIGCHI, 2008.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37474F"/>
                </a:solidFill>
              </a:rPr>
              <a:t>[4] Vieweg et al. Microblogging During Two Natural Hazards Events. SIGCHI, 2010.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37474F"/>
                </a:solidFill>
              </a:rPr>
              <a:t>[5] Imran et al. AIDR: Artificial Intelligence for Disaster Response. WWW, 2014.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37474F"/>
                </a:solidFill>
              </a:rPr>
              <a:t>[6] Alam et al. CrisisMMD: Multimodal Twitter Datasets from Natural Disasters. ICWSM, 2018.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37474F"/>
                </a:solidFill>
              </a:rPr>
              <a:t>[7] Gite et al. Analysis of Multimodal Social Media Data Utilizing ViT Base 16 and GPT-2 for Disaster Response. Arabian J. Science &amp; Engineering, 2025.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37474F"/>
                </a:solidFill>
              </a:rPr>
              <a:t>[8] Radford et al. Learning Transferable Visual Models From Natural Language Supervision. ICML, 2021.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37474F"/>
                </a:solidFill>
              </a:rPr>
              <a:t>[9] Schwartz et al. Green AI. Communications of the ACM, 63(12), 2020.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37474F"/>
                </a:solidFill>
              </a:rPr>
              <a:t>[10] Chen &amp; Ran. Deep Learning with Edge Computing: A Review. Proc. IEEE, 107(8), 2019.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REFERENCES  (2/2)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868680"/>
            <a:ext cx="85953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37474F"/>
                </a:solidFill>
              </a:rPr>
              <a:t>[11] Nguyen et al. Damage Assessment from Social Media Imagery. IEEE/ACM ASONAM, 2017.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37474F"/>
                </a:solidFill>
              </a:rPr>
              <a:t>[12] Vaswani et al. Attention is All You Need. NeurIPS, 2017.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37474F"/>
                </a:solidFill>
              </a:rPr>
              <a:t>[13] Xu et al. Show, Attend and Tell: Neural Image Caption Generation with Visual Attention. ICML, 2015.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37474F"/>
                </a:solidFill>
              </a:rPr>
              <a:t>[14] Dosovitskiy et al. An Image is Worth 16×16 Words: Transformers for Image Recognition at Scale. ICLR, 2021.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37474F"/>
                </a:solidFill>
              </a:rPr>
              <a:t>[15] Kyrkou et al. Machine Learning for Emergency Management: A Survey. Proc. IEEE, 111(1), 2023.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37474F"/>
                </a:solidFill>
              </a:rPr>
              <a:t>[16] Alam et al. CrisisMMD v1.5 Dataset. https://crisisnlp.qcri.org/crisismmd, 2018.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37474F"/>
                </a:solidFill>
              </a:rPr>
              <a:t>[17] Zhou et al. Learning to Prompt for Vision-Language Models. IJCV, 130(9), 2022.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37474F"/>
                </a:solidFill>
              </a:rPr>
              <a:t>[18] Paszke et al. PyTorch: An Imperative Style, High-Performance Deep Learning Library. NeurIPS, 2019.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37474F"/>
                </a:solidFill>
              </a:rPr>
              <a:t>[19] Dietterich. Approximate Statistical Tests for Comparing Supervised Classification Learning Algorithms. Neural Computation, 1998.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37474F"/>
                </a:solidFill>
              </a:rPr>
              <a:t>[20] Alam et al. MEDIC: A Multi-Task Learning Dataset for Disaster Image Classification. Neural Comput. &amp; Applic., 2023.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37474F"/>
                </a:solidFill>
              </a:rPr>
              <a:t>[21] Loshchilov &amp; Hutter. Decoupled Weight Decay Regularization. ICLR, 2019.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BCD4"/>
                </a:solidFill>
              </a:rPr>
              <a:t>ACKNOWLEDGEMENT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772400" y="164592"/>
            <a:ext cx="1280160" cy="384048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16459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⏱ 5 sec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0" y="1188720"/>
            <a:ext cx="6400800" cy="2286000"/>
          </a:xfrm>
          <a:prstGeom prst="rect">
            <a:avLst/>
          </a:prstGeom>
          <a:solidFill>
            <a:srgbClr val="1A237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371600" y="1188720"/>
            <a:ext cx="6400800" cy="2286000"/>
          </a:xfrm>
          <a:prstGeom prst="rect">
            <a:avLst/>
          </a:prstGeom>
          <a:noFill/>
          <a:ln/>
        </p:spPr>
        <p:txBody>
          <a:bodyPr wrap="square" lIns="203200" tIns="203200" rIns="203200" bIns="20320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FD8DC"/>
                </a:solidFill>
              </a:rPr>
              <a:t>The authors gratefully acknowledge the support of the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CFD8DC"/>
                </a:solidFill>
              </a:rPr>
              <a:t>Department of Electrical &amp; Computer Engineering,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CFD8DC"/>
                </a:solidFill>
              </a:rPr>
              <a:t>Rajshahi University of Engineering &amp; Technology (RUET),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CFD8DC"/>
                </a:solidFill>
              </a:rPr>
              <a:t>Rajshahi, Bangladesh.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4320" y="3840480"/>
            <a:ext cx="8595360" cy="1005840"/>
          </a:xfrm>
          <a:prstGeom prst="rect">
            <a:avLst/>
          </a:prstGeom>
          <a:solidFill>
            <a:srgbClr val="00897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" y="3840480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Thank You  ·  Questions Welcome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Crisis-CLIP: ECCT 2026</dc:title>
  <dc:subject>PptxGenJS Presentation</dc:subject>
  <dc:creator>PptxGenJS</dc:creator>
  <cp:lastModifiedBy>PptxGenJS</cp:lastModifiedBy>
  <cp:revision>1</cp:revision>
  <dcterms:created xsi:type="dcterms:W3CDTF">2026-05-04T10:40:03Z</dcterms:created>
  <dcterms:modified xsi:type="dcterms:W3CDTF">2026-05-04T10:40:03Z</dcterms:modified>
</cp:coreProperties>
</file>