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Relevance %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Static</c:v>
                </c:pt>
                <c:pt idx="2">
                  <c:v>Dynamic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85.12</c:v>
                </c:pt>
                <c:pt idx="1">
                  <c:v>87.34</c:v>
                </c:pt>
                <c:pt idx="2">
                  <c:v>89.27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5B-4678-B1CF-A1EF9CF518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Humanitarian %</c:v>
                </c:pt>
              </c:strCache>
            </c:strRef>
          </c:tx>
          <c:spPr>
            <a:solidFill>
              <a:srgbClr val="8A97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Static</c:v>
                </c:pt>
                <c:pt idx="2">
                  <c:v>Dynamic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78.45</c:v>
                </c:pt>
                <c:pt idx="1">
                  <c:v>80.709999999999994</c:v>
                </c:pt>
                <c:pt idx="2">
                  <c:v>82.93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5B-4678-B1CF-A1EF9CF518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"/>
          <c:min val="75"/>
        </c:scaling>
        <c:delete val="0"/>
        <c:axPos val="l"/>
        <c:majorGridlines>
          <c:spPr>
            <a:ln w="6350" cap="flat">
              <a:solidFill>
                <a:srgbClr val="D8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E3D4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035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"/>
            <a:ext cx="2651760" cy="1892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5029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Crisis-CLIP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384048" y="1572768"/>
            <a:ext cx="5303520" cy="36576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682496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Resource-Efficient Multimodal Framework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Disaster Response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84048" y="26517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3D4F"/>
                </a:solidFill>
              </a:rPr>
              <a:t>Nabila Ferdous  ·  Hafsa Binte Kibria  ·  Moloy Kumar Ghosh  ·  Humaira Tasnim Adiba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" y="29992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7A8"/>
                </a:solidFill>
              </a:rPr>
              <a:t>Dept. of Electrical &amp; Computer Engineering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8A97A8"/>
                </a:solidFill>
              </a:rPr>
              <a:t>Rajshahi University of Engineering &amp; Technology, Rajshahi 6204, Bangladesh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4048" y="3621024"/>
            <a:ext cx="850392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" y="3730752"/>
            <a:ext cx="2670048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373075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Disaster Response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18688" y="3730752"/>
            <a:ext cx="2670048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18688" y="373075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CLIP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53328" y="3730752"/>
            <a:ext cx="2670048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373075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Multimodal Classification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4048" y="4169664"/>
            <a:ext cx="2670048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16966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Edge AI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18688" y="4169664"/>
            <a:ext cx="2670048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18688" y="416966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Dynamic Gated Fusion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4048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7A8"/>
                </a:solidFill>
              </a:rPr>
              <a:t>Dataset: CrisisMMD (N≈16,000)   |   Framework: PyTorch   |   Hardware: NVIDIA RTX 3050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4980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2651760" cy="5029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2B4A"/>
                </a:solidFill>
              </a:rPr>
              <a:t>50,000+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posts per hour on social media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during disaster events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74980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749808"/>
            <a:ext cx="2651760" cy="50292"/>
          </a:xfrm>
          <a:prstGeom prst="rect">
            <a:avLst/>
          </a:prstGeom>
          <a:solidFill>
            <a:srgbClr val="8B2A2A"/>
          </a:solidFill>
          <a:ln/>
        </p:spPr>
      </p:sp>
      <p:sp>
        <p:nvSpPr>
          <p:cNvPr id="11" name="Text 9"/>
          <p:cNvSpPr/>
          <p:nvPr/>
        </p:nvSpPr>
        <p:spPr>
          <a:xfrm>
            <a:off x="3172968" y="8229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2A2A"/>
                </a:solidFill>
              </a:rPr>
              <a:t>65–72%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64408" y="15910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accuracy ceiling for unimodal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AI models on crisis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25896" y="74980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5896" y="749808"/>
            <a:ext cx="2651760" cy="50292"/>
          </a:xfrm>
          <a:prstGeom prst="rect">
            <a:avLst/>
          </a:prstGeom>
          <a:solidFill>
            <a:srgbClr val="7A4A10"/>
          </a:solidFill>
          <a:ln/>
        </p:spPr>
      </p:sp>
      <p:sp>
        <p:nvSpPr>
          <p:cNvPr id="15" name="Text 13"/>
          <p:cNvSpPr/>
          <p:nvPr/>
        </p:nvSpPr>
        <p:spPr>
          <a:xfrm>
            <a:off x="6025896" y="8229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A4A10"/>
                </a:solidFill>
              </a:rPr>
              <a:t>15–30×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17336" y="15910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higher latency for LMMs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(GPT-4V) vs. edge models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8503920" cy="20117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5237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Core Challenges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8712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71216"/>
            <a:ext cx="50292" cy="8686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90779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" y="3200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Massive Unstructured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" y="343814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D4F"/>
                </a:solidFill>
              </a:rPr>
              <a:t>Social media generates &gt;50K multimodal posts/hour during crises — impossible to process manually in real time.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8587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858768"/>
            <a:ext cx="50292" cy="8686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89534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" y="418795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Accuracy vs. Speed Trade-off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" y="442569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D4F"/>
                </a:solidFill>
              </a:rPr>
              <a:t>Unimodal models cap at 65–72%; heavy transformer ensembles (GPT-4V, ViT+GPT-2) are 15–30× too slow for field deployment.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6592" y="28712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36592" y="2871216"/>
            <a:ext cx="50292" cy="8686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290779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03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82896" y="3200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No Edge-Deployable Solution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82896" y="343814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D4F"/>
                </a:solidFill>
              </a:rPr>
              <a:t>High-accuracy ensembles require cloud GPUs (&gt;6 GB VRAM) — inaccessible to NGO field offices or autonomous drones.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38587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3858768"/>
            <a:ext cx="50292" cy="8686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389534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04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82896" y="418795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Missing the Critical 'Golden Hour'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82896" y="442569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D4F"/>
                </a:solidFill>
              </a:rPr>
              <a:t>ViT+GPT-2 processes 15–20 posts/sec; handling 50K posts/hour takes &gt;45 minutes — far beyond the disaster response window.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 (1 / 2)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49808"/>
            <a:ext cx="85953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50292" cy="1993392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5EA7"/>
                </a:solidFill>
              </a:rPr>
              <a:t>[11] Nguyen et al., 2017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624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VGG16 + FastText — Late Concatenation Fusion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" y="1389888"/>
            <a:ext cx="822960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14447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3D4F"/>
                </a:solidFill>
              </a:rPr>
              <a:t>Contribution: </a:t>
            </a:r>
            <a:r>
              <a:rPr lang="en-US" sz="1050" dirty="0">
                <a:solidFill>
                  <a:srgbClr val="2E3D4F"/>
                </a:solidFill>
              </a:rPr>
              <a:t>Established CrisisMMD benchmark; first to combine VGG16 visual and FastText textual features for disaster classification.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17922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2A2A"/>
                </a:solidFill>
              </a:rPr>
              <a:t>Limitation: </a:t>
            </a:r>
            <a:r>
              <a:rPr lang="en-US" sz="1050" dirty="0">
                <a:solidFill>
                  <a:srgbClr val="2E3D4F"/>
                </a:solidFill>
              </a:rPr>
              <a:t>Late-stage concatenation provides no cross-modal interaction — cannot distinguish 'flood' metaphors from actual flood images.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" y="21579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30"/>
                </a:solidFill>
              </a:rPr>
              <a:t>Our Advance: </a:t>
            </a:r>
            <a:r>
              <a:rPr lang="en-US" sz="1050" dirty="0">
                <a:solidFill>
                  <a:srgbClr val="2E3D4F"/>
                </a:solidFill>
              </a:rPr>
              <a:t>Crisis-CLIP uses a pre-aligned CLIP latent space and learnable dynamic gating — capturing deep cross-modal semantics.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98648"/>
            <a:ext cx="85953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98648"/>
            <a:ext cx="50292" cy="1993392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2971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7070"/>
                </a:solidFill>
              </a:rPr>
              <a:t>[13] Islam et al., 2023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BanglaBERT + XLM-RoBERTa + DenseNet169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" y="3538728"/>
            <a:ext cx="822960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35935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3D4F"/>
                </a:solidFill>
              </a:rPr>
              <a:t>Contribution: </a:t>
            </a:r>
            <a:r>
              <a:rPr lang="en-US" sz="1050" dirty="0">
                <a:solidFill>
                  <a:srgbClr val="2E3D4F"/>
                </a:solidFill>
              </a:rPr>
              <a:t>Demonstrated attention mechanisms improve low-resource disaster classification; multilingual capability for Bengali data (5,037 posts).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39410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2A2A"/>
                </a:solidFill>
              </a:rPr>
              <a:t>Limitation: </a:t>
            </a:r>
            <a:r>
              <a:rPr lang="en-US" sz="1050" dirty="0">
                <a:solidFill>
                  <a:srgbClr val="2E3D4F"/>
                </a:solidFill>
              </a:rPr>
              <a:t>Late concatenation fusion; language-specific dataset limits generalisability; small corpus restricts robust training.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0624" y="43068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30"/>
                </a:solidFill>
              </a:rPr>
              <a:t>Our Advance: </a:t>
            </a:r>
            <a:r>
              <a:rPr lang="en-US" sz="1050" dirty="0">
                <a:solidFill>
                  <a:srgbClr val="2E3D4F"/>
                </a:solidFill>
              </a:rPr>
              <a:t>Crisis-CLIP is language-agnostic, trained on 16K+ samples, validated on 10,846-sample OOD MEDIC dataset (88% accuracy).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 (2 / 2)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49808"/>
            <a:ext cx="85953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50292" cy="1993392"/>
          </a:xfrm>
          <a:prstGeom prst="rect">
            <a:avLst/>
          </a:prstGeom>
          <a:solidFill>
            <a:srgbClr val="7A4A10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4A10"/>
                </a:solidFill>
              </a:rPr>
              <a:t>[7] Gite et al.,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624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ViT-Base16 + GPT-2 Ensemble + Random Forest Classifier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" y="1389888"/>
            <a:ext cx="822960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14447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3D4F"/>
                </a:solidFill>
              </a:rPr>
              <a:t>Contribution: </a:t>
            </a:r>
            <a:r>
              <a:rPr lang="en-US" sz="1050" dirty="0">
                <a:solidFill>
                  <a:srgbClr val="2E3D4F"/>
                </a:solidFill>
              </a:rPr>
              <a:t>Strong semantic extraction via dual large transformers; effectively leverages both visual and textual modalities for high accuracy.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17922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2A2A"/>
                </a:solidFill>
              </a:rPr>
              <a:t>Limitation: </a:t>
            </a:r>
            <a:r>
              <a:rPr lang="en-US" sz="1050" dirty="0">
                <a:solidFill>
                  <a:srgbClr val="2E3D4F"/>
                </a:solidFill>
              </a:rPr>
              <a:t>Two large transformers in parallel → only 15–20 posts/sec, &gt;6 GB memory, cloud-only. Impractical for field/edge deployment.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" y="21579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30"/>
                </a:solidFill>
              </a:rPr>
              <a:t>Our Advance: </a:t>
            </a:r>
            <a:r>
              <a:rPr lang="en-US" sz="1050" dirty="0">
                <a:solidFill>
                  <a:srgbClr val="2E3D4F"/>
                </a:solidFill>
              </a:rPr>
              <a:t>Crisis-CLIP achieves comparable accuracy at 491 posts/sec on a consumer laptop GPU (1.2 GB VRAM) — a 25× throughput improvement.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98648"/>
            <a:ext cx="85953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98648"/>
            <a:ext cx="50292" cy="1993392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2971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7070"/>
                </a:solidFill>
              </a:rPr>
              <a:t>[8] Radford et al., 2021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CLIP — Contrastive Language-Image Pre-training (Foundation)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" y="3538728"/>
            <a:ext cx="822960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35935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3D4F"/>
                </a:solidFill>
              </a:rPr>
              <a:t>Contribution: </a:t>
            </a:r>
            <a:r>
              <a:rPr lang="en-US" sz="1050" dirty="0">
                <a:solidFill>
                  <a:srgbClr val="2E3D4F"/>
                </a:solidFill>
              </a:rPr>
              <a:t>Pre-aligned visual-text latent space: 'flood' image embeddings are mathematically proximate to 'water rising' text embeddings.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39410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2A2A"/>
                </a:solidFill>
              </a:rPr>
              <a:t>Limitation: </a:t>
            </a:r>
            <a:r>
              <a:rPr lang="en-US" sz="1050" dirty="0">
                <a:solidFill>
                  <a:srgbClr val="2E3D4F"/>
                </a:solidFill>
              </a:rPr>
              <a:t>Not designed for multi-task crisis classification; no per-input modality reliability weighting; no parallel task heads for triage.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0624" y="43068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30"/>
                </a:solidFill>
              </a:rPr>
              <a:t>Our Advance: </a:t>
            </a:r>
            <a:r>
              <a:rPr lang="en-US" sz="1050" dirty="0">
                <a:solidFill>
                  <a:srgbClr val="2E3D4F"/>
                </a:solidFill>
              </a:rPr>
              <a:t>Crisis-CLIP extends CLIP with Dynamic Gated Fusion + three parallel heads (Relevance, Humanitarian, Severity) for end-to-end triage.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754880"/>
            <a:ext cx="50292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4754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Research Gap: No prior work simultaneously achieves high semantic accuracy AND edge-deployable real-time throughput.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86384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86384"/>
            <a:ext cx="50292" cy="12344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86384"/>
            <a:ext cx="914400" cy="12344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786384"/>
            <a:ext cx="50292" cy="12344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" y="786384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RQ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969264"/>
            <a:ext cx="18288" cy="868680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1" name="Text 9"/>
          <p:cNvSpPr/>
          <p:nvPr/>
        </p:nvSpPr>
        <p:spPr>
          <a:xfrm>
            <a:off x="1316736" y="932688"/>
            <a:ext cx="7406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3D4F"/>
                </a:solidFill>
              </a:rPr>
              <a:t>Can a unified CLIP backbone replace computationally expensive ensemble transformer models for disaster triage without sacrificing semantic classification depth?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203704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03704"/>
            <a:ext cx="50292" cy="123444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203704"/>
            <a:ext cx="914400" cy="12344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203704"/>
            <a:ext cx="50292" cy="123444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" y="2203704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5EA7"/>
                </a:solidFill>
              </a:rPr>
              <a:t>RQ 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88720" y="2386584"/>
            <a:ext cx="18288" cy="868680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8" name="Text 16"/>
          <p:cNvSpPr/>
          <p:nvPr/>
        </p:nvSpPr>
        <p:spPr>
          <a:xfrm>
            <a:off x="1316736" y="2350008"/>
            <a:ext cx="7406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3D4F"/>
                </a:solidFill>
              </a:rPr>
              <a:t>Does a Dynamic Gated Fusion mechanism improve recall for safety-critical categories (Infrastructure Damage, Rescue) compared to static or late-fusion baselines?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621024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621024"/>
            <a:ext cx="50292" cy="1234440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621024"/>
            <a:ext cx="914400" cy="12344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621024"/>
            <a:ext cx="50292" cy="1234440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" y="3621024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7070"/>
                </a:solidFill>
              </a:rPr>
              <a:t>RQ 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88720" y="3803904"/>
            <a:ext cx="18288" cy="868680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25" name="Text 23"/>
          <p:cNvSpPr/>
          <p:nvPr/>
        </p:nvSpPr>
        <p:spPr>
          <a:xfrm>
            <a:off x="1316736" y="3767328"/>
            <a:ext cx="7406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3D4F"/>
                </a:solidFill>
              </a:rPr>
              <a:t>Is it feasible to deploy a high-accuracy (≥89%) multimodal disaster triage system on consumer-grade edge hardware with throughput sufficient for real-time operation?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68096"/>
            <a:ext cx="42519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68096"/>
            <a:ext cx="50292" cy="1901952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68096"/>
            <a:ext cx="4251960" cy="47548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768096"/>
            <a:ext cx="50292" cy="1901952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9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EA7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133502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Novel Dynamic Fusion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664208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Propose a learnable gating mechanism assigning reliability-based weights to visual and textual modalities per input — robust against noisy social media content.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98064"/>
            <a:ext cx="42519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798064"/>
            <a:ext cx="50292" cy="1901952"/>
          </a:xfrm>
          <a:prstGeom prst="rect">
            <a:avLst/>
          </a:prstGeom>
          <a:solidFill>
            <a:srgbClr val="8B2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798064"/>
            <a:ext cx="4251960" cy="47548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798064"/>
            <a:ext cx="50292" cy="1901952"/>
          </a:xfrm>
          <a:prstGeom prst="rect">
            <a:avLst/>
          </a:prstGeom>
          <a:solidFill>
            <a:srgbClr val="8B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895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2A2A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" y="336499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Safety-Critical Recall Guarantee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" y="3694176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Achieve ≥98% recall for Infrastructure Damage, ensuring no life-threatening incidents are missed by the automated triage pipeline.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768096"/>
            <a:ext cx="42519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768096"/>
            <a:ext cx="50292" cy="1901952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768096"/>
            <a:ext cx="4251960" cy="47548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768096"/>
            <a:ext cx="50292" cy="1901952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859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7070"/>
                </a:solidFill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5464" y="133502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Edge AI Deployment Viability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55464" y="1664208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Demonstrate sustained real-time throughput (&gt;400 posts/sec) on a consumer NVIDIA RTX 3050 laptop GPU — requiring no cloud infrastructure.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798064"/>
            <a:ext cx="42519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798064"/>
            <a:ext cx="50292" cy="19019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8" name="Shape 26"/>
          <p:cNvSpPr/>
          <p:nvPr/>
        </p:nvSpPr>
        <p:spPr>
          <a:xfrm>
            <a:off x="4709160" y="2798064"/>
            <a:ext cx="4251960" cy="47548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9160" y="2798064"/>
            <a:ext cx="50292" cy="19019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8895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55464" y="336499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Cross-Domain Generalisation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55464" y="3694176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Validate robustness via out-of-distribution evaluation on the MEDIC dataset (10,846 unseen samples) spanning diverse disaster types and geographies.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1888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7A8"/>
                </a:solidFill>
              </a:rPr>
              <a:t>Implementation: AdamW optimizer  ·  lr = 2×10⁻⁵  ·  batch 64  ·  CrisisMMD 80/10/10 split  ·  AMP inference (PyTorch)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IMPACTS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" y="768096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768096"/>
            <a:ext cx="2651760" cy="5029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14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2B4A"/>
                </a:solidFill>
              </a:rPr>
              <a:t>89.27%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12648" y="1883664"/>
            <a:ext cx="210312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95681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Relevance 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Accuracy (CrisisMMD)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91256" y="768096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1256" y="768096"/>
            <a:ext cx="2651760" cy="50292"/>
          </a:xfrm>
          <a:prstGeom prst="rect">
            <a:avLst/>
          </a:prstGeom>
          <a:solidFill>
            <a:srgbClr val="1A5C30"/>
          </a:solidFill>
          <a:ln/>
        </p:spPr>
      </p:sp>
      <p:sp>
        <p:nvSpPr>
          <p:cNvPr id="12" name="Text 10"/>
          <p:cNvSpPr/>
          <p:nvPr/>
        </p:nvSpPr>
        <p:spPr>
          <a:xfrm>
            <a:off x="3191256" y="914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5C30"/>
                </a:solidFill>
              </a:rPr>
              <a:t>98%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3465576" y="1883664"/>
            <a:ext cx="210312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4" name="Text 12"/>
          <p:cNvSpPr/>
          <p:nvPr/>
        </p:nvSpPr>
        <p:spPr>
          <a:xfrm>
            <a:off x="3191256" y="195681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Recall — Infrastructure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Damage (Safety-Critical)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768096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44184" y="768096"/>
            <a:ext cx="2651760" cy="50292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17" name="Text 15"/>
          <p:cNvSpPr/>
          <p:nvPr/>
        </p:nvSpPr>
        <p:spPr>
          <a:xfrm>
            <a:off x="6044184" y="914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5EA7"/>
                </a:solidFill>
              </a:rPr>
              <a:t>491/s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6318504" y="1883664"/>
            <a:ext cx="210312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9" name="Text 17"/>
          <p:cNvSpPr/>
          <p:nvPr/>
        </p:nvSpPr>
        <p:spPr>
          <a:xfrm>
            <a:off x="6044184" y="195681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Posts Processed Per Second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(RTX 3050 Laptop GPU)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64792" y="2889504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64792" y="2889504"/>
            <a:ext cx="2651760" cy="50292"/>
          </a:xfrm>
          <a:prstGeom prst="rect">
            <a:avLst/>
          </a:prstGeom>
          <a:solidFill>
            <a:srgbClr val="7A4A10"/>
          </a:solidFill>
          <a:ln/>
        </p:spPr>
      </p:sp>
      <p:sp>
        <p:nvSpPr>
          <p:cNvPr id="22" name="Text 20"/>
          <p:cNvSpPr/>
          <p:nvPr/>
        </p:nvSpPr>
        <p:spPr>
          <a:xfrm>
            <a:off x="1764792" y="30358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A4A10"/>
                </a:solidFill>
              </a:rPr>
              <a:t>25×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2039112" y="4005072"/>
            <a:ext cx="210312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24" name="Text 22"/>
          <p:cNvSpPr/>
          <p:nvPr/>
        </p:nvSpPr>
        <p:spPr>
          <a:xfrm>
            <a:off x="1764792" y="407822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Faster than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ViT+GPT-2 Ensemble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889504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889504"/>
            <a:ext cx="2651760" cy="50292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0358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7070"/>
                </a:solidFill>
              </a:rPr>
              <a:t>88%</a:t>
            </a:r>
            <a:endParaRPr lang="en-US" sz="3800" dirty="0"/>
          </a:p>
        </p:txBody>
      </p:sp>
      <p:sp>
        <p:nvSpPr>
          <p:cNvPr id="28" name="Shape 26"/>
          <p:cNvSpPr/>
          <p:nvPr/>
        </p:nvSpPr>
        <p:spPr>
          <a:xfrm>
            <a:off x="4892040" y="4005072"/>
            <a:ext cx="210312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407822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OOD Accuracy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MEDIC (N=10,846)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773168"/>
            <a:ext cx="50292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" y="47731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Impact: Democratises AI-powered disaster triage to NGOs, field stations, and resource-constrained environments — no cloud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" y="749808"/>
            <a:ext cx="157276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" y="749808"/>
            <a:ext cx="1572768" cy="5029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" y="749808"/>
            <a:ext cx="1572768" cy="4572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749808"/>
            <a:ext cx="1572768" cy="5029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" y="7498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A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Data Input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773936"/>
            <a:ext cx="1243584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847088"/>
            <a:ext cx="142646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2E3D4F"/>
                </a:solidFill>
              </a:rPr>
              <a:t>CrisisMMD</a:t>
            </a:r>
            <a:r>
              <a:rPr lang="en-US" sz="1000" dirty="0">
                <a:solidFill>
                  <a:srgbClr val="2E3D4F"/>
                </a:solidFill>
              </a:rPr>
              <a:t> Dataset &amp;</a:t>
            </a:r>
            <a:r>
              <a:rPr lang="en-US" sz="1000">
                <a:solidFill>
                  <a:srgbClr val="2E3D4F"/>
                </a:solidFill>
              </a:rPr>
              <a:t>MEDIC 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~16,000 tweets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7 major disasters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Image–text pairs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2423160"/>
            <a:ext cx="164592" cy="36576"/>
          </a:xfrm>
          <a:prstGeom prst="rect">
            <a:avLst/>
          </a:prstGeom>
          <a:solidFill>
            <a:srgbClr val="8A97A8"/>
          </a:solidFill>
          <a:ln/>
        </p:spPr>
      </p:sp>
      <p:sp>
        <p:nvSpPr>
          <p:cNvPr id="14" name="Shape 12"/>
          <p:cNvSpPr/>
          <p:nvPr/>
        </p:nvSpPr>
        <p:spPr>
          <a:xfrm>
            <a:off x="1975104" y="749808"/>
            <a:ext cx="157276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75104" y="749808"/>
            <a:ext cx="1572768" cy="50292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16" name="Shape 14"/>
          <p:cNvSpPr/>
          <p:nvPr/>
        </p:nvSpPr>
        <p:spPr>
          <a:xfrm>
            <a:off x="1975104" y="749808"/>
            <a:ext cx="1572768" cy="4572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975104" y="749808"/>
            <a:ext cx="1572768" cy="50292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18" name="Text 16"/>
          <p:cNvSpPr/>
          <p:nvPr/>
        </p:nvSpPr>
        <p:spPr>
          <a:xfrm>
            <a:off x="1975104" y="7498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5EA7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29968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Pre-processing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39696" y="1773936"/>
            <a:ext cx="1243584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21" name="Text 19"/>
          <p:cNvSpPr/>
          <p:nvPr/>
        </p:nvSpPr>
        <p:spPr>
          <a:xfrm>
            <a:off x="2048256" y="1847088"/>
            <a:ext cx="142646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Text: clean, tokenise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(77 tokens max)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Image: 224×224 px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CLIP normalisation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2423160"/>
            <a:ext cx="164592" cy="36576"/>
          </a:xfrm>
          <a:prstGeom prst="rect">
            <a:avLst/>
          </a:prstGeom>
          <a:solidFill>
            <a:srgbClr val="8A97A8"/>
          </a:solidFill>
          <a:ln/>
        </p:spPr>
      </p:sp>
      <p:sp>
        <p:nvSpPr>
          <p:cNvPr id="23" name="Shape 21"/>
          <p:cNvSpPr/>
          <p:nvPr/>
        </p:nvSpPr>
        <p:spPr>
          <a:xfrm>
            <a:off x="3730752" y="749808"/>
            <a:ext cx="157276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749808"/>
            <a:ext cx="1572768" cy="50292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25" name="Shape 23"/>
          <p:cNvSpPr/>
          <p:nvPr/>
        </p:nvSpPr>
        <p:spPr>
          <a:xfrm>
            <a:off x="3730752" y="749808"/>
            <a:ext cx="1572768" cy="4572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6" name="Shape 24"/>
          <p:cNvSpPr/>
          <p:nvPr/>
        </p:nvSpPr>
        <p:spPr>
          <a:xfrm>
            <a:off x="3730752" y="749808"/>
            <a:ext cx="1572768" cy="50292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27" name="Text 25"/>
          <p:cNvSpPr/>
          <p:nvPr/>
        </p:nvSpPr>
        <p:spPr>
          <a:xfrm>
            <a:off x="3730752" y="7498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7070"/>
                </a:solidFill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85616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CLIP Backbone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(ViT-B/32)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95344" y="1773936"/>
            <a:ext cx="1243584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30" name="Text 28"/>
          <p:cNvSpPr/>
          <p:nvPr/>
        </p:nvSpPr>
        <p:spPr>
          <a:xfrm>
            <a:off x="3803904" y="1847088"/>
            <a:ext cx="142646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Shared 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512-d embeddings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Pre-aligned space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12 layers, fast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21808" y="2423160"/>
            <a:ext cx="164592" cy="36576"/>
          </a:xfrm>
          <a:prstGeom prst="rect">
            <a:avLst/>
          </a:prstGeom>
          <a:solidFill>
            <a:srgbClr val="8A97A8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0" y="749808"/>
            <a:ext cx="157276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749808"/>
            <a:ext cx="1572768" cy="50292"/>
          </a:xfrm>
          <a:prstGeom prst="rect">
            <a:avLst/>
          </a:prstGeom>
          <a:solidFill>
            <a:srgbClr val="7A4A10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0" y="749808"/>
            <a:ext cx="1572768" cy="4572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0" y="749808"/>
            <a:ext cx="1572768" cy="50292"/>
          </a:xfrm>
          <a:prstGeom prst="rect">
            <a:avLst/>
          </a:prstGeom>
          <a:solidFill>
            <a:srgbClr val="7A4A10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7498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4A10"/>
                </a:solidFill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41264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Dynamic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Gated Fusion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50992" y="1773936"/>
            <a:ext cx="1243584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39" name="Text 37"/>
          <p:cNvSpPr/>
          <p:nvPr/>
        </p:nvSpPr>
        <p:spPr>
          <a:xfrm>
            <a:off x="5559552" y="1847088"/>
            <a:ext cx="142646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Learnable α ∈[0,1]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Per-input weighting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Mutes noisy modality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σ = 0.002 (stable)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77456" y="2423160"/>
            <a:ext cx="164592" cy="36576"/>
          </a:xfrm>
          <a:prstGeom prst="rect">
            <a:avLst/>
          </a:prstGeom>
          <a:solidFill>
            <a:srgbClr val="8A97A8"/>
          </a:solidFill>
          <a:ln/>
        </p:spPr>
      </p:sp>
      <p:sp>
        <p:nvSpPr>
          <p:cNvPr id="41" name="Shape 39"/>
          <p:cNvSpPr/>
          <p:nvPr/>
        </p:nvSpPr>
        <p:spPr>
          <a:xfrm>
            <a:off x="7242048" y="749808"/>
            <a:ext cx="157276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42048" y="749808"/>
            <a:ext cx="1572768" cy="50292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43" name="Shape 41"/>
          <p:cNvSpPr/>
          <p:nvPr/>
        </p:nvSpPr>
        <p:spPr>
          <a:xfrm>
            <a:off x="7242048" y="749808"/>
            <a:ext cx="1572768" cy="4572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4" name="Shape 42"/>
          <p:cNvSpPr/>
          <p:nvPr/>
        </p:nvSpPr>
        <p:spPr>
          <a:xfrm>
            <a:off x="7242048" y="749808"/>
            <a:ext cx="1572768" cy="50292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45" name="Text 43"/>
          <p:cNvSpPr/>
          <p:nvPr/>
        </p:nvSpPr>
        <p:spPr>
          <a:xfrm>
            <a:off x="7242048" y="7498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5EA7"/>
                </a:solidFill>
              </a:rPr>
              <a:t>5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296912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3 Task Heads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406640" y="1773936"/>
            <a:ext cx="1243584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0" y="1847088"/>
            <a:ext cx="142646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① Relevance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② Humanitarian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③ Severity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Parallel, joint loss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297680"/>
            <a:ext cx="8595360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4297680"/>
            <a:ext cx="50292" cy="621792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1" name="Text 49"/>
          <p:cNvSpPr/>
          <p:nvPr/>
        </p:nvSpPr>
        <p:spPr>
          <a:xfrm>
            <a:off x="420624" y="429768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</a:rPr>
              <a:t>Fusion:   F = α · E_visual + (1 − α) · E_text     where α ∈ [0, 1]  is a learnable scalar per input context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DYNAMIC GATED FUSION &amp; MULTI-TASK HEADS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31520"/>
            <a:ext cx="420624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4206240" cy="50292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31520"/>
            <a:ext cx="4206240" cy="40233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731520"/>
            <a:ext cx="4206240" cy="50292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7315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Dynamic Gated Fusion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" y="123444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A2A"/>
                </a:solidFill>
              </a:rPr>
              <a:t>Why Static Fusion Fails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" y="1508760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Noisy social media frequently pairs relevant disaster text with an irrelevant image (e.g., a promotional photo). Static weighting treats both modalities equally — causing misclassification.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" y="2322576"/>
            <a:ext cx="3913632" cy="20117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23957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070"/>
                </a:solidFill>
              </a:rPr>
              <a:t>Learnable Gating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7066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—  α → 1.0 : prioritise visual modality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29809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—  α → 0.0 : prioritise text modality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32552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—  α ≈ 0.5 : balanced (damage severity task)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35295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—  Learned end-to-end — no manual tuning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" y="3913632"/>
            <a:ext cx="3913632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3913632"/>
            <a:ext cx="36576" cy="566928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931920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Observed: α = 0.476, σ = 0.002 (N=529)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Balanced fusion confirmed optimal for severity assessment.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731520"/>
            <a:ext cx="420624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731520"/>
            <a:ext cx="4206240" cy="5029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731520"/>
            <a:ext cx="4206240" cy="40233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731520"/>
            <a:ext cx="4206240" cy="5029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7315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Multi-Task Classification Heads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9744" y="1234440"/>
            <a:ext cx="39136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9744" y="1234440"/>
            <a:ext cx="50292" cy="10972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9744" y="1234440"/>
            <a:ext cx="3913632" cy="3474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9744" y="1234440"/>
            <a:ext cx="50292" cy="10972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2801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Task 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01184" y="1636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Relevance Filter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01184" y="1911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D4F"/>
                </a:solidFill>
              </a:rPr>
              <a:t>Classes: Informative  /  Not Informative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01184" y="2148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8"/>
                </a:solidFill>
              </a:rPr>
              <a:t>Loss: Binary Cross-Entropy   ·   Accuracy: 89.27%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9744" y="2468880"/>
            <a:ext cx="39136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9744" y="2468880"/>
            <a:ext cx="50292" cy="109728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9744" y="2468880"/>
            <a:ext cx="3913632" cy="3474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9744" y="2468880"/>
            <a:ext cx="50292" cy="109728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5146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5EA7"/>
                </a:solidFill>
              </a:rPr>
              <a:t>Task 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01184" y="2871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Humanitarian Categorisation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01184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D4F"/>
                </a:solidFill>
              </a:rPr>
              <a:t>Classes: Infra Damage · Rescue · Affected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3D4F"/>
                </a:solidFill>
              </a:rPr>
              <a:t>Individuals · Other · Not Humanitarian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01184" y="3383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8"/>
                </a:solidFill>
              </a:rPr>
              <a:t>Loss: Categorical Cross-Entropy   ·   Accuracy: 82.93%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9744" y="3703320"/>
            <a:ext cx="39136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9744" y="3703320"/>
            <a:ext cx="50292" cy="1097280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44" name="Shape 42"/>
          <p:cNvSpPr/>
          <p:nvPr/>
        </p:nvSpPr>
        <p:spPr>
          <a:xfrm>
            <a:off x="4809744" y="3703320"/>
            <a:ext cx="3913632" cy="3474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5" name="Shape 43"/>
          <p:cNvSpPr/>
          <p:nvPr/>
        </p:nvSpPr>
        <p:spPr>
          <a:xfrm>
            <a:off x="4809744" y="3703320"/>
            <a:ext cx="50292" cy="1097280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7490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7070"/>
                </a:solidFill>
              </a:rPr>
              <a:t>Task 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01184" y="4105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Severity Assessment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901184" y="4379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D4F"/>
                </a:solidFill>
              </a:rPr>
              <a:t>Classes: Severe Damage  /  Mild  /  No Damage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01184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8"/>
                </a:solidFill>
              </a:rPr>
              <a:t>Loss: Class-Weighted Ordinal Loss   ·   Accuracy: 72.00%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CLASSIFICATION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9494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7A8"/>
                </a:solidFill>
              </a:rPr>
              <a:t>Evaluated on the CrisisMMD structured test set.  Green values indicate safety-critical highlights.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7955280" cy="4005066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Relevance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Not Informative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0.90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1,086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Relevance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Informative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0.91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0.90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1,151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Relevance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Weighted Avg / Accuracy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5C30"/>
                          </a:solidFill>
                        </a:rPr>
                        <a:t>89.27%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Humanitarian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Infrastructure Damage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5C30"/>
                          </a:solidFill>
                        </a:rPr>
                        <a:t>0.98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0.79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Humanitarian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Rescue / Donation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5C30"/>
                          </a:solidFill>
                        </a:rPr>
                        <a:t>0.93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Humanitarian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Other Relevant Info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Humanitarian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Not Humanitarian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0.95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0.78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Humanitarian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5C30"/>
                          </a:solidFill>
                        </a:rPr>
                        <a:t>82.93%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Severity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Severe Damage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0.84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Severity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Mild Damage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0.53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0.51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Severity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No Damage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0.60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0.46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0.52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8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Severity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Weighted Avg / Accuracy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0.71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0.71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3D4F"/>
                          </a:solidFill>
                        </a:rPr>
                        <a:t>0.71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3D4F"/>
                          </a:solidFill>
                        </a:rPr>
                        <a:t>72.00%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501091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7A8"/>
                </a:solidFill>
              </a:rPr>
              <a:t>★ Safety-critical classes — false negatives carry fatal consequences; recall is the priority metric.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EFFICIENCY COMPARISON &amp; ABLATION STUDY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13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System Throughput &amp; Resource Efficiency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4206240" cy="233172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Crisis-CLIP (Ours)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ViT+GPT-2 [7]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Throughput (posts/sec)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C30"/>
                          </a:solidFill>
                        </a:rPr>
                        <a:t>491.47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~15–20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Hardware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RTX 3050 Laptop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Cloud GPU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Memory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C30"/>
                          </a:solidFill>
                        </a:rPr>
                        <a:t>~1.2 GB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B2A2A"/>
                          </a:solidFill>
                        </a:rPr>
                        <a:t>&gt;6 GB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Edge Deployment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C30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B2A2A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Infra. Damage Recall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C30"/>
                          </a:solidFill>
                        </a:rPr>
                        <a:t>98%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401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Ablation: Impact of Fusion Strategy</a:t>
            </a:r>
            <a:endParaRPr lang="en-US" sz="11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94176"/>
          <a:ext cx="4206240" cy="11658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Rel. 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Hum. 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Infra Recall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Baseline (concat)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85.12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78.45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0.89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Static Weighted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87.34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80.71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3D4F"/>
                          </a:solidFill>
                        </a:rPr>
                        <a:t>0.94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Crisis-CLIP (Dynamic)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89.27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82.93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0.98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663440" y="713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Accuracy by Fusion Strategy</a:t>
            </a:r>
            <a:endParaRPr lang="en-US" sz="11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663440" y="1005840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4663440" y="3913632"/>
            <a:ext cx="4206240" cy="804672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7"/>
          <p:cNvSpPr/>
          <p:nvPr/>
        </p:nvSpPr>
        <p:spPr>
          <a:xfrm>
            <a:off x="4663440" y="3913632"/>
            <a:ext cx="50292" cy="80467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3" name="Text 8"/>
          <p:cNvSpPr/>
          <p:nvPr/>
        </p:nvSpPr>
        <p:spPr>
          <a:xfrm>
            <a:off x="4791456" y="3950208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+4.15 pp Relevance  ·  +4.48 pp Humanitarian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+0.09 Infra. Recall over baseline  ·  only 2.4% throughput cost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CROSS-DATASET GENERALISATION (OOD — MEDIC)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7A8"/>
                </a:solidFill>
              </a:rPr>
              <a:t>Out-of-distribution evaluation on MEDIC dataset (N = 10,846 samples, unseen during training — diverse disaster types, platforms and label distributions).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1572768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Adaptation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Weighted 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Class (F1)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Relevance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Zero-shot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87.0%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0.87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Not Informative (0.88)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Humanitarian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PEFT via LoRA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88.0%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0.56*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0.89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Not Humanitarian (0.94)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Severity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PEFT via LoRA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86.0%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0.71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0.85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3D4F"/>
                          </a:solidFill>
                        </a:rPr>
                        <a:t>Little / No Damage (0.94)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2779776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2779776"/>
            <a:ext cx="2011680" cy="5029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285292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2B4A"/>
                </a:solidFill>
              </a:rPr>
              <a:t>87%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594360" y="3730752"/>
            <a:ext cx="146304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37856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Zero-Shot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Relevance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96312" y="2779776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10"/>
          <p:cNvSpPr/>
          <p:nvPr/>
        </p:nvSpPr>
        <p:spPr>
          <a:xfrm>
            <a:off x="2496312" y="2779776"/>
            <a:ext cx="2011680" cy="50292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14" name="Text 11"/>
          <p:cNvSpPr/>
          <p:nvPr/>
        </p:nvSpPr>
        <p:spPr>
          <a:xfrm>
            <a:off x="2496312" y="285292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5EA7"/>
                </a:solidFill>
              </a:rPr>
              <a:t>88%</a:t>
            </a:r>
            <a:endParaRPr lang="en-US" sz="3800" dirty="0"/>
          </a:p>
        </p:txBody>
      </p:sp>
      <p:sp>
        <p:nvSpPr>
          <p:cNvPr id="15" name="Shape 12"/>
          <p:cNvSpPr/>
          <p:nvPr/>
        </p:nvSpPr>
        <p:spPr>
          <a:xfrm>
            <a:off x="2770632" y="3730752"/>
            <a:ext cx="146304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16" name="Text 13"/>
          <p:cNvSpPr/>
          <p:nvPr/>
        </p:nvSpPr>
        <p:spPr>
          <a:xfrm>
            <a:off x="2496312" y="37856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Humanitarian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(LoRA-adapted)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72584" y="2779776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72584" y="2779776"/>
            <a:ext cx="2011680" cy="50292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19" name="Text 16"/>
          <p:cNvSpPr/>
          <p:nvPr/>
        </p:nvSpPr>
        <p:spPr>
          <a:xfrm>
            <a:off x="4672584" y="285292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7070"/>
                </a:solidFill>
              </a:rPr>
              <a:t>86%</a:t>
            </a:r>
            <a:endParaRPr lang="en-US" sz="3800" dirty="0"/>
          </a:p>
        </p:txBody>
      </p:sp>
      <p:sp>
        <p:nvSpPr>
          <p:cNvPr id="20" name="Shape 17"/>
          <p:cNvSpPr/>
          <p:nvPr/>
        </p:nvSpPr>
        <p:spPr>
          <a:xfrm>
            <a:off x="4946904" y="3730752"/>
            <a:ext cx="146304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21" name="Text 18"/>
          <p:cNvSpPr/>
          <p:nvPr/>
        </p:nvSpPr>
        <p:spPr>
          <a:xfrm>
            <a:off x="4672584" y="37856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Severity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(LoRA-adapted)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48856" y="2779776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48856" y="2779776"/>
            <a:ext cx="2011680" cy="50292"/>
          </a:xfrm>
          <a:prstGeom prst="rect">
            <a:avLst/>
          </a:prstGeom>
          <a:solidFill>
            <a:srgbClr val="1A5C30"/>
          </a:solidFill>
          <a:ln/>
        </p:spPr>
      </p:sp>
      <p:sp>
        <p:nvSpPr>
          <p:cNvPr id="24" name="Text 21"/>
          <p:cNvSpPr/>
          <p:nvPr/>
        </p:nvSpPr>
        <p:spPr>
          <a:xfrm>
            <a:off x="6848856" y="285292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5C30"/>
                </a:solidFill>
              </a:rPr>
              <a:t>0.94</a:t>
            </a:r>
            <a:endParaRPr lang="en-US" sz="3800" dirty="0"/>
          </a:p>
        </p:txBody>
      </p:sp>
      <p:sp>
        <p:nvSpPr>
          <p:cNvPr id="25" name="Shape 22"/>
          <p:cNvSpPr/>
          <p:nvPr/>
        </p:nvSpPr>
        <p:spPr>
          <a:xfrm>
            <a:off x="7123176" y="3730752"/>
            <a:ext cx="1463040" cy="18288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26" name="Text 23"/>
          <p:cNvSpPr/>
          <p:nvPr/>
        </p:nvSpPr>
        <p:spPr>
          <a:xfrm>
            <a:off x="6848856" y="37856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Best F1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3D4F"/>
                </a:solidFill>
              </a:rPr>
              <a:t>(two tasks)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718304"/>
            <a:ext cx="8595360" cy="292608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4718304"/>
            <a:ext cx="50292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9" name="Text 26"/>
          <p:cNvSpPr/>
          <p:nvPr/>
        </p:nvSpPr>
        <p:spPr>
          <a:xfrm>
            <a:off x="420624" y="4718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87–88% accuracy on completely unseen data confirms Crisis-CLIP generalises across disaster types, platforms and geographies.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7A8"/>
                </a:solidFill>
              </a:rPr>
              <a:t>* Macro F1 suppressed: zero support for 'Other Info' minority class in MEDIC label distribution.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13232"/>
            <a:ext cx="859536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13232"/>
            <a:ext cx="50292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7132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Crisis-CLIP demonstrates that edge-deployable, high-accuracy multimodal disaster triage is achievable today — without cloud infrastructure.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251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17320"/>
            <a:ext cx="50292" cy="1481328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43891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417320"/>
            <a:ext cx="50292" cy="1481328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08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EA7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92938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Unified CLIP Backbone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" y="2221992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Replaces expensive ensemble transformers while preserving pre-aligned cross-modal semantics — no separate training spaces required.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51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17520"/>
            <a:ext cx="50292" cy="1481328"/>
          </a:xfrm>
          <a:prstGeom prst="rect">
            <a:avLst/>
          </a:prstGeom>
          <a:solidFill>
            <a:srgbClr val="1A5C3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3017520"/>
            <a:ext cx="4251960" cy="43891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017520"/>
            <a:ext cx="50292" cy="1481328"/>
          </a:xfrm>
          <a:prstGeom prst="rect">
            <a:avLst/>
          </a:prstGeom>
          <a:solidFill>
            <a:srgbClr val="1A5C3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1089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30"/>
                </a:solidFill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" y="352958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98% Recall — Infrastructure Damage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" y="3822192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Dynamic Gated Fusion prioritises visual destruction evidence even when text descriptions are vague, ambiguous, or missing.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417320"/>
            <a:ext cx="4251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17320"/>
            <a:ext cx="50292" cy="14813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1417320"/>
            <a:ext cx="4251960" cy="43891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1417320"/>
            <a:ext cx="50292" cy="14813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508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5464" y="192938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491 Posts/Sec on a Laptop GPU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5464" y="2221992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25× faster than ViT+GPT-2 ensembles at 1.2 GB memory — deployable on NGO laptops, field stations, and autonomous drones.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017520"/>
            <a:ext cx="4251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017520"/>
            <a:ext cx="50292" cy="1481328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31" name="Shape 29"/>
          <p:cNvSpPr/>
          <p:nvPr/>
        </p:nvSpPr>
        <p:spPr>
          <a:xfrm>
            <a:off x="4709160" y="3017520"/>
            <a:ext cx="4251960" cy="43891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2" name="Shape 30"/>
          <p:cNvSpPr/>
          <p:nvPr/>
        </p:nvSpPr>
        <p:spPr>
          <a:xfrm>
            <a:off x="4709160" y="3017520"/>
            <a:ext cx="50292" cy="1481328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1089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070"/>
                </a:solidFill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55464" y="352958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Robust Cross-Domain Generalisation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55464" y="3822192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88% accuracy on the unseen MEDIC dataset (10,846 samples) confirms the framework works across diverse disaster types and geographies.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736592"/>
            <a:ext cx="8595360" cy="20117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79145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7A8"/>
                </a:solidFill>
              </a:rPr>
              <a:t>High-precision multimodal intelligence can be delivered directly at the edge through optimal feature fusion — making advanced triage accessible to all.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68096"/>
            <a:ext cx="8595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68096"/>
            <a:ext cx="50292" cy="1298448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68096"/>
            <a:ext cx="8595360" cy="3840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768096"/>
            <a:ext cx="50292" cy="1298448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32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EA7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2252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</a:rPr>
              <a:t>Synthetic Data Augmentation via Diffusion Models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0624" y="151790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Generate synthetic samples for critically under-represented classes (e.g., Affected Individuals — only 9 test samples, F1=0.24) using diffusion-based image generation. Addresses severe class imbalance without costly manual annotation.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94560"/>
            <a:ext cx="50292" cy="1298448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194560"/>
            <a:ext cx="8595360" cy="3840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194560"/>
            <a:ext cx="50292" cy="1298448"/>
          </a:xfrm>
          <a:prstGeom prst="rect">
            <a:avLst/>
          </a:prstGeom>
          <a:solidFill>
            <a:srgbClr val="1D707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2585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070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" y="26517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</a:rPr>
              <a:t>Multi-Scale Visual Encoders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20624" y="29443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Investigate higher-resolution input pipelines (beyond 224×224 px) to capture fine-grained structural damage cues — hairline cracks, partial debris — needed to distinguish Mild Damage from No Damage, without sacrificing inference throughput.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621024"/>
            <a:ext cx="8595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621024"/>
            <a:ext cx="50292" cy="12984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621024"/>
            <a:ext cx="8595360" cy="3840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621024"/>
            <a:ext cx="50292" cy="12984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6850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40782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</a:rPr>
              <a:t>Geolocation Clustering &amp; Real-Time Hotspot Mapping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0624" y="43708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Extend Crisis-CLIP to incorporate geographic metadata, enabling classified incidents to be spatially clustered in real time. This will produce infrastructure-failure 'hotspot' maps to guide emergency coordinators during the critical Golden Hour.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(1 / 2)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49808"/>
            <a:ext cx="850392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[1]  Imran, M., Castillo, C., Diaz, F., Vieweg, S.: Processing Social Media Messages in Mass Emergency: A Survey. ACM Computing Surveys 47(4), 1–38 (2016).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[2]  Castillo, C.: Big Crisis Data: Social Media in Disasters and Time-Critical Situations. Cambridge University Press (2016).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[3]  Palen, L., Liu, S.B.: Citizen Communications in Crisis. Proc. SIGCHI (2008).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[4]  Vieweg, S., Hughes, A.L., Starbird, K., Palen, L.: Microblogging During Two Natural Hazards Events. Proc. SIGCHI (2010).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[5]  Imran, M., et al.: AIDR: Artificial Intelligence for Disaster Response. Proc. 23rd International WWW Conference (2014).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[6]  Alam, F., Ofli, F., Imran, M.: CrisisMMD: Multimodal Twitter Datasets from Natural Disasters. ICWSM 12(1) (2018).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[7]  Gite, S., et al.: Analysis of Multimodal Social Media Data Utilizing ViT Base 16 and GPT-2 for Disaster Response. Arabian J. for Science and Engineering 50 (2025).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[8]  Radford, A., et al.: Learning Transferable Visual Models From Natural Language Supervision. ICML (2021).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[9]  Schwartz, R., Dodge, J., Smith, N.A., Etzioni, O.: Green AI. Communications of the ACM 63(12) (2020).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[10] Chen, J., Ran, X.: Deep Learning with Edge Computing: A Review. Proc. IEEE 107(8) (2019).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[11] Nguyen, D.T., Ofli, F., Imran, M., Mitra, P.: Damage Assessment from Social Media Imagery. IEEE/ACM ASONAM (2017).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(2 / 2)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49808"/>
            <a:ext cx="850392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[12] Vaswani, A., et al.: Attention is All You Need. NeurIPS 30 (2017).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[13] Xu, K., et al.: Show, Attend and Tell: Neural Image Caption Generation with Visual Attention. ICML (2015).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[14] Dosovitskiy, A., et al.: An Image is Worth 16×16 Words: Transformers for Image Recognition at Scale. ICLR (2021).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[15] Kyrkou, C., et al.: Machine Learning for Emergency Management: A Survey. Proc. IEEE 111(1) (2023).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[16] Alam, F., Ofli, F., Imran, M.: CrisisMMD v1.5 Dataset (2018). https://crisisnlp.qcri.org/crisismmd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[17] Zhou, K., Yang, J., Loy, C.C., Liu, Z.: Learning to Prompt for Vision-Language Models. IJCV 130(9) (2022).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[18] Paszke, A., et al.: PyTorch: An Imperative Style, High-Performance Deep Learning Library. NeurIPS 32 (2019).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[19] Dietterich, T.G.: Approximate Statistical Tests for Comparing Supervised Classification Learning Algorithms. Neural Computation 10(7) (1998).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[20] Alam, F., et al.: MEDIC: A Multi-Task Learning Dataset for Disaster Image Classification. Neural Computing and Applications 35(3) (2023).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D4F"/>
                </a:solidFill>
              </a:rPr>
              <a:t>[21] Loshchilov, I., Hutter, F.: Decoupled Weight Decay Regularization. ICLR (2019).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20117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960120"/>
            <a:ext cx="5852160" cy="2514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960120"/>
            <a:ext cx="5852160" cy="5029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115568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3D4F"/>
                </a:solidFill>
              </a:rPr>
              <a:t>The authors gratefully acknowledge the Department of Electrical &amp; Computer Engineering, Rajshahi University of Engineering &amp; Technology (RUET), Rajshahi 6204, Bangladesh, for providing the research environment and computational resources that made this work possible.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730752"/>
            <a:ext cx="8595360" cy="20117"/>
          </a:xfrm>
          <a:prstGeom prst="rect">
            <a:avLst/>
          </a:prstGeom>
          <a:solidFill>
            <a:srgbClr val="D8DFE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3858768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2B4A"/>
                </a:solidFill>
              </a:rPr>
              <a:t>Thank You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4320" y="46451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7A8"/>
                </a:solidFill>
              </a:rPr>
              <a:t>Questions are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2504</Words>
  <Application>Microsoft Office PowerPoint</Application>
  <PresentationFormat>On-screen Show (16:9)</PresentationFormat>
  <Paragraphs>385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Crisis-CLIP: ECCT 2026</dc:title>
  <dc:subject>PptxGenJS Presentation</dc:subject>
  <dc:creator>PptxGenJS</dc:creator>
  <cp:lastModifiedBy>Nabila Ferdous</cp:lastModifiedBy>
  <cp:revision>2</cp:revision>
  <dcterms:created xsi:type="dcterms:W3CDTF">2026-05-05T06:57:09Z</dcterms:created>
  <dcterms:modified xsi:type="dcterms:W3CDTF">2026-05-05T08:50:07Z</dcterms:modified>
</cp:coreProperties>
</file>