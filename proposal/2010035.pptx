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4"/>
  </p:notesMasterIdLst>
  <p:handoutMasterIdLst>
    <p:handoutMasterId r:id="rId35"/>
  </p:handoutMasterIdLst>
  <p:sldIdLst>
    <p:sldId id="288" r:id="rId5"/>
    <p:sldId id="289" r:id="rId6"/>
    <p:sldId id="337" r:id="rId7"/>
    <p:sldId id="299" r:id="rId8"/>
    <p:sldId id="314" r:id="rId9"/>
    <p:sldId id="338" r:id="rId10"/>
    <p:sldId id="291" r:id="rId11"/>
    <p:sldId id="307" r:id="rId12"/>
    <p:sldId id="308" r:id="rId13"/>
    <p:sldId id="310" r:id="rId14"/>
    <p:sldId id="312" r:id="rId15"/>
    <p:sldId id="303" r:id="rId16"/>
    <p:sldId id="293" r:id="rId17"/>
    <p:sldId id="295" r:id="rId18"/>
    <p:sldId id="340" r:id="rId19"/>
    <p:sldId id="317" r:id="rId20"/>
    <p:sldId id="323" r:id="rId21"/>
    <p:sldId id="327" r:id="rId22"/>
    <p:sldId id="328" r:id="rId23"/>
    <p:sldId id="329" r:id="rId24"/>
    <p:sldId id="325" r:id="rId25"/>
    <p:sldId id="331" r:id="rId26"/>
    <p:sldId id="333" r:id="rId27"/>
    <p:sldId id="334" r:id="rId28"/>
    <p:sldId id="296" r:id="rId29"/>
    <p:sldId id="298" r:id="rId30"/>
    <p:sldId id="302" r:id="rId31"/>
    <p:sldId id="336" r:id="rId32"/>
    <p:sldId id="311"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28" userDrawn="1">
          <p15:clr>
            <a:srgbClr val="A4A3A4"/>
          </p15:clr>
        </p15:guide>
        <p15:guide id="2" pos="3864" userDrawn="1">
          <p15:clr>
            <a:srgbClr val="A4A3A4"/>
          </p15:clr>
        </p15:guide>
        <p15:guide id="3" pos="7512" userDrawn="1">
          <p15:clr>
            <a:srgbClr val="A4A3A4"/>
          </p15:clr>
        </p15:guide>
        <p15:guide id="4" pos="144" userDrawn="1">
          <p15:clr>
            <a:srgbClr val="A4A3A4"/>
          </p15:clr>
        </p15:guide>
        <p15:guide id="5" orient="horz" pos="624" userDrawn="1">
          <p15:clr>
            <a:srgbClr val="A4A3A4"/>
          </p15:clr>
        </p15:guide>
        <p15:guide id="6" orient="horz" pos="40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52" autoAdjust="0"/>
  </p:normalViewPr>
  <p:slideViewPr>
    <p:cSldViewPr snapToGrid="0" showGuides="1">
      <p:cViewPr varScale="1">
        <p:scale>
          <a:sx n="82" d="100"/>
          <a:sy n="82" d="100"/>
        </p:scale>
        <p:origin x="720" y="67"/>
      </p:cViewPr>
      <p:guideLst>
        <p:guide orient="horz" pos="2328"/>
        <p:guide pos="3864"/>
        <p:guide pos="7512"/>
        <p:guide pos="144"/>
        <p:guide orient="horz" pos="624"/>
        <p:guide orient="horz" pos="4056"/>
      </p:guideLst>
    </p:cSldViewPr>
  </p:slideViewPr>
  <p:notesTextViewPr>
    <p:cViewPr>
      <p:scale>
        <a:sx n="1" d="1"/>
        <a:sy n="1" d="1"/>
      </p:scale>
      <p:origin x="0" y="0"/>
    </p:cViewPr>
  </p:notesTextViewPr>
  <p:notesViewPr>
    <p:cSldViewPr snapToGrid="0">
      <p:cViewPr varScale="1">
        <p:scale>
          <a:sx n="68" d="100"/>
          <a:sy n="68" d="100"/>
        </p:scale>
        <p:origin x="3288" y="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handoutMaster" Target="handoutMasters/handoutMaster1.xml"/><Relationship Id="rId8" Type="http://schemas.openxmlformats.org/officeDocument/2006/relationships/slide" Target="slides/slide4.xml"/><Relationship Id="rId3" Type="http://schemas.openxmlformats.org/officeDocument/2006/relationships/customXml" Target="../customXml/item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2000" b="1" dirty="0">
                <a:latin typeface="Times New Roman" panose="02020603050405020304" pitchFamily="18" charset="0"/>
                <a:cs typeface="Times New Roman" panose="02020603050405020304" pitchFamily="18" charset="0"/>
              </a:rPr>
              <a:t>Dataset</a:t>
            </a:r>
            <a:r>
              <a:rPr lang="en-US" sz="2000" b="1" baseline="0" dirty="0">
                <a:latin typeface="Times New Roman" panose="02020603050405020304" pitchFamily="18" charset="0"/>
                <a:cs typeface="Times New Roman" panose="02020603050405020304" pitchFamily="18" charset="0"/>
              </a:rPr>
              <a:t> splitting</a:t>
            </a:r>
            <a:endParaRPr lang="en-US" sz="2000" b="1" dirty="0">
              <a:latin typeface="Times New Roman" panose="02020603050405020304" pitchFamily="18" charset="0"/>
              <a:cs typeface="Times New Roman" panose="02020603050405020304" pitchFamily="18" charset="0"/>
            </a:endParaRP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Sales</c:v>
                </c:pt>
              </c:strCache>
            </c:strRef>
          </c:tx>
          <c:dPt>
            <c:idx val="0"/>
            <c:bubble3D val="0"/>
            <c:spPr>
              <a:solidFill>
                <a:schemeClr val="accent5">
                  <a:lumMod val="40000"/>
                  <a:lumOff val="60000"/>
                </a:schemeClr>
              </a:solidFill>
              <a:ln w="19050">
                <a:solidFill>
                  <a:schemeClr val="lt1"/>
                </a:solidFill>
              </a:ln>
              <a:effectLst/>
            </c:spPr>
            <c:extLst>
              <c:ext xmlns:c16="http://schemas.microsoft.com/office/drawing/2014/chart" uri="{C3380CC4-5D6E-409C-BE32-E72D297353CC}">
                <c16:uniqueId val="{00000001-FAF1-4495-91AF-4C26260ECAC8}"/>
              </c:ext>
            </c:extLst>
          </c:dPt>
          <c:dPt>
            <c:idx val="1"/>
            <c:bubble3D val="0"/>
            <c:spPr>
              <a:solidFill>
                <a:schemeClr val="accent4">
                  <a:lumMod val="60000"/>
                  <a:lumOff val="40000"/>
                </a:schemeClr>
              </a:solidFill>
              <a:ln w="19050">
                <a:solidFill>
                  <a:schemeClr val="lt1"/>
                </a:solidFill>
              </a:ln>
              <a:effectLst/>
            </c:spPr>
            <c:extLst>
              <c:ext xmlns:c16="http://schemas.microsoft.com/office/drawing/2014/chart" uri="{C3380CC4-5D6E-409C-BE32-E72D297353CC}">
                <c16:uniqueId val="{00000002-FAF1-4495-91AF-4C26260ECAC8}"/>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4-878C-473B-A7C9-6ED371DAA195}"/>
              </c:ext>
            </c:extLst>
          </c:dPt>
          <c:dLbls>
            <c:dLbl>
              <c:idx val="0"/>
              <c:layout>
                <c:manualLayout>
                  <c:x val="-0.2298832819598024"/>
                  <c:y val="-0.21703246795411943"/>
                </c:manualLayout>
              </c:layout>
              <c:tx>
                <c:rich>
                  <a:bodyPr rot="0" spcFirstLastPara="1" vertOverflow="ellipsis" vert="horz" wrap="square" lIns="38100" tIns="19050" rIns="38100" bIns="19050" anchor="ctr" anchorCtr="1">
                    <a:noAutofit/>
                  </a:bodyPr>
                  <a:lstStyle/>
                  <a:p>
                    <a:pPr>
                      <a:defRPr sz="1197" b="0" i="0" u="none" strike="noStrike" kern="1200" baseline="0">
                        <a:solidFill>
                          <a:schemeClr val="tx1">
                            <a:lumMod val="75000"/>
                            <a:lumOff val="25000"/>
                          </a:schemeClr>
                        </a:solidFill>
                        <a:latin typeface="+mn-lt"/>
                        <a:ea typeface="+mn-ea"/>
                        <a:cs typeface="+mn-cs"/>
                      </a:defRPr>
                    </a:pPr>
                    <a:r>
                      <a:rPr lang="en-US" sz="1600" b="1" dirty="0"/>
                      <a:t>80</a:t>
                    </a:r>
                    <a:r>
                      <a:rPr lang="en-US" sz="1600" b="1" dirty="0">
                        <a:latin typeface="Times New Roman" panose="02020603050405020304" pitchFamily="18" charset="0"/>
                        <a:cs typeface="Times New Roman" panose="02020603050405020304" pitchFamily="18" charset="0"/>
                      </a:rPr>
                      <a:t>%</a:t>
                    </a:r>
                  </a:p>
                </c:rich>
              </c:tx>
              <c:spPr>
                <a:noFill/>
                <a:ln>
                  <a:noFill/>
                </a:ln>
                <a:effectLst/>
              </c:spPr>
              <c:txPr>
                <a:bodyPr rot="0" spcFirstLastPara="1" vertOverflow="ellipsis" vert="horz" wrap="square" lIns="38100" tIns="19050" rIns="38100" bIns="19050" anchor="ctr" anchorCtr="1">
                  <a:no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15:layout>
                    <c:manualLayout>
                      <c:w val="0.17992223237921723"/>
                      <c:h val="0.14734902185307597"/>
                    </c:manualLayout>
                  </c15:layout>
                  <c15:showDataLabelsRange val="0"/>
                </c:ext>
                <c:ext xmlns:c16="http://schemas.microsoft.com/office/drawing/2014/chart" uri="{C3380CC4-5D6E-409C-BE32-E72D297353CC}">
                  <c16:uniqueId val="{00000001-FAF1-4495-91AF-4C26260ECAC8}"/>
                </c:ext>
              </c:extLst>
            </c:dLbl>
            <c:dLbl>
              <c:idx val="1"/>
              <c:layout>
                <c:manualLayout>
                  <c:x val="0.10930160121748607"/>
                  <c:y val="0.10719404847238684"/>
                </c:manualLayout>
              </c:layout>
              <c:tx>
                <c:rich>
                  <a:bodyPr rot="0" spcFirstLastPara="1" vertOverflow="ellipsis" vert="horz" wrap="square" lIns="38100" tIns="19050" rIns="38100" bIns="19050" anchor="ctr" anchorCtr="1">
                    <a:noAutofit/>
                  </a:bodyPr>
                  <a:lstStyle/>
                  <a:p>
                    <a:pPr>
                      <a:defRPr sz="1197" b="0" i="0" u="none" strike="noStrike" kern="1200" baseline="0">
                        <a:solidFill>
                          <a:schemeClr val="tx1">
                            <a:lumMod val="75000"/>
                            <a:lumOff val="25000"/>
                          </a:schemeClr>
                        </a:solidFill>
                        <a:latin typeface="+mn-lt"/>
                        <a:ea typeface="+mn-ea"/>
                        <a:cs typeface="+mn-cs"/>
                      </a:defRPr>
                    </a:pPr>
                    <a:fld id="{77F1A9B2-660C-4683-B336-87C6BF3067F1}" type="VALUE">
                      <a:rPr lang="en-US" sz="1400" smtClean="0">
                        <a:latin typeface="Times New Roman" panose="02020603050405020304" pitchFamily="18" charset="0"/>
                        <a:cs typeface="Times New Roman" panose="02020603050405020304" pitchFamily="18" charset="0"/>
                      </a:rPr>
                      <a:pPr>
                        <a:defRPr/>
                      </a:pPr>
                      <a:t>[VALUE]</a:t>
                    </a:fld>
                    <a:r>
                      <a:rPr lang="en-US" sz="1400" dirty="0">
                        <a:latin typeface="Times New Roman" panose="02020603050405020304" pitchFamily="18" charset="0"/>
                        <a:cs typeface="Times New Roman" panose="02020603050405020304" pitchFamily="18" charset="0"/>
                      </a:rPr>
                      <a:t>%</a:t>
                    </a:r>
                  </a:p>
                </c:rich>
              </c:tx>
              <c:spPr>
                <a:noFill/>
                <a:ln>
                  <a:noFill/>
                </a:ln>
                <a:effectLst/>
              </c:spPr>
              <c:txPr>
                <a:bodyPr rot="0" spcFirstLastPara="1" vertOverflow="ellipsis" vert="horz" wrap="square" lIns="38100" tIns="19050" rIns="38100" bIns="19050" anchor="ctr" anchorCtr="1">
                  <a:no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layout>
                    <c:manualLayout>
                      <c:w val="9.1300512635731745E-2"/>
                      <c:h val="6.0710877470823106E-2"/>
                    </c:manualLayout>
                  </c15:layout>
                  <c15:dlblFieldTable/>
                  <c15:showDataLabelsRange val="0"/>
                </c:ext>
                <c:ext xmlns:c16="http://schemas.microsoft.com/office/drawing/2014/chart" uri="{C3380CC4-5D6E-409C-BE32-E72D297353CC}">
                  <c16:uniqueId val="{00000002-FAF1-4495-91AF-4C26260ECAC8}"/>
                </c:ext>
              </c:extLst>
            </c:dLbl>
            <c:dLbl>
              <c:idx val="2"/>
              <c:delete val="1"/>
              <c:extLst>
                <c:ext xmlns:c15="http://schemas.microsoft.com/office/drawing/2012/chart" uri="{CE6537A1-D6FC-4f65-9D91-7224C49458BB}"/>
                <c:ext xmlns:c16="http://schemas.microsoft.com/office/drawing/2014/chart" uri="{C3380CC4-5D6E-409C-BE32-E72D297353CC}">
                  <c16:uniqueId val="{00000004-878C-473B-A7C9-6ED371DAA195}"/>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Training Data</c:v>
                </c:pt>
                <c:pt idx="1">
                  <c:v>Testing Data</c:v>
                </c:pt>
                <c:pt idx="2">
                  <c:v>Validation Data </c:v>
                </c:pt>
              </c:strCache>
            </c:strRef>
          </c:cat>
          <c:val>
            <c:numRef>
              <c:f>Sheet1!$B$2:$B$4</c:f>
              <c:numCache>
                <c:formatCode>General</c:formatCode>
                <c:ptCount val="3"/>
                <c:pt idx="0">
                  <c:v>80</c:v>
                </c:pt>
                <c:pt idx="1">
                  <c:v>10</c:v>
                </c:pt>
                <c:pt idx="2">
                  <c:v>10</c:v>
                </c:pt>
              </c:numCache>
            </c:numRef>
          </c:val>
          <c:extLst>
            <c:ext xmlns:c16="http://schemas.microsoft.com/office/drawing/2014/chart" uri="{C3380CC4-5D6E-409C-BE32-E72D297353CC}">
              <c16:uniqueId val="{00000000-FAF1-4495-91AF-4C26260ECAC8}"/>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0.42749</cdr:x>
      <cdr:y>0.26896</cdr:y>
    </cdr:from>
    <cdr:to>
      <cdr:x>0.57251</cdr:x>
      <cdr:y>0.5</cdr:y>
    </cdr:to>
    <cdr:sp macro="" textlink="">
      <cdr:nvSpPr>
        <cdr:cNvPr id="2" name="TextBox 1">
          <a:extLst xmlns:a="http://schemas.openxmlformats.org/drawingml/2006/main">
            <a:ext uri="{FF2B5EF4-FFF2-40B4-BE49-F238E27FC236}">
              <a16:creationId xmlns:a16="http://schemas.microsoft.com/office/drawing/2014/main" id="{9B923467-4FF9-1701-AA00-80EC6432F970}"/>
            </a:ext>
          </a:extLst>
        </cdr:cNvPr>
        <cdr:cNvSpPr txBox="1"/>
      </cdr:nvSpPr>
      <cdr:spPr>
        <a:xfrm xmlns:a="http://schemas.openxmlformats.org/drawingml/2006/main">
          <a:off x="2695526" y="1064520"/>
          <a:ext cx="914400" cy="91440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400" kern="1200" dirty="0">
              <a:latin typeface="Times New Roman" panose="02020603050405020304" pitchFamily="18" charset="0"/>
              <a:cs typeface="Times New Roman" panose="02020603050405020304" pitchFamily="18" charset="0"/>
            </a:rPr>
            <a:t>10%</a:t>
          </a: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465D3EB-CBDD-4100-83B7-3BFE0A8F411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72B4595-A79D-4567-9FE1-DCF31A42B3D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E5C0719-993D-42E1-80ED-8F01056F36C2}" type="datetimeFigureOut">
              <a:rPr lang="en-US" smtClean="0"/>
              <a:t>1/18/2026</a:t>
            </a:fld>
            <a:endParaRPr lang="en-US" dirty="0"/>
          </a:p>
        </p:txBody>
      </p:sp>
      <p:sp>
        <p:nvSpPr>
          <p:cNvPr id="4" name="Footer Placeholder 3">
            <a:extLst>
              <a:ext uri="{FF2B5EF4-FFF2-40B4-BE49-F238E27FC236}">
                <a16:creationId xmlns:a16="http://schemas.microsoft.com/office/drawing/2014/main" id="{850E452F-E862-4273-987C-980229E5320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C3EE394C-9AD7-48EA-AB0F-18032A3E097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00421AD-3AC0-48CB-8727-BB447FD2264E}" type="slidenum">
              <a:rPr lang="en-US" smtClean="0"/>
              <a:t>‹#›</a:t>
            </a:fld>
            <a:endParaRPr lang="en-US" dirty="0"/>
          </a:p>
        </p:txBody>
      </p:sp>
    </p:spTree>
    <p:extLst>
      <p:ext uri="{BB962C8B-B14F-4D97-AF65-F5344CB8AC3E}">
        <p14:creationId xmlns:p14="http://schemas.microsoft.com/office/powerpoint/2010/main" val="326815982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D3BC9C-6C58-464F-B94E-FD73C5FB016E}" type="datetimeFigureOut">
              <a:rPr lang="en-US" smtClean="0"/>
              <a:t>1/18/2026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60DC36-8EFA-4378-9855-E019C55AC472}" type="slidenum">
              <a:rPr lang="en-US" smtClean="0"/>
              <a:t>‹#›</a:t>
            </a:fld>
            <a:endParaRPr lang="en-US" dirty="0"/>
          </a:p>
        </p:txBody>
      </p:sp>
    </p:spTree>
    <p:extLst>
      <p:ext uri="{BB962C8B-B14F-4D97-AF65-F5344CB8AC3E}">
        <p14:creationId xmlns:p14="http://schemas.microsoft.com/office/powerpoint/2010/main" val="18770536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F864C-44C4-4000-952D-01F31BFB3FD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1392E06-C914-467E-9D4F-BD763EDA2DD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FBEFBAF-82E9-49AD-B2CF-7D154E024431}"/>
              </a:ext>
            </a:extLst>
          </p:cNvPr>
          <p:cNvSpPr>
            <a:spLocks noGrp="1"/>
          </p:cNvSpPr>
          <p:nvPr>
            <p:ph type="dt" sz="half" idx="10"/>
          </p:nvPr>
        </p:nvSpPr>
        <p:spPr/>
        <p:txBody>
          <a:bodyPr/>
          <a:lstStyle/>
          <a:p>
            <a:fld id="{63240C98-366F-4546-98C1-8575A62CD472}" type="datetime1">
              <a:rPr lang="en-US" smtClean="0"/>
              <a:t>1/18/2026</a:t>
            </a:fld>
            <a:endParaRPr lang="en-US" dirty="0"/>
          </a:p>
        </p:txBody>
      </p:sp>
      <p:sp>
        <p:nvSpPr>
          <p:cNvPr id="5" name="Footer Placeholder 4">
            <a:extLst>
              <a:ext uri="{FF2B5EF4-FFF2-40B4-BE49-F238E27FC236}">
                <a16:creationId xmlns:a16="http://schemas.microsoft.com/office/drawing/2014/main" id="{5AD8006A-94B1-44F7-972D-56767EDE3CC3}"/>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
        <p:nvSpPr>
          <p:cNvPr id="6" name="Slide Number Placeholder 5">
            <a:extLst>
              <a:ext uri="{FF2B5EF4-FFF2-40B4-BE49-F238E27FC236}">
                <a16:creationId xmlns:a16="http://schemas.microsoft.com/office/drawing/2014/main" id="{F5E7BFAB-D84B-45E1-A0BD-2516AC14F8AC}"/>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485646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07FBE-061D-452C-A8A6-213063CFD67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33A3535-1708-499D-B5D2-7D8F9FD182D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B06063-A112-49AB-80C8-504D99ECD771}"/>
              </a:ext>
            </a:extLst>
          </p:cNvPr>
          <p:cNvSpPr>
            <a:spLocks noGrp="1"/>
          </p:cNvSpPr>
          <p:nvPr>
            <p:ph type="dt" sz="half" idx="10"/>
          </p:nvPr>
        </p:nvSpPr>
        <p:spPr/>
        <p:txBody>
          <a:bodyPr/>
          <a:lstStyle/>
          <a:p>
            <a:fld id="{04C3E991-8606-400A-924A-CFC7060222DF}" type="datetime1">
              <a:rPr lang="en-US" smtClean="0"/>
              <a:t>1/18/2026</a:t>
            </a:fld>
            <a:endParaRPr lang="en-US" dirty="0"/>
          </a:p>
        </p:txBody>
      </p:sp>
      <p:sp>
        <p:nvSpPr>
          <p:cNvPr id="5" name="Footer Placeholder 4">
            <a:extLst>
              <a:ext uri="{FF2B5EF4-FFF2-40B4-BE49-F238E27FC236}">
                <a16:creationId xmlns:a16="http://schemas.microsoft.com/office/drawing/2014/main" id="{6344C8D5-F898-4318-A76D-1FBD87329198}"/>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
        <p:nvSpPr>
          <p:cNvPr id="6" name="Slide Number Placeholder 5">
            <a:extLst>
              <a:ext uri="{FF2B5EF4-FFF2-40B4-BE49-F238E27FC236}">
                <a16:creationId xmlns:a16="http://schemas.microsoft.com/office/drawing/2014/main" id="{2976EC76-E8E8-4FFA-B671-7FA2F3EF5DEF}"/>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27892872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2CABF-E3C1-431A-A69C-D4881CC43F0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584226-69DA-4211-B2C8-C29FD05A4A6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FF82DB-B518-40FD-8A66-44B874C055FB}"/>
              </a:ext>
            </a:extLst>
          </p:cNvPr>
          <p:cNvSpPr>
            <a:spLocks noGrp="1"/>
          </p:cNvSpPr>
          <p:nvPr>
            <p:ph type="dt" sz="half" idx="10"/>
          </p:nvPr>
        </p:nvSpPr>
        <p:spPr/>
        <p:txBody>
          <a:bodyPr/>
          <a:lstStyle/>
          <a:p>
            <a:fld id="{FD128EF0-8F8C-4044-80F2-85AD4F51D7F5}" type="datetime1">
              <a:rPr lang="en-US" smtClean="0"/>
              <a:t>1/18/2026</a:t>
            </a:fld>
            <a:endParaRPr lang="en-US" dirty="0"/>
          </a:p>
        </p:txBody>
      </p:sp>
      <p:sp>
        <p:nvSpPr>
          <p:cNvPr id="5" name="Footer Placeholder 4">
            <a:extLst>
              <a:ext uri="{FF2B5EF4-FFF2-40B4-BE49-F238E27FC236}">
                <a16:creationId xmlns:a16="http://schemas.microsoft.com/office/drawing/2014/main" id="{FCC1CCEE-725F-4745-837B-87EFB70E71D8}"/>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
        <p:nvSpPr>
          <p:cNvPr id="6" name="Slide Number Placeholder 5">
            <a:extLst>
              <a:ext uri="{FF2B5EF4-FFF2-40B4-BE49-F238E27FC236}">
                <a16:creationId xmlns:a16="http://schemas.microsoft.com/office/drawing/2014/main" id="{C561522A-E0E6-406B-BF30-A7C7A57294BE}"/>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12300417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CC9BDC-6F21-4EF5-A8DD-E35E27EACA5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B968D5F-2AB6-42D3-A54E-AB3E6032517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65AB07F-D5F7-402A-AE4E-027BF1CA912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5108EDC-3863-43B9-93C7-37465DC73B28}"/>
              </a:ext>
            </a:extLst>
          </p:cNvPr>
          <p:cNvSpPr>
            <a:spLocks noGrp="1"/>
          </p:cNvSpPr>
          <p:nvPr>
            <p:ph type="dt" sz="half" idx="10"/>
          </p:nvPr>
        </p:nvSpPr>
        <p:spPr/>
        <p:txBody>
          <a:bodyPr/>
          <a:lstStyle/>
          <a:p>
            <a:fld id="{E9B00433-89E3-4115-8543-0D0A75A5AE40}" type="datetime1">
              <a:rPr lang="en-US" smtClean="0"/>
              <a:t>1/18/2026</a:t>
            </a:fld>
            <a:endParaRPr lang="en-US" dirty="0"/>
          </a:p>
        </p:txBody>
      </p:sp>
      <p:sp>
        <p:nvSpPr>
          <p:cNvPr id="6" name="Footer Placeholder 5">
            <a:extLst>
              <a:ext uri="{FF2B5EF4-FFF2-40B4-BE49-F238E27FC236}">
                <a16:creationId xmlns:a16="http://schemas.microsoft.com/office/drawing/2014/main" id="{A777D452-958D-4159-A9A4-16DD29680A04}"/>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
        <p:nvSpPr>
          <p:cNvPr id="7" name="Slide Number Placeholder 6">
            <a:extLst>
              <a:ext uri="{FF2B5EF4-FFF2-40B4-BE49-F238E27FC236}">
                <a16:creationId xmlns:a16="http://schemas.microsoft.com/office/drawing/2014/main" id="{289654B6-1460-48B9-AC7E-592F68BAB276}"/>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3974041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E8C848-926A-4FD3-A311-A100A2662BE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C8ECD90-B4F0-4DFB-BB3D-F2310207896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35A6C3A-033E-474B-AB97-D8291A04E7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32B928-3A23-4FCA-AD1F-E45A467B54F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BDC8376-6FC6-4A11-B0DB-9A148E9C00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E80206F-8846-425C-A56E-16FFBA442014}"/>
              </a:ext>
            </a:extLst>
          </p:cNvPr>
          <p:cNvSpPr>
            <a:spLocks noGrp="1"/>
          </p:cNvSpPr>
          <p:nvPr>
            <p:ph type="dt" sz="half" idx="10"/>
          </p:nvPr>
        </p:nvSpPr>
        <p:spPr/>
        <p:txBody>
          <a:bodyPr/>
          <a:lstStyle/>
          <a:p>
            <a:fld id="{48420137-9E5F-400F-BC74-4FEA07DEA8E0}" type="datetime1">
              <a:rPr lang="en-US" smtClean="0"/>
              <a:t>1/18/2026</a:t>
            </a:fld>
            <a:endParaRPr lang="en-US" dirty="0"/>
          </a:p>
        </p:txBody>
      </p:sp>
      <p:sp>
        <p:nvSpPr>
          <p:cNvPr id="8" name="Footer Placeholder 7">
            <a:extLst>
              <a:ext uri="{FF2B5EF4-FFF2-40B4-BE49-F238E27FC236}">
                <a16:creationId xmlns:a16="http://schemas.microsoft.com/office/drawing/2014/main" id="{6A45E89F-12CF-4561-A5F2-1E05783A3063}"/>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
        <p:nvSpPr>
          <p:cNvPr id="9" name="Slide Number Placeholder 8">
            <a:extLst>
              <a:ext uri="{FF2B5EF4-FFF2-40B4-BE49-F238E27FC236}">
                <a16:creationId xmlns:a16="http://schemas.microsoft.com/office/drawing/2014/main" id="{9EB4DFE4-927C-43B1-A061-5CB97FFB33BE}"/>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4690582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0E367-8DA0-4655-BCBC-F4280D8642C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FEF9592-AA3C-4CF8-A5DB-4D010195A438}"/>
              </a:ext>
            </a:extLst>
          </p:cNvPr>
          <p:cNvSpPr>
            <a:spLocks noGrp="1"/>
          </p:cNvSpPr>
          <p:nvPr>
            <p:ph type="dt" sz="half" idx="10"/>
          </p:nvPr>
        </p:nvSpPr>
        <p:spPr/>
        <p:txBody>
          <a:bodyPr/>
          <a:lstStyle/>
          <a:p>
            <a:fld id="{86501AE9-E000-4DDD-BA80-C845521E1D6A}" type="datetime1">
              <a:rPr lang="en-US" smtClean="0"/>
              <a:t>1/18/2026</a:t>
            </a:fld>
            <a:endParaRPr lang="en-US" dirty="0"/>
          </a:p>
        </p:txBody>
      </p:sp>
      <p:sp>
        <p:nvSpPr>
          <p:cNvPr id="4" name="Footer Placeholder 3">
            <a:extLst>
              <a:ext uri="{FF2B5EF4-FFF2-40B4-BE49-F238E27FC236}">
                <a16:creationId xmlns:a16="http://schemas.microsoft.com/office/drawing/2014/main" id="{3C2C9377-F93E-4515-852A-264707755154}"/>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
        <p:nvSpPr>
          <p:cNvPr id="5" name="Slide Number Placeholder 4">
            <a:extLst>
              <a:ext uri="{FF2B5EF4-FFF2-40B4-BE49-F238E27FC236}">
                <a16:creationId xmlns:a16="http://schemas.microsoft.com/office/drawing/2014/main" id="{9AED076D-476B-42BA-8795-14FE6C1E6974}"/>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36255511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A599B4-6AB2-4190-82B5-7667EE1E922A}"/>
              </a:ext>
            </a:extLst>
          </p:cNvPr>
          <p:cNvSpPr>
            <a:spLocks noGrp="1"/>
          </p:cNvSpPr>
          <p:nvPr>
            <p:ph type="dt" sz="half" idx="10"/>
          </p:nvPr>
        </p:nvSpPr>
        <p:spPr/>
        <p:txBody>
          <a:bodyPr/>
          <a:lstStyle/>
          <a:p>
            <a:fld id="{31EA1EB1-B25E-4C8F-ACD1-4F16B8B1FF92}" type="datetime1">
              <a:rPr lang="en-US" smtClean="0"/>
              <a:t>1/18/2026</a:t>
            </a:fld>
            <a:endParaRPr lang="en-US" dirty="0"/>
          </a:p>
        </p:txBody>
      </p:sp>
      <p:sp>
        <p:nvSpPr>
          <p:cNvPr id="3" name="Footer Placeholder 2">
            <a:extLst>
              <a:ext uri="{FF2B5EF4-FFF2-40B4-BE49-F238E27FC236}">
                <a16:creationId xmlns:a16="http://schemas.microsoft.com/office/drawing/2014/main" id="{1B8FBFB3-AD86-4E39-B8AE-B4EC14528156}"/>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
        <p:nvSpPr>
          <p:cNvPr id="4" name="Slide Number Placeholder 3">
            <a:extLst>
              <a:ext uri="{FF2B5EF4-FFF2-40B4-BE49-F238E27FC236}">
                <a16:creationId xmlns:a16="http://schemas.microsoft.com/office/drawing/2014/main" id="{B9A4AF55-C114-4B60-9A20-56B00A11B3BF}"/>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30582002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883DA1-5CB8-405D-9613-8A9B7BC566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842BB15-A24D-42E9-9CAE-BB827226301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8F0849D-D3C3-462A-9751-4EAB0B9145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80DD20-7A20-4574-98A4-427795876739}"/>
              </a:ext>
            </a:extLst>
          </p:cNvPr>
          <p:cNvSpPr>
            <a:spLocks noGrp="1"/>
          </p:cNvSpPr>
          <p:nvPr>
            <p:ph type="dt" sz="half" idx="10"/>
          </p:nvPr>
        </p:nvSpPr>
        <p:spPr/>
        <p:txBody>
          <a:bodyPr/>
          <a:lstStyle/>
          <a:p>
            <a:fld id="{CF3109AE-DD38-4345-B67A-D0A963C4C39F}" type="datetime1">
              <a:rPr lang="en-US" smtClean="0"/>
              <a:t>1/18/2026</a:t>
            </a:fld>
            <a:endParaRPr lang="en-US" dirty="0"/>
          </a:p>
        </p:txBody>
      </p:sp>
      <p:sp>
        <p:nvSpPr>
          <p:cNvPr id="6" name="Footer Placeholder 5">
            <a:extLst>
              <a:ext uri="{FF2B5EF4-FFF2-40B4-BE49-F238E27FC236}">
                <a16:creationId xmlns:a16="http://schemas.microsoft.com/office/drawing/2014/main" id="{54D0ED2B-71C4-421A-9DB0-676E00C10BDC}"/>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
        <p:nvSpPr>
          <p:cNvPr id="7" name="Slide Number Placeholder 6">
            <a:extLst>
              <a:ext uri="{FF2B5EF4-FFF2-40B4-BE49-F238E27FC236}">
                <a16:creationId xmlns:a16="http://schemas.microsoft.com/office/drawing/2014/main" id="{78C4572A-ADFC-4C53-BCA2-42BDF693BC4D}"/>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32309509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F5C67-EEEC-4AB0-9653-0F80D6B1094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DD50D6D-5277-4324-AF23-5FAF007834E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75275657-2BF9-4761-96B6-50EE3CFCFA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3C3F7B-A4C8-4F9D-8165-BC5186EA0929}"/>
              </a:ext>
            </a:extLst>
          </p:cNvPr>
          <p:cNvSpPr>
            <a:spLocks noGrp="1"/>
          </p:cNvSpPr>
          <p:nvPr>
            <p:ph type="dt" sz="half" idx="10"/>
          </p:nvPr>
        </p:nvSpPr>
        <p:spPr/>
        <p:txBody>
          <a:bodyPr/>
          <a:lstStyle/>
          <a:p>
            <a:fld id="{3803688C-FF39-44C1-97FC-14EA6062CC59}" type="datetime1">
              <a:rPr lang="en-US" smtClean="0"/>
              <a:t>1/18/2026</a:t>
            </a:fld>
            <a:endParaRPr lang="en-US" dirty="0"/>
          </a:p>
        </p:txBody>
      </p:sp>
      <p:sp>
        <p:nvSpPr>
          <p:cNvPr id="6" name="Footer Placeholder 5">
            <a:extLst>
              <a:ext uri="{FF2B5EF4-FFF2-40B4-BE49-F238E27FC236}">
                <a16:creationId xmlns:a16="http://schemas.microsoft.com/office/drawing/2014/main" id="{DE696EA5-2FA2-464D-982F-C53E6426A843}"/>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
        <p:nvSpPr>
          <p:cNvPr id="7" name="Slide Number Placeholder 6">
            <a:extLst>
              <a:ext uri="{FF2B5EF4-FFF2-40B4-BE49-F238E27FC236}">
                <a16:creationId xmlns:a16="http://schemas.microsoft.com/office/drawing/2014/main" id="{8911B398-191B-4AB1-86ED-00D0046EACF5}"/>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1586601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7B869-BFB2-4C20-8AB1-46704BB3D1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F007DB-4F12-4428-9C48-5120DF07046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FFA8DA-0E31-4CA6-BBFC-2467AAD1D30B}"/>
              </a:ext>
            </a:extLst>
          </p:cNvPr>
          <p:cNvSpPr>
            <a:spLocks noGrp="1"/>
          </p:cNvSpPr>
          <p:nvPr>
            <p:ph type="dt" sz="half" idx="10"/>
          </p:nvPr>
        </p:nvSpPr>
        <p:spPr/>
        <p:txBody>
          <a:bodyPr/>
          <a:lstStyle/>
          <a:p>
            <a:fld id="{C99600D3-CCCC-49A7-BCA4-8E700906CA6E}" type="datetime1">
              <a:rPr lang="en-US" smtClean="0"/>
              <a:t>1/18/2026</a:t>
            </a:fld>
            <a:endParaRPr lang="en-US" dirty="0"/>
          </a:p>
        </p:txBody>
      </p:sp>
      <p:sp>
        <p:nvSpPr>
          <p:cNvPr id="5" name="Footer Placeholder 4">
            <a:extLst>
              <a:ext uri="{FF2B5EF4-FFF2-40B4-BE49-F238E27FC236}">
                <a16:creationId xmlns:a16="http://schemas.microsoft.com/office/drawing/2014/main" id="{064974BD-9845-459A-9AAA-12731E2507C4}"/>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
        <p:nvSpPr>
          <p:cNvPr id="6" name="Slide Number Placeholder 5">
            <a:extLst>
              <a:ext uri="{FF2B5EF4-FFF2-40B4-BE49-F238E27FC236}">
                <a16:creationId xmlns:a16="http://schemas.microsoft.com/office/drawing/2014/main" id="{C2A71B0A-FDFB-4B2C-A9EC-2334C590013E}"/>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3931409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0B5D73-1652-4A8E-B5A3-101523D7290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9B7FB99-7425-444D-B602-01B672BCE8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EEA9C5-552A-48A1-AB54-ED54209B3B48}"/>
              </a:ext>
            </a:extLst>
          </p:cNvPr>
          <p:cNvSpPr>
            <a:spLocks noGrp="1"/>
          </p:cNvSpPr>
          <p:nvPr>
            <p:ph type="dt" sz="half" idx="10"/>
          </p:nvPr>
        </p:nvSpPr>
        <p:spPr/>
        <p:txBody>
          <a:bodyPr/>
          <a:lstStyle/>
          <a:p>
            <a:fld id="{11357E33-58E7-4278-80D7-678792EFF57F}" type="datetime1">
              <a:rPr lang="en-US" smtClean="0"/>
              <a:t>1/18/2026</a:t>
            </a:fld>
            <a:endParaRPr lang="en-US" dirty="0"/>
          </a:p>
        </p:txBody>
      </p:sp>
      <p:sp>
        <p:nvSpPr>
          <p:cNvPr id="5" name="Footer Placeholder 4">
            <a:extLst>
              <a:ext uri="{FF2B5EF4-FFF2-40B4-BE49-F238E27FC236}">
                <a16:creationId xmlns:a16="http://schemas.microsoft.com/office/drawing/2014/main" id="{1A83AAA3-4155-48FB-8F00-16DBE0C9C256}"/>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
        <p:nvSpPr>
          <p:cNvPr id="6" name="Slide Number Placeholder 5">
            <a:extLst>
              <a:ext uri="{FF2B5EF4-FFF2-40B4-BE49-F238E27FC236}">
                <a16:creationId xmlns:a16="http://schemas.microsoft.com/office/drawing/2014/main" id="{5D694EAE-CB3C-4DEF-A66D-583C7AAC92D8}"/>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17468042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B3445CA-54C1-4DDE-A216-DD2414E3F5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306395A-6879-4E93-B24E-067F88AC1D6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50FF5B-A6A6-4F0F-AA5D-3F0F69A43A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74A9C24-F635-4439-81BA-2812060ECF4F}" type="datetime1">
              <a:rPr lang="en-US" smtClean="0"/>
              <a:t>1/18/2026</a:t>
            </a:fld>
            <a:endParaRPr lang="en-US" dirty="0"/>
          </a:p>
        </p:txBody>
      </p:sp>
      <p:sp>
        <p:nvSpPr>
          <p:cNvPr id="5" name="Footer Placeholder 4">
            <a:extLst>
              <a:ext uri="{FF2B5EF4-FFF2-40B4-BE49-F238E27FC236}">
                <a16:creationId xmlns:a16="http://schemas.microsoft.com/office/drawing/2014/main" id="{FA798FAA-76CC-42EF-8BE0-466A41BBAB0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MULTIMODAL   SOCIAL MEDIA CLASSIFICATION FOR DISASTER RESPONSE UTILIZING CLIP-BASED DEEP  FUSION    Nabila Ferdous ID:2010035</a:t>
            </a:r>
            <a:endParaRPr lang="en-US" dirty="0"/>
          </a:p>
        </p:txBody>
      </p:sp>
      <p:sp>
        <p:nvSpPr>
          <p:cNvPr id="6" name="Slide Number Placeholder 5">
            <a:extLst>
              <a:ext uri="{FF2B5EF4-FFF2-40B4-BE49-F238E27FC236}">
                <a16:creationId xmlns:a16="http://schemas.microsoft.com/office/drawing/2014/main" id="{5149FF02-6890-4E10-B958-1097AD32C6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6FEDF93-2BFD-41CA-ABC7-B039102F3792}" type="slidenum">
              <a:rPr lang="en-US" smtClean="0"/>
              <a:t>‹#›</a:t>
            </a:fld>
            <a:endParaRPr lang="en-US" dirty="0"/>
          </a:p>
        </p:txBody>
      </p:sp>
    </p:spTree>
    <p:extLst>
      <p:ext uri="{BB962C8B-B14F-4D97-AF65-F5344CB8AC3E}">
        <p14:creationId xmlns:p14="http://schemas.microsoft.com/office/powerpoint/2010/main" val="26037897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7DDACAA-A588-4D1C-5DCC-E5561B19AC7C}"/>
              </a:ext>
            </a:extLst>
          </p:cNvPr>
          <p:cNvSpPr/>
          <p:nvPr/>
        </p:nvSpPr>
        <p:spPr>
          <a:xfrm>
            <a:off x="1168030" y="621560"/>
            <a:ext cx="9444972" cy="1200329"/>
          </a:xfrm>
          <a:prstGeom prst="rect">
            <a:avLst/>
          </a:prstGeom>
        </p:spPr>
        <p:txBody>
          <a:bodyPr wrap="square">
            <a:spAutoFit/>
          </a:bodyPr>
          <a:lstStyle/>
          <a:p>
            <a:pPr marL="114300" algn="ctr"/>
            <a:r>
              <a:rPr lang="en-US" sz="2400" b="1" dirty="0">
                <a:effectLst/>
                <a:latin typeface="Times New Roman" panose="02020603050405020304" pitchFamily="18" charset="0"/>
                <a:ea typeface="Tahoma" panose="020B0604030504040204" pitchFamily="34" charset="0"/>
                <a:cs typeface="Times New Roman" panose="02020603050405020304" pitchFamily="18" charset="0"/>
              </a:rPr>
              <a:t>MULTIMODAL   SOCIAL MEDIA CLASSIFICATION FOR DISASTER RESPONSE UTILIZING CLIP-BASED DEEP  FUSION</a:t>
            </a:r>
            <a:endParaRPr lang="en-US" sz="2400" dirty="0">
              <a:effectLst/>
              <a:latin typeface="Times New Roman" panose="02020603050405020304" pitchFamily="18" charset="0"/>
              <a:ea typeface="Tahoma" panose="020B0604030504040204" pitchFamily="34" charset="0"/>
              <a:cs typeface="Times New Roman" panose="02020603050405020304" pitchFamily="18" charset="0"/>
            </a:endParaRPr>
          </a:p>
          <a:p>
            <a:pPr marL="114300" indent="0" algn="ctr">
              <a:buNone/>
            </a:pPr>
            <a:endParaRPr lang="en-US" sz="2400" dirty="0"/>
          </a:p>
        </p:txBody>
      </p:sp>
      <p:sp>
        <p:nvSpPr>
          <p:cNvPr id="6" name="Google Shape;93;p1">
            <a:extLst>
              <a:ext uri="{FF2B5EF4-FFF2-40B4-BE49-F238E27FC236}">
                <a16:creationId xmlns:a16="http://schemas.microsoft.com/office/drawing/2014/main" id="{9885751C-8CD1-A7BB-1683-464F3EF4B4A9}"/>
              </a:ext>
            </a:extLst>
          </p:cNvPr>
          <p:cNvSpPr txBox="1"/>
          <p:nvPr/>
        </p:nvSpPr>
        <p:spPr>
          <a:xfrm>
            <a:off x="1086081" y="2505167"/>
            <a:ext cx="5742324" cy="13849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latin typeface="Times New Roman" panose="02020603050405020304"/>
                <a:ea typeface="Times New Roman" panose="02020603050405020304"/>
                <a:cs typeface="Times New Roman" panose="02020603050405020304"/>
                <a:sym typeface="Times New Roman" panose="02020603050405020304"/>
              </a:rPr>
              <a:t>Presented by:</a:t>
            </a:r>
          </a:p>
          <a:p>
            <a:pPr marL="0" marR="0" lvl="0" indent="0" algn="l" rtl="0">
              <a:spcBef>
                <a:spcPts val="0"/>
              </a:spcBef>
              <a:spcAft>
                <a:spcPts val="0"/>
              </a:spcAft>
              <a:buNone/>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Nabila Ferdous </a:t>
            </a:r>
            <a:endParaRPr lang="en-US" sz="2000" dirty="0">
              <a:latin typeface="Times New Roman" panose="02020603050405020304" pitchFamily="18" charset="0"/>
              <a:ea typeface="Times New Roman" panose="02020603050405020304"/>
              <a:cs typeface="Times New Roman" panose="02020603050405020304" pitchFamily="18" charset="0"/>
            </a:endParaRPr>
          </a:p>
          <a:p>
            <a:pPr marL="0" marR="0" lvl="1" indent="0" algn="l" rtl="0">
              <a:spcBef>
                <a:spcPts val="0"/>
              </a:spcBef>
              <a:spcAft>
                <a:spcPts val="0"/>
              </a:spcAft>
              <a:buNone/>
            </a:pPr>
            <a:r>
              <a:rPr lang="en-US" sz="2000" dirty="0">
                <a:latin typeface="Times New Roman" panose="02020603050405020304"/>
                <a:ea typeface="Times New Roman" panose="02020603050405020304"/>
                <a:cs typeface="Times New Roman" panose="02020603050405020304"/>
                <a:sym typeface="Times New Roman" panose="02020603050405020304"/>
              </a:rPr>
              <a:t>2010035</a:t>
            </a:r>
          </a:p>
          <a:p>
            <a:pPr marL="0" lvl="1"/>
            <a:r>
              <a:rPr lang="en-US" sz="2000" dirty="0">
                <a:latin typeface="Times New Roman" panose="02020603050405020304" pitchFamily="18" charset="0"/>
                <a:ea typeface="Times New Roman" panose="02020603050405020304"/>
                <a:cs typeface="Times New Roman" panose="02020603050405020304" pitchFamily="18" charset="0"/>
                <a:sym typeface="Times New Roman" panose="02020603050405020304"/>
              </a:rPr>
              <a:t>Dept. Of ECE, RUET</a:t>
            </a:r>
            <a:endParaRPr lang="en-US" sz="2000" b="0" i="0" u="none" strike="noStrike" cap="none" dirty="0">
              <a:latin typeface="Times New Roman" panose="02020603050405020304" pitchFamily="18" charset="0"/>
              <a:ea typeface="Times New Roman" panose="02020603050405020304"/>
              <a:cs typeface="Times New Roman" panose="02020603050405020304" pitchFamily="18" charset="0"/>
              <a:sym typeface="Times New Roman" panose="02020603050405020304"/>
            </a:endParaRPr>
          </a:p>
        </p:txBody>
      </p:sp>
      <p:sp>
        <p:nvSpPr>
          <p:cNvPr id="7" name="Rectangle 6">
            <a:extLst>
              <a:ext uri="{FF2B5EF4-FFF2-40B4-BE49-F238E27FC236}">
                <a16:creationId xmlns:a16="http://schemas.microsoft.com/office/drawing/2014/main" id="{B3BF95DC-90B2-171C-55BA-ADD306FF6A16}"/>
              </a:ext>
            </a:extLst>
          </p:cNvPr>
          <p:cNvSpPr/>
          <p:nvPr/>
        </p:nvSpPr>
        <p:spPr>
          <a:xfrm>
            <a:off x="3361704" y="1439877"/>
            <a:ext cx="5057623" cy="707886"/>
          </a:xfrm>
          <a:prstGeom prst="rect">
            <a:avLst/>
          </a:prstGeom>
        </p:spPr>
        <p:txBody>
          <a:bodyPr wrap="square">
            <a:spAutoFit/>
          </a:bodyPr>
          <a:lstStyle/>
          <a:p>
            <a:pPr algn="ctr"/>
            <a:r>
              <a:rPr lang="en-US" sz="2000" b="1" dirty="0">
                <a:latin typeface="Times New Roman" panose="02020603050405020304" pitchFamily="18" charset="0"/>
                <a:cs typeface="Times New Roman" panose="02020603050405020304" pitchFamily="18" charset="0"/>
              </a:rPr>
              <a:t>Course Title: Thesis/Project-I</a:t>
            </a:r>
          </a:p>
          <a:p>
            <a:pPr algn="ctr"/>
            <a:r>
              <a:rPr lang="en-US" sz="2000" b="1" dirty="0">
                <a:latin typeface="Times New Roman" panose="02020603050405020304" pitchFamily="18" charset="0"/>
                <a:cs typeface="Times New Roman" panose="02020603050405020304" pitchFamily="18" charset="0"/>
              </a:rPr>
              <a:t>Course Code: ECE 4000</a:t>
            </a:r>
            <a:endParaRPr lang="en-US" sz="2000" dirty="0">
              <a:latin typeface="Times New Roman" panose="02020603050405020304" pitchFamily="18" charset="0"/>
              <a:cs typeface="Times New Roman" panose="02020603050405020304" pitchFamily="18" charset="0"/>
            </a:endParaRPr>
          </a:p>
        </p:txBody>
      </p:sp>
      <p:sp>
        <p:nvSpPr>
          <p:cNvPr id="8" name="Google Shape;92;p1">
            <a:extLst>
              <a:ext uri="{FF2B5EF4-FFF2-40B4-BE49-F238E27FC236}">
                <a16:creationId xmlns:a16="http://schemas.microsoft.com/office/drawing/2014/main" id="{F7EE16BB-2F0D-FE3A-5840-222CD6EBEF02}"/>
              </a:ext>
            </a:extLst>
          </p:cNvPr>
          <p:cNvSpPr txBox="1"/>
          <p:nvPr/>
        </p:nvSpPr>
        <p:spPr>
          <a:xfrm>
            <a:off x="7974425" y="2489402"/>
            <a:ext cx="2638577" cy="13849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latin typeface="Times New Roman" panose="02020603050405020304" pitchFamily="18" charset="0"/>
                <a:ea typeface="Times New Roman" panose="02020603050405020304"/>
                <a:cs typeface="Times New Roman" panose="02020603050405020304" pitchFamily="18" charset="0"/>
                <a:sym typeface="Times New Roman" panose="02020603050405020304"/>
              </a:rPr>
              <a:t>Supervised by:</a:t>
            </a:r>
            <a:endParaRPr lang="en-US" sz="2400" b="1" dirty="0">
              <a:latin typeface="Times New Roman" panose="02020603050405020304" pitchFamily="18" charset="0"/>
              <a:ea typeface="Times New Roman" panose="02020603050405020304"/>
              <a:cs typeface="Times New Roman" panose="02020603050405020304" pitchFamily="18" charset="0"/>
            </a:endParaRPr>
          </a:p>
          <a:p>
            <a:pPr marL="0" marR="0" lvl="0" indent="0" algn="l" rtl="0">
              <a:spcBef>
                <a:spcPts val="0"/>
              </a:spcBef>
              <a:spcAft>
                <a:spcPts val="0"/>
              </a:spcAft>
              <a:buNone/>
            </a:pPr>
            <a:r>
              <a:rPr lang="en-US" sz="2000" dirty="0" err="1">
                <a:latin typeface="Times New Roman" panose="02020603050405020304" pitchFamily="18" charset="0"/>
                <a:ea typeface="Times New Roman" panose="02020603050405020304"/>
                <a:cs typeface="Times New Roman" panose="02020603050405020304" pitchFamily="18" charset="0"/>
                <a:sym typeface="Times New Roman" panose="02020603050405020304"/>
              </a:rPr>
              <a:t>Moloy</a:t>
            </a:r>
            <a:r>
              <a:rPr lang="en-US" sz="2000" dirty="0">
                <a:latin typeface="Times New Roman" panose="02020603050405020304" pitchFamily="18" charset="0"/>
                <a:ea typeface="Times New Roman" panose="02020603050405020304"/>
                <a:cs typeface="Times New Roman" panose="02020603050405020304" pitchFamily="18" charset="0"/>
                <a:sym typeface="Times New Roman" panose="02020603050405020304"/>
              </a:rPr>
              <a:t> Kumar Ghosh</a:t>
            </a:r>
          </a:p>
          <a:p>
            <a:pPr marL="0" marR="0" lvl="0" indent="0" algn="l" rtl="0">
              <a:spcBef>
                <a:spcPts val="0"/>
              </a:spcBef>
              <a:spcAft>
                <a:spcPts val="0"/>
              </a:spcAft>
              <a:buNone/>
            </a:pPr>
            <a:r>
              <a:rPr lang="en-US" sz="2000" dirty="0">
                <a:latin typeface="Times New Roman" panose="02020603050405020304" pitchFamily="18" charset="0"/>
                <a:ea typeface="Times New Roman" panose="02020603050405020304"/>
                <a:cs typeface="Times New Roman" panose="02020603050405020304" pitchFamily="18" charset="0"/>
                <a:sym typeface="Times New Roman" panose="02020603050405020304"/>
              </a:rPr>
              <a:t>Lecturer</a:t>
            </a:r>
            <a:r>
              <a:rPr lang="en-US" sz="2000" b="0" i="0" u="none" strike="noStrike" cap="none" dirty="0">
                <a:latin typeface="Times New Roman" panose="02020603050405020304" pitchFamily="18" charset="0"/>
                <a:ea typeface="Times New Roman" panose="02020603050405020304"/>
                <a:cs typeface="Times New Roman" panose="02020603050405020304" pitchFamily="18" charset="0"/>
                <a:sym typeface="Times New Roman" panose="02020603050405020304"/>
              </a:rPr>
              <a:t>,</a:t>
            </a:r>
          </a:p>
          <a:p>
            <a:pPr marL="0" marR="0" lvl="0" indent="0" algn="l" rtl="0">
              <a:spcBef>
                <a:spcPts val="0"/>
              </a:spcBef>
              <a:spcAft>
                <a:spcPts val="0"/>
              </a:spcAft>
              <a:buNone/>
            </a:pPr>
            <a:r>
              <a:rPr lang="en-US" sz="2000" dirty="0">
                <a:latin typeface="Times New Roman" panose="02020603050405020304" pitchFamily="18" charset="0"/>
                <a:ea typeface="Times New Roman" panose="02020603050405020304"/>
                <a:cs typeface="Times New Roman" panose="02020603050405020304" pitchFamily="18" charset="0"/>
                <a:sym typeface="Times New Roman" panose="02020603050405020304"/>
              </a:rPr>
              <a:t>Dept. Of ECE, RUET</a:t>
            </a:r>
            <a:endParaRPr lang="en-US" sz="2000" b="0" i="0" u="none" strike="noStrike" cap="none" dirty="0">
              <a:latin typeface="Times New Roman" panose="02020603050405020304" pitchFamily="18" charset="0"/>
              <a:ea typeface="Times New Roman" panose="02020603050405020304"/>
              <a:cs typeface="Times New Roman" panose="02020603050405020304" pitchFamily="18" charset="0"/>
              <a:sym typeface="Times New Roman" panose="02020603050405020304"/>
            </a:endParaRPr>
          </a:p>
        </p:txBody>
      </p:sp>
      <p:sp>
        <p:nvSpPr>
          <p:cNvPr id="2" name="Date Placeholder 1">
            <a:extLst>
              <a:ext uri="{FF2B5EF4-FFF2-40B4-BE49-F238E27FC236}">
                <a16:creationId xmlns:a16="http://schemas.microsoft.com/office/drawing/2014/main" id="{A459A7B7-4939-DB96-D69D-BE9C8DED442F}"/>
              </a:ext>
            </a:extLst>
          </p:cNvPr>
          <p:cNvSpPr>
            <a:spLocks noGrp="1"/>
          </p:cNvSpPr>
          <p:nvPr>
            <p:ph type="dt" sz="half" idx="10"/>
          </p:nvPr>
        </p:nvSpPr>
        <p:spPr/>
        <p:txBody>
          <a:bodyPr/>
          <a:lstStyle/>
          <a:p>
            <a:fld id="{B39843E2-C1CB-4EDA-8CF5-87BAB64C2FD5}" type="datetime1">
              <a:rPr lang="en-US" smtClean="0"/>
              <a:t>1/18/2026</a:t>
            </a:fld>
            <a:endParaRPr lang="en-US" dirty="0"/>
          </a:p>
        </p:txBody>
      </p:sp>
      <p:sp>
        <p:nvSpPr>
          <p:cNvPr id="3" name="Slide Number Placeholder 2">
            <a:extLst>
              <a:ext uri="{FF2B5EF4-FFF2-40B4-BE49-F238E27FC236}">
                <a16:creationId xmlns:a16="http://schemas.microsoft.com/office/drawing/2014/main" id="{43110C2E-49EC-8EE6-BEE5-BA6A62CC5787}"/>
              </a:ext>
            </a:extLst>
          </p:cNvPr>
          <p:cNvSpPr>
            <a:spLocks noGrp="1"/>
          </p:cNvSpPr>
          <p:nvPr>
            <p:ph type="sldNum" sz="quarter" idx="12"/>
          </p:nvPr>
        </p:nvSpPr>
        <p:spPr/>
        <p:txBody>
          <a:bodyPr/>
          <a:lstStyle/>
          <a:p>
            <a:fld id="{06FEDF93-2BFD-41CA-ABC7-B039102F3792}" type="slidenum">
              <a:rPr lang="en-US" smtClean="0"/>
              <a:t>1</a:t>
            </a:fld>
            <a:endParaRPr lang="en-US" dirty="0"/>
          </a:p>
        </p:txBody>
      </p:sp>
      <p:pic>
        <p:nvPicPr>
          <p:cNvPr id="4" name="Google Shape;89;p1" descr="Rajshahi University of Engineering &amp;amp; Technology - Wikipedia">
            <a:extLst>
              <a:ext uri="{FF2B5EF4-FFF2-40B4-BE49-F238E27FC236}">
                <a16:creationId xmlns:a16="http://schemas.microsoft.com/office/drawing/2014/main" id="{A615E6E3-1C15-C615-9BB9-8B7409829D98}"/>
              </a:ext>
            </a:extLst>
          </p:cNvPr>
          <p:cNvPicPr preferRelativeResize="0"/>
          <p:nvPr/>
        </p:nvPicPr>
        <p:blipFill rotWithShape="1">
          <a:blip r:embed="rId2"/>
          <a:srcRect/>
          <a:stretch>
            <a:fillRect/>
          </a:stretch>
        </p:blipFill>
        <p:spPr>
          <a:xfrm>
            <a:off x="5663983" y="4416683"/>
            <a:ext cx="864033" cy="1001440"/>
          </a:xfrm>
          <a:prstGeom prst="rect">
            <a:avLst/>
          </a:prstGeom>
          <a:noFill/>
          <a:ln>
            <a:noFill/>
          </a:ln>
        </p:spPr>
      </p:pic>
      <p:sp>
        <p:nvSpPr>
          <p:cNvPr id="10" name="TextBox 9">
            <a:extLst>
              <a:ext uri="{FF2B5EF4-FFF2-40B4-BE49-F238E27FC236}">
                <a16:creationId xmlns:a16="http://schemas.microsoft.com/office/drawing/2014/main" id="{D48D95A4-FD6F-A6C6-358A-FC592764AD48}"/>
              </a:ext>
            </a:extLst>
          </p:cNvPr>
          <p:cNvSpPr txBox="1"/>
          <p:nvPr/>
        </p:nvSpPr>
        <p:spPr>
          <a:xfrm>
            <a:off x="3957242" y="5634877"/>
            <a:ext cx="4462085" cy="461665"/>
          </a:xfrm>
          <a:prstGeom prst="rect">
            <a:avLst/>
          </a:prstGeom>
          <a:noFill/>
        </p:spPr>
        <p:txBody>
          <a:bodyPr wrap="square">
            <a:spAutoFit/>
          </a:bodyPr>
          <a:lstStyle/>
          <a:p>
            <a:pPr marL="0" marR="0" lvl="1" indent="0" algn="ctr" rtl="0">
              <a:spcBef>
                <a:spcPts val="0"/>
              </a:spcBef>
              <a:spcAft>
                <a:spcPts val="0"/>
              </a:spcAft>
              <a:buNone/>
            </a:pPr>
            <a:r>
              <a:rPr lang="en-US" sz="1200" b="1" dirty="0">
                <a:latin typeface="Palatino Linotype" panose="02040502050505030304" pitchFamily="18" charset="0"/>
                <a:ea typeface="Times New Roman" panose="02020603050405020304"/>
                <a:cs typeface="Times New Roman" panose="02020603050405020304"/>
                <a:sym typeface="Times New Roman" panose="02020603050405020304"/>
              </a:rPr>
              <a:t>Department of </a:t>
            </a:r>
            <a:r>
              <a:rPr lang="en-US" sz="1200" b="1" u="none" strike="noStrike" cap="none" dirty="0">
                <a:latin typeface="Palatino Linotype" panose="02040502050505030304" pitchFamily="18" charset="0"/>
                <a:ea typeface="Times New Roman" panose="02020603050405020304"/>
                <a:cs typeface="Times New Roman" panose="02020603050405020304"/>
                <a:sym typeface="Times New Roman" panose="02020603050405020304"/>
              </a:rPr>
              <a:t>Electrical &amp; Computer Engineering</a:t>
            </a:r>
          </a:p>
          <a:p>
            <a:pPr marL="0" marR="0" lvl="1" indent="0" algn="ctr" rtl="0">
              <a:spcBef>
                <a:spcPts val="0"/>
              </a:spcBef>
              <a:spcAft>
                <a:spcPts val="0"/>
              </a:spcAft>
              <a:buNone/>
            </a:pPr>
            <a:r>
              <a:rPr lang="en-US" sz="1200" b="1" u="none" strike="noStrike" cap="none" dirty="0" err="1">
                <a:latin typeface="Palatino Linotype" panose="02040502050505030304" pitchFamily="18" charset="0"/>
                <a:ea typeface="Times New Roman" panose="02020603050405020304"/>
                <a:cs typeface="Times New Roman" panose="02020603050405020304"/>
                <a:sym typeface="Times New Roman" panose="02020603050405020304"/>
              </a:rPr>
              <a:t>Rajshahi</a:t>
            </a:r>
            <a:r>
              <a:rPr lang="en-US" sz="1200" b="1" u="none" strike="noStrike" cap="none" dirty="0">
                <a:latin typeface="Palatino Linotype" panose="02040502050505030304" pitchFamily="18" charset="0"/>
                <a:ea typeface="Times New Roman" panose="02020603050405020304"/>
                <a:cs typeface="Times New Roman" panose="02020603050405020304"/>
                <a:sym typeface="Times New Roman" panose="02020603050405020304"/>
              </a:rPr>
              <a:t> University of Engineering &amp; Technology</a:t>
            </a:r>
          </a:p>
        </p:txBody>
      </p:sp>
      <p:sp>
        <p:nvSpPr>
          <p:cNvPr id="13" name="TextBox 12">
            <a:extLst>
              <a:ext uri="{FF2B5EF4-FFF2-40B4-BE49-F238E27FC236}">
                <a16:creationId xmlns:a16="http://schemas.microsoft.com/office/drawing/2014/main" id="{1576B431-A8E5-883B-1A06-780A4B250DE4}"/>
              </a:ext>
            </a:extLst>
          </p:cNvPr>
          <p:cNvSpPr txBox="1"/>
          <p:nvPr/>
        </p:nvSpPr>
        <p:spPr>
          <a:xfrm>
            <a:off x="5365066" y="4001304"/>
            <a:ext cx="1646435" cy="246221"/>
          </a:xfrm>
          <a:prstGeom prst="rect">
            <a:avLst/>
          </a:prstGeom>
          <a:noFill/>
        </p:spPr>
        <p:txBody>
          <a:bodyPr wrap="square">
            <a:spAutoFit/>
          </a:bodyPr>
          <a:lstStyle/>
          <a:p>
            <a:pPr marL="0" marR="0" lvl="1" indent="0" rtl="0">
              <a:spcBef>
                <a:spcPts val="0"/>
              </a:spcBef>
              <a:spcAft>
                <a:spcPts val="0"/>
              </a:spcAft>
              <a:buNone/>
            </a:pPr>
            <a:r>
              <a:rPr lang="en-US" sz="1000" i="1" dirty="0">
                <a:latin typeface="Palatino Linotype" panose="02040502050505030304" pitchFamily="18" charset="0"/>
                <a:ea typeface="Times New Roman" panose="02020603050405020304"/>
                <a:cs typeface="Times New Roman" panose="02020603050405020304"/>
                <a:sym typeface="Times New Roman" panose="02020603050405020304"/>
              </a:rPr>
              <a:t>Heavens Light is our Guide</a:t>
            </a:r>
          </a:p>
        </p:txBody>
      </p:sp>
    </p:spTree>
    <p:extLst>
      <p:ext uri="{BB962C8B-B14F-4D97-AF65-F5344CB8AC3E}">
        <p14:creationId xmlns:p14="http://schemas.microsoft.com/office/powerpoint/2010/main" val="2019884987"/>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1EB33B9-BBD0-C835-00B1-7D1AF7075852}"/>
              </a:ext>
            </a:extLst>
          </p:cNvPr>
          <p:cNvSpPr txBox="1">
            <a:spLocks/>
          </p:cNvSpPr>
          <p:nvPr/>
        </p:nvSpPr>
        <p:spPr>
          <a:xfrm>
            <a:off x="228600" y="190500"/>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chemeClr val="tx1">
                    <a:lumMod val="75000"/>
                    <a:lumOff val="25000"/>
                  </a:schemeClr>
                </a:solidFill>
              </a:rPr>
              <a:t> </a:t>
            </a: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OUTLINES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4" name="Straight Connector 3">
            <a:extLst>
              <a:ext uri="{FF2B5EF4-FFF2-40B4-BE49-F238E27FC236}">
                <a16:creationId xmlns:a16="http://schemas.microsoft.com/office/drawing/2014/main" id="{6D7EC21D-0D53-8BBF-9665-B4B1E3C0C4A8}"/>
              </a:ext>
              <a:ext uri="{C183D7F6-B498-43B3-948B-1728B52AA6E4}">
                <adec:decorative xmlns:adec="http://schemas.microsoft.com/office/drawing/2017/decorative" val="1"/>
              </a:ext>
            </a:extLst>
          </p:cNvPr>
          <p:cNvCxnSpPr>
            <a:cxnSpLocks/>
          </p:cNvCxnSpPr>
          <p:nvPr/>
        </p:nvCxnSpPr>
        <p:spPr>
          <a:xfrm>
            <a:off x="228600" y="396289"/>
            <a:ext cx="4174588"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EE7EB276-E0F3-485A-8AEA-3E5E57486082}"/>
              </a:ext>
              <a:ext uri="{C183D7F6-B498-43B3-948B-1728B52AA6E4}">
                <adec:decorative xmlns:adec="http://schemas.microsoft.com/office/drawing/2017/decorative" val="1"/>
              </a:ext>
            </a:extLst>
          </p:cNvPr>
          <p:cNvCxnSpPr>
            <a:cxnSpLocks/>
          </p:cNvCxnSpPr>
          <p:nvPr/>
        </p:nvCxnSpPr>
        <p:spPr>
          <a:xfrm>
            <a:off x="7877175" y="396289"/>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4E491771-0A60-4000-EC9B-A15A952B4951}"/>
              </a:ext>
              <a:ext uri="{C183D7F6-B498-43B3-948B-1728B52AA6E4}">
                <adec:decorative xmlns:adec="http://schemas.microsoft.com/office/drawing/2017/decorative" val="1"/>
              </a:ext>
            </a:extLst>
          </p:cNvPr>
          <p:cNvSpPr/>
          <p:nvPr/>
        </p:nvSpPr>
        <p:spPr>
          <a:xfrm>
            <a:off x="1103409" y="1368961"/>
            <a:ext cx="605815" cy="55128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01</a:t>
            </a:r>
          </a:p>
        </p:txBody>
      </p:sp>
      <p:sp>
        <p:nvSpPr>
          <p:cNvPr id="9" name="Oval 8">
            <a:extLst>
              <a:ext uri="{FF2B5EF4-FFF2-40B4-BE49-F238E27FC236}">
                <a16:creationId xmlns:a16="http://schemas.microsoft.com/office/drawing/2014/main" id="{F2D6CA85-35E7-4945-CAED-40727C5C6B04}"/>
              </a:ext>
              <a:ext uri="{C183D7F6-B498-43B3-948B-1728B52AA6E4}">
                <adec:decorative xmlns:adec="http://schemas.microsoft.com/office/drawing/2017/decorative" val="1"/>
              </a:ext>
            </a:extLst>
          </p:cNvPr>
          <p:cNvSpPr/>
          <p:nvPr/>
        </p:nvSpPr>
        <p:spPr>
          <a:xfrm>
            <a:off x="1098356" y="2295764"/>
            <a:ext cx="605814" cy="55128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02</a:t>
            </a:r>
          </a:p>
        </p:txBody>
      </p:sp>
      <p:sp>
        <p:nvSpPr>
          <p:cNvPr id="10" name="Oval 9">
            <a:extLst>
              <a:ext uri="{FF2B5EF4-FFF2-40B4-BE49-F238E27FC236}">
                <a16:creationId xmlns:a16="http://schemas.microsoft.com/office/drawing/2014/main" id="{52BF8CA6-3FA0-8E5C-691A-B9D3BBA4B34B}"/>
              </a:ext>
              <a:ext uri="{C183D7F6-B498-43B3-948B-1728B52AA6E4}">
                <adec:decorative xmlns:adec="http://schemas.microsoft.com/office/drawing/2017/decorative" val="1"/>
              </a:ext>
            </a:extLst>
          </p:cNvPr>
          <p:cNvSpPr/>
          <p:nvPr/>
        </p:nvSpPr>
        <p:spPr>
          <a:xfrm>
            <a:off x="1098357" y="4942233"/>
            <a:ext cx="605815" cy="55128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05</a:t>
            </a:r>
          </a:p>
        </p:txBody>
      </p:sp>
      <p:sp>
        <p:nvSpPr>
          <p:cNvPr id="11" name="Oval 10">
            <a:extLst>
              <a:ext uri="{FF2B5EF4-FFF2-40B4-BE49-F238E27FC236}">
                <a16:creationId xmlns:a16="http://schemas.microsoft.com/office/drawing/2014/main" id="{6574416D-987D-02A2-0381-3CE2001C9B16}"/>
              </a:ext>
              <a:ext uri="{C183D7F6-B498-43B3-948B-1728B52AA6E4}">
                <adec:decorative xmlns:adec="http://schemas.microsoft.com/office/drawing/2017/decorative" val="1"/>
              </a:ext>
            </a:extLst>
          </p:cNvPr>
          <p:cNvSpPr/>
          <p:nvPr/>
        </p:nvSpPr>
        <p:spPr>
          <a:xfrm>
            <a:off x="1098356" y="4042779"/>
            <a:ext cx="605815" cy="55128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04</a:t>
            </a:r>
          </a:p>
        </p:txBody>
      </p:sp>
      <p:sp>
        <p:nvSpPr>
          <p:cNvPr id="12" name="Rectangle 11">
            <a:extLst>
              <a:ext uri="{FF2B5EF4-FFF2-40B4-BE49-F238E27FC236}">
                <a16:creationId xmlns:a16="http://schemas.microsoft.com/office/drawing/2014/main" id="{A3079A31-0F44-8561-CC96-13D44ABF6E4F}"/>
              </a:ext>
            </a:extLst>
          </p:cNvPr>
          <p:cNvSpPr/>
          <p:nvPr/>
        </p:nvSpPr>
        <p:spPr>
          <a:xfrm>
            <a:off x="1941342" y="1347283"/>
            <a:ext cx="2039816" cy="6238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chemeClr val="accent4"/>
                </a:solidFill>
                <a:latin typeface="Times New Roman" panose="02020603050405020304" pitchFamily="18" charset="0"/>
                <a:cs typeface="Times New Roman" panose="02020603050405020304" pitchFamily="18" charset="0"/>
              </a:rPr>
              <a:t>Introduction</a:t>
            </a:r>
          </a:p>
        </p:txBody>
      </p:sp>
      <p:sp>
        <p:nvSpPr>
          <p:cNvPr id="13" name="Rectangle 12">
            <a:extLst>
              <a:ext uri="{FF2B5EF4-FFF2-40B4-BE49-F238E27FC236}">
                <a16:creationId xmlns:a16="http://schemas.microsoft.com/office/drawing/2014/main" id="{93CFC5CA-F4F7-DD84-76B9-C36BB6AD818C}"/>
              </a:ext>
            </a:extLst>
          </p:cNvPr>
          <p:cNvSpPr/>
          <p:nvPr/>
        </p:nvSpPr>
        <p:spPr>
          <a:xfrm>
            <a:off x="1914379" y="3105679"/>
            <a:ext cx="2658793" cy="78506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accent4">
                    <a:lumMod val="75000"/>
                  </a:schemeClr>
                </a:solidFill>
                <a:latin typeface="Times New Roman" panose="02020603050405020304" pitchFamily="18" charset="0"/>
                <a:cs typeface="Times New Roman" panose="02020603050405020304" pitchFamily="18" charset="0"/>
              </a:rPr>
              <a:t>Literature Review</a:t>
            </a:r>
          </a:p>
        </p:txBody>
      </p:sp>
      <p:sp>
        <p:nvSpPr>
          <p:cNvPr id="14" name="Rectangle 13">
            <a:extLst>
              <a:ext uri="{FF2B5EF4-FFF2-40B4-BE49-F238E27FC236}">
                <a16:creationId xmlns:a16="http://schemas.microsoft.com/office/drawing/2014/main" id="{B4AA688F-D2E0-93CA-B607-A7DB8E6DBF94}"/>
              </a:ext>
            </a:extLst>
          </p:cNvPr>
          <p:cNvSpPr/>
          <p:nvPr/>
        </p:nvSpPr>
        <p:spPr>
          <a:xfrm>
            <a:off x="1704171" y="4886928"/>
            <a:ext cx="1561514" cy="66189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accent4">
                    <a:lumMod val="75000"/>
                  </a:schemeClr>
                </a:solidFill>
                <a:latin typeface="Times New Roman" panose="02020603050405020304" pitchFamily="18" charset="0"/>
                <a:cs typeface="Times New Roman" panose="02020603050405020304" pitchFamily="18" charset="0"/>
              </a:rPr>
              <a:t>Objectives</a:t>
            </a:r>
          </a:p>
        </p:txBody>
      </p:sp>
      <p:sp>
        <p:nvSpPr>
          <p:cNvPr id="15" name="Rectangle 14">
            <a:extLst>
              <a:ext uri="{FF2B5EF4-FFF2-40B4-BE49-F238E27FC236}">
                <a16:creationId xmlns:a16="http://schemas.microsoft.com/office/drawing/2014/main" id="{3DA1918C-C797-B9D6-C7F3-D574568B0DE8}"/>
              </a:ext>
            </a:extLst>
          </p:cNvPr>
          <p:cNvSpPr/>
          <p:nvPr/>
        </p:nvSpPr>
        <p:spPr>
          <a:xfrm>
            <a:off x="6475106" y="2231814"/>
            <a:ext cx="2954216" cy="8010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accent5">
                    <a:lumMod val="50000"/>
                  </a:schemeClr>
                </a:solidFill>
                <a:latin typeface="Times New Roman" panose="02020603050405020304" pitchFamily="18" charset="0"/>
                <a:cs typeface="Times New Roman" panose="02020603050405020304" pitchFamily="18" charset="0"/>
              </a:rPr>
              <a:t>Proposed Methodology</a:t>
            </a:r>
          </a:p>
        </p:txBody>
      </p:sp>
      <p:sp>
        <p:nvSpPr>
          <p:cNvPr id="6" name="Oval 5">
            <a:extLst>
              <a:ext uri="{FF2B5EF4-FFF2-40B4-BE49-F238E27FC236}">
                <a16:creationId xmlns:a16="http://schemas.microsoft.com/office/drawing/2014/main" id="{692C9689-9108-3B5E-BA6D-3C303E556CD8}"/>
              </a:ext>
              <a:ext uri="{C183D7F6-B498-43B3-948B-1728B52AA6E4}">
                <adec:decorative xmlns:adec="http://schemas.microsoft.com/office/drawing/2017/decorative" val="1"/>
              </a:ext>
            </a:extLst>
          </p:cNvPr>
          <p:cNvSpPr/>
          <p:nvPr/>
        </p:nvSpPr>
        <p:spPr>
          <a:xfrm>
            <a:off x="5878479" y="2333182"/>
            <a:ext cx="589593" cy="532386"/>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07</a:t>
            </a:r>
          </a:p>
        </p:txBody>
      </p:sp>
      <p:sp>
        <p:nvSpPr>
          <p:cNvPr id="7" name="Oval 6">
            <a:extLst>
              <a:ext uri="{FF2B5EF4-FFF2-40B4-BE49-F238E27FC236}">
                <a16:creationId xmlns:a16="http://schemas.microsoft.com/office/drawing/2014/main" id="{A0073999-E186-0541-2F2C-D309B2C3187B}"/>
              </a:ext>
              <a:ext uri="{C183D7F6-B498-43B3-948B-1728B52AA6E4}">
                <adec:decorative xmlns:adec="http://schemas.microsoft.com/office/drawing/2017/decorative" val="1"/>
              </a:ext>
            </a:extLst>
          </p:cNvPr>
          <p:cNvSpPr/>
          <p:nvPr/>
        </p:nvSpPr>
        <p:spPr>
          <a:xfrm>
            <a:off x="5854042" y="3222568"/>
            <a:ext cx="597618" cy="551288"/>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08</a:t>
            </a:r>
          </a:p>
        </p:txBody>
      </p:sp>
      <p:sp>
        <p:nvSpPr>
          <p:cNvPr id="16" name="Oval 15">
            <a:extLst>
              <a:ext uri="{FF2B5EF4-FFF2-40B4-BE49-F238E27FC236}">
                <a16:creationId xmlns:a16="http://schemas.microsoft.com/office/drawing/2014/main" id="{7565B0CF-53D5-9C27-3B48-87F9712A0147}"/>
              </a:ext>
              <a:ext uri="{C183D7F6-B498-43B3-948B-1728B52AA6E4}">
                <adec:decorative xmlns:adec="http://schemas.microsoft.com/office/drawing/2017/decorative" val="1"/>
              </a:ext>
            </a:extLst>
          </p:cNvPr>
          <p:cNvSpPr/>
          <p:nvPr/>
        </p:nvSpPr>
        <p:spPr>
          <a:xfrm>
            <a:off x="5852689" y="4042778"/>
            <a:ext cx="641174" cy="55128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09</a:t>
            </a:r>
          </a:p>
        </p:txBody>
      </p:sp>
      <p:sp>
        <p:nvSpPr>
          <p:cNvPr id="17" name="Oval 16">
            <a:extLst>
              <a:ext uri="{FF2B5EF4-FFF2-40B4-BE49-F238E27FC236}">
                <a16:creationId xmlns:a16="http://schemas.microsoft.com/office/drawing/2014/main" id="{22480CCB-4A1D-BD62-0B5B-F1E1CB37DA90}"/>
              </a:ext>
              <a:ext uri="{C183D7F6-B498-43B3-948B-1728B52AA6E4}">
                <adec:decorative xmlns:adec="http://schemas.microsoft.com/office/drawing/2017/decorative" val="1"/>
              </a:ext>
            </a:extLst>
          </p:cNvPr>
          <p:cNvSpPr/>
          <p:nvPr/>
        </p:nvSpPr>
        <p:spPr>
          <a:xfrm>
            <a:off x="5833932" y="1409815"/>
            <a:ext cx="641174" cy="55128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06</a:t>
            </a:r>
          </a:p>
        </p:txBody>
      </p:sp>
      <p:sp>
        <p:nvSpPr>
          <p:cNvPr id="18" name="Rectangle 17">
            <a:extLst>
              <a:ext uri="{FF2B5EF4-FFF2-40B4-BE49-F238E27FC236}">
                <a16:creationId xmlns:a16="http://schemas.microsoft.com/office/drawing/2014/main" id="{2E7BC987-AA26-29C2-875B-2E1C7414F564}"/>
              </a:ext>
            </a:extLst>
          </p:cNvPr>
          <p:cNvSpPr/>
          <p:nvPr/>
        </p:nvSpPr>
        <p:spPr>
          <a:xfrm>
            <a:off x="6539854" y="1505741"/>
            <a:ext cx="1105937" cy="3594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accent4"/>
                </a:solidFill>
                <a:latin typeface="Times New Roman" panose="02020603050405020304" pitchFamily="18" charset="0"/>
                <a:cs typeface="Times New Roman" panose="02020603050405020304" pitchFamily="18" charset="0"/>
              </a:rPr>
              <a:t>Dataset</a:t>
            </a:r>
          </a:p>
        </p:txBody>
      </p:sp>
      <p:sp>
        <p:nvSpPr>
          <p:cNvPr id="19" name="Rectangle 18">
            <a:extLst>
              <a:ext uri="{FF2B5EF4-FFF2-40B4-BE49-F238E27FC236}">
                <a16:creationId xmlns:a16="http://schemas.microsoft.com/office/drawing/2014/main" id="{2C5823AE-018D-AF20-2182-4BB3E25BF285}"/>
              </a:ext>
            </a:extLst>
          </p:cNvPr>
          <p:cNvSpPr/>
          <p:nvPr/>
        </p:nvSpPr>
        <p:spPr>
          <a:xfrm>
            <a:off x="6598689" y="3910792"/>
            <a:ext cx="1730326" cy="7755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rgbClr val="002060"/>
                </a:solidFill>
                <a:latin typeface="Times New Roman" panose="02020603050405020304" pitchFamily="18" charset="0"/>
                <a:cs typeface="Times New Roman" panose="02020603050405020304" pitchFamily="18" charset="0"/>
              </a:rPr>
              <a:t>Future Work</a:t>
            </a:r>
          </a:p>
        </p:txBody>
      </p:sp>
      <p:sp>
        <p:nvSpPr>
          <p:cNvPr id="21" name="Rectangle 20">
            <a:extLst>
              <a:ext uri="{FF2B5EF4-FFF2-40B4-BE49-F238E27FC236}">
                <a16:creationId xmlns:a16="http://schemas.microsoft.com/office/drawing/2014/main" id="{60681C66-A656-5796-C14E-CF6470A6141A}"/>
              </a:ext>
            </a:extLst>
          </p:cNvPr>
          <p:cNvSpPr/>
          <p:nvPr/>
        </p:nvSpPr>
        <p:spPr>
          <a:xfrm>
            <a:off x="6718265" y="4897472"/>
            <a:ext cx="1491174" cy="6691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accent4">
                    <a:lumMod val="75000"/>
                  </a:schemeClr>
                </a:solidFill>
                <a:latin typeface="Times New Roman" panose="02020603050405020304" pitchFamily="18" charset="0"/>
                <a:cs typeface="Times New Roman" panose="02020603050405020304" pitchFamily="18" charset="0"/>
              </a:rPr>
              <a:t>References</a:t>
            </a:r>
          </a:p>
        </p:txBody>
      </p:sp>
      <p:sp>
        <p:nvSpPr>
          <p:cNvPr id="2" name="Oval 1">
            <a:extLst>
              <a:ext uri="{FF2B5EF4-FFF2-40B4-BE49-F238E27FC236}">
                <a16:creationId xmlns:a16="http://schemas.microsoft.com/office/drawing/2014/main" id="{48774A9A-22D9-6705-FCA2-BFBDB6CCA8FB}"/>
              </a:ext>
              <a:ext uri="{C183D7F6-B498-43B3-948B-1728B52AA6E4}">
                <adec:decorative xmlns:adec="http://schemas.microsoft.com/office/drawing/2017/decorative" val="1"/>
              </a:ext>
            </a:extLst>
          </p:cNvPr>
          <p:cNvSpPr/>
          <p:nvPr/>
        </p:nvSpPr>
        <p:spPr>
          <a:xfrm>
            <a:off x="1098356" y="3222568"/>
            <a:ext cx="605815" cy="55128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03</a:t>
            </a:r>
          </a:p>
        </p:txBody>
      </p:sp>
      <p:sp>
        <p:nvSpPr>
          <p:cNvPr id="22" name="TextBox 21">
            <a:extLst>
              <a:ext uri="{FF2B5EF4-FFF2-40B4-BE49-F238E27FC236}">
                <a16:creationId xmlns:a16="http://schemas.microsoft.com/office/drawing/2014/main" id="{51D716F5-E320-B5A2-4B78-6F9030E5BF99}"/>
              </a:ext>
            </a:extLst>
          </p:cNvPr>
          <p:cNvSpPr txBox="1"/>
          <p:nvPr/>
        </p:nvSpPr>
        <p:spPr>
          <a:xfrm>
            <a:off x="1914379" y="4151604"/>
            <a:ext cx="2349305" cy="400110"/>
          </a:xfrm>
          <a:prstGeom prst="rect">
            <a:avLst/>
          </a:prstGeom>
          <a:noFill/>
        </p:spPr>
        <p:txBody>
          <a:bodyPr wrap="square" rtlCol="0">
            <a:spAutoFit/>
          </a:bodyPr>
          <a:lstStyle/>
          <a:p>
            <a:r>
              <a:rPr lang="en-US" sz="2000" dirty="0">
                <a:solidFill>
                  <a:srgbClr val="002060"/>
                </a:solidFill>
                <a:latin typeface="Times New Roman" panose="02020603050405020304" pitchFamily="18" charset="0"/>
                <a:cs typeface="Times New Roman" panose="02020603050405020304" pitchFamily="18" charset="0"/>
              </a:rPr>
              <a:t>Research Gap</a:t>
            </a:r>
          </a:p>
        </p:txBody>
      </p:sp>
      <p:sp>
        <p:nvSpPr>
          <p:cNvPr id="25" name="Date Placeholder 24">
            <a:extLst>
              <a:ext uri="{FF2B5EF4-FFF2-40B4-BE49-F238E27FC236}">
                <a16:creationId xmlns:a16="http://schemas.microsoft.com/office/drawing/2014/main" id="{8B070D03-282A-4A0F-6EE8-1A62DC05ED3F}"/>
              </a:ext>
            </a:extLst>
          </p:cNvPr>
          <p:cNvSpPr>
            <a:spLocks noGrp="1"/>
          </p:cNvSpPr>
          <p:nvPr>
            <p:ph type="dt" sz="half" idx="10"/>
          </p:nvPr>
        </p:nvSpPr>
        <p:spPr/>
        <p:txBody>
          <a:bodyPr/>
          <a:lstStyle/>
          <a:p>
            <a:fld id="{F5F83A2E-49E0-444F-9694-C4D8D2A9DF53}"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26" name="Slide Number Placeholder 25">
            <a:extLst>
              <a:ext uri="{FF2B5EF4-FFF2-40B4-BE49-F238E27FC236}">
                <a16:creationId xmlns:a16="http://schemas.microsoft.com/office/drawing/2014/main" id="{30F32316-7903-EDBA-2AAB-8A4DE4E53B02}"/>
              </a:ext>
            </a:extLst>
          </p:cNvPr>
          <p:cNvSpPr>
            <a:spLocks noGrp="1"/>
          </p:cNvSpPr>
          <p:nvPr>
            <p:ph type="sldNum" sz="quarter" idx="12"/>
          </p:nvPr>
        </p:nvSpPr>
        <p:spPr/>
        <p:txBody>
          <a:bodyPr/>
          <a:lstStyle/>
          <a:p>
            <a:fld id="{06FEDF93-2BFD-41CA-ABC7-B039102F3792}" type="slidenum">
              <a:rPr lang="en-US" smtClean="0">
                <a:latin typeface="Times New Roman" panose="02020603050405020304" pitchFamily="18" charset="0"/>
                <a:cs typeface="Times New Roman" panose="02020603050405020304" pitchFamily="18" charset="0"/>
              </a:rPr>
              <a:t>2</a:t>
            </a:fld>
            <a:endParaRPr lang="en-US" dirty="0">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8ABEBDD6-B02D-3D93-52B4-B01F131780E0}"/>
              </a:ext>
              <a:ext uri="{C183D7F6-B498-43B3-948B-1728B52AA6E4}">
                <adec:decorative xmlns:adec="http://schemas.microsoft.com/office/drawing/2017/decorative" val="1"/>
              </a:ext>
            </a:extLst>
          </p:cNvPr>
          <p:cNvSpPr/>
          <p:nvPr/>
        </p:nvSpPr>
        <p:spPr>
          <a:xfrm>
            <a:off x="5852689" y="4966145"/>
            <a:ext cx="605815" cy="531850"/>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10</a:t>
            </a:r>
          </a:p>
        </p:txBody>
      </p:sp>
      <p:sp>
        <p:nvSpPr>
          <p:cNvPr id="27" name="Rectangle 26">
            <a:extLst>
              <a:ext uri="{FF2B5EF4-FFF2-40B4-BE49-F238E27FC236}">
                <a16:creationId xmlns:a16="http://schemas.microsoft.com/office/drawing/2014/main" id="{1441A9D8-6FD3-92FF-E971-63377EB3226D}"/>
              </a:ext>
            </a:extLst>
          </p:cNvPr>
          <p:cNvSpPr/>
          <p:nvPr/>
        </p:nvSpPr>
        <p:spPr>
          <a:xfrm>
            <a:off x="6613341" y="3137117"/>
            <a:ext cx="2375913" cy="80106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accent4">
                    <a:lumMod val="75000"/>
                  </a:schemeClr>
                </a:solidFill>
                <a:latin typeface="Times New Roman" panose="02020603050405020304" pitchFamily="18" charset="0"/>
                <a:cs typeface="Times New Roman" panose="02020603050405020304" pitchFamily="18" charset="0"/>
              </a:rPr>
              <a:t>Results &amp; Analysis</a:t>
            </a:r>
          </a:p>
        </p:txBody>
      </p:sp>
      <p:sp>
        <p:nvSpPr>
          <p:cNvPr id="28" name="TextBox 27">
            <a:extLst>
              <a:ext uri="{FF2B5EF4-FFF2-40B4-BE49-F238E27FC236}">
                <a16:creationId xmlns:a16="http://schemas.microsoft.com/office/drawing/2014/main" id="{88F602D7-10A4-B898-984E-BA5C63FB6BA8}"/>
              </a:ext>
            </a:extLst>
          </p:cNvPr>
          <p:cNvSpPr txBox="1"/>
          <p:nvPr/>
        </p:nvSpPr>
        <p:spPr>
          <a:xfrm>
            <a:off x="1962606" y="2337907"/>
            <a:ext cx="1758462" cy="400110"/>
          </a:xfrm>
          <a:prstGeom prst="rect">
            <a:avLst/>
          </a:prstGeom>
          <a:noFill/>
        </p:spPr>
        <p:txBody>
          <a:bodyPr wrap="square" rtlCol="0">
            <a:spAutoFit/>
          </a:bodyPr>
          <a:lstStyle/>
          <a:p>
            <a:r>
              <a:rPr lang="en-US" sz="2000" dirty="0">
                <a:solidFill>
                  <a:srgbClr val="002060"/>
                </a:solidFill>
                <a:latin typeface="Times New Roman" panose="02020603050405020304" pitchFamily="18" charset="0"/>
                <a:cs typeface="Times New Roman" panose="02020603050405020304" pitchFamily="18" charset="0"/>
              </a:rPr>
              <a:t>Motivation</a:t>
            </a:r>
          </a:p>
        </p:txBody>
      </p:sp>
      <p:sp>
        <p:nvSpPr>
          <p:cNvPr id="20" name="Footer Placeholder 19">
            <a:extLst>
              <a:ext uri="{FF2B5EF4-FFF2-40B4-BE49-F238E27FC236}">
                <a16:creationId xmlns:a16="http://schemas.microsoft.com/office/drawing/2014/main" id="{2B761D6F-B03E-D023-8614-EF5B3CB7DDAA}"/>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1896990947"/>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down)">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down)">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wipe(down)">
                                      <p:cBhvr>
                                        <p:cTn id="22" dur="5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wipe(down)">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wipe(down)">
                                      <p:cBhvr>
                                        <p:cTn id="32" dur="500"/>
                                        <p:tgtEl>
                                          <p:spTgt spid="13"/>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4"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down)">
                                      <p:cBhvr>
                                        <p:cTn id="37" dur="500"/>
                                        <p:tgtEl>
                                          <p:spTgt spid="11"/>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4" fill="hold" grpId="0"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wipe(down)">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4" fill="hold" grpId="0" nodeType="clickEffect">
                                  <p:stCondLst>
                                    <p:cond delay="0"/>
                                  </p:stCondLst>
                                  <p:childTnLst>
                                    <p:set>
                                      <p:cBhvr>
                                        <p:cTn id="46" dur="1" fill="hold">
                                          <p:stCondLst>
                                            <p:cond delay="0"/>
                                          </p:stCondLst>
                                        </p:cTn>
                                        <p:tgtEl>
                                          <p:spTgt spid="10"/>
                                        </p:tgtEl>
                                        <p:attrNameLst>
                                          <p:attrName>style.visibility</p:attrName>
                                        </p:attrNameLst>
                                      </p:cBhvr>
                                      <p:to>
                                        <p:strVal val="visible"/>
                                      </p:to>
                                    </p:set>
                                    <p:animEffect transition="in" filter="wipe(down)">
                                      <p:cBhvr>
                                        <p:cTn id="47" dur="500"/>
                                        <p:tgtEl>
                                          <p:spTgt spid="10"/>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4" fill="hold" grpId="0" nodeType="clickEffect">
                                  <p:stCondLst>
                                    <p:cond delay="0"/>
                                  </p:stCondLst>
                                  <p:childTnLst>
                                    <p:set>
                                      <p:cBhvr>
                                        <p:cTn id="51" dur="1" fill="hold">
                                          <p:stCondLst>
                                            <p:cond delay="0"/>
                                          </p:stCondLst>
                                        </p:cTn>
                                        <p:tgtEl>
                                          <p:spTgt spid="14"/>
                                        </p:tgtEl>
                                        <p:attrNameLst>
                                          <p:attrName>style.visibility</p:attrName>
                                        </p:attrNameLst>
                                      </p:cBhvr>
                                      <p:to>
                                        <p:strVal val="visible"/>
                                      </p:to>
                                    </p:set>
                                    <p:animEffect transition="in" filter="wipe(down)">
                                      <p:cBhvr>
                                        <p:cTn id="52" dur="500"/>
                                        <p:tgtEl>
                                          <p:spTgt spid="14"/>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4" fill="hold" grpId="0" nodeType="click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wipe(down)">
                                      <p:cBhvr>
                                        <p:cTn id="57" dur="500"/>
                                        <p:tgtEl>
                                          <p:spTgt spid="17"/>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4" fill="hold" grpId="0" nodeType="click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wipe(down)">
                                      <p:cBhvr>
                                        <p:cTn id="62" dur="500"/>
                                        <p:tgtEl>
                                          <p:spTgt spid="18"/>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4"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wipe(down)">
                                      <p:cBhvr>
                                        <p:cTn id="67" dur="500"/>
                                        <p:tgtEl>
                                          <p:spTgt spid="6"/>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15"/>
                                        </p:tgtEl>
                                        <p:attrNameLst>
                                          <p:attrName>style.visibility</p:attrName>
                                        </p:attrNameLst>
                                      </p:cBhvr>
                                      <p:to>
                                        <p:strVal val="visible"/>
                                      </p:to>
                                    </p:set>
                                    <p:animEffect transition="in" filter="wipe(down)">
                                      <p:cBhvr>
                                        <p:cTn id="72" dur="500"/>
                                        <p:tgtEl>
                                          <p:spTgt spid="15"/>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4"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down)">
                                      <p:cBhvr>
                                        <p:cTn id="77" dur="500"/>
                                        <p:tgtEl>
                                          <p:spTgt spid="7"/>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ntr" presetSubtype="4" fill="hold" grpId="0" nodeType="click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wipe(down)">
                                      <p:cBhvr>
                                        <p:cTn id="82" dur="500"/>
                                        <p:tgtEl>
                                          <p:spTgt spid="27"/>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ntr" presetSubtype="4" fill="hold" grpId="0" nodeType="clickEffect">
                                  <p:stCondLst>
                                    <p:cond delay="0"/>
                                  </p:stCondLst>
                                  <p:childTnLst>
                                    <p:set>
                                      <p:cBhvr>
                                        <p:cTn id="86" dur="1" fill="hold">
                                          <p:stCondLst>
                                            <p:cond delay="0"/>
                                          </p:stCondLst>
                                        </p:cTn>
                                        <p:tgtEl>
                                          <p:spTgt spid="16"/>
                                        </p:tgtEl>
                                        <p:attrNameLst>
                                          <p:attrName>style.visibility</p:attrName>
                                        </p:attrNameLst>
                                      </p:cBhvr>
                                      <p:to>
                                        <p:strVal val="visible"/>
                                      </p:to>
                                    </p:set>
                                    <p:animEffect transition="in" filter="wipe(down)">
                                      <p:cBhvr>
                                        <p:cTn id="87" dur="500"/>
                                        <p:tgtEl>
                                          <p:spTgt spid="16"/>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4" fill="hold" grpId="0" nodeType="clickEffect">
                                  <p:stCondLst>
                                    <p:cond delay="0"/>
                                  </p:stCondLst>
                                  <p:childTnLst>
                                    <p:set>
                                      <p:cBhvr>
                                        <p:cTn id="91" dur="1" fill="hold">
                                          <p:stCondLst>
                                            <p:cond delay="0"/>
                                          </p:stCondLst>
                                        </p:cTn>
                                        <p:tgtEl>
                                          <p:spTgt spid="19"/>
                                        </p:tgtEl>
                                        <p:attrNameLst>
                                          <p:attrName>style.visibility</p:attrName>
                                        </p:attrNameLst>
                                      </p:cBhvr>
                                      <p:to>
                                        <p:strVal val="visible"/>
                                      </p:to>
                                    </p:set>
                                    <p:animEffect transition="in" filter="wipe(down)">
                                      <p:cBhvr>
                                        <p:cTn id="92" dur="500"/>
                                        <p:tgtEl>
                                          <p:spTgt spid="19"/>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4" fill="hold" grpId="0" nodeType="clickEffect">
                                  <p:stCondLst>
                                    <p:cond delay="0"/>
                                  </p:stCondLst>
                                  <p:childTnLst>
                                    <p:set>
                                      <p:cBhvr>
                                        <p:cTn id="96" dur="1" fill="hold">
                                          <p:stCondLst>
                                            <p:cond delay="0"/>
                                          </p:stCondLst>
                                        </p:cTn>
                                        <p:tgtEl>
                                          <p:spTgt spid="23"/>
                                        </p:tgtEl>
                                        <p:attrNameLst>
                                          <p:attrName>style.visibility</p:attrName>
                                        </p:attrNameLst>
                                      </p:cBhvr>
                                      <p:to>
                                        <p:strVal val="visible"/>
                                      </p:to>
                                    </p:set>
                                    <p:animEffect transition="in" filter="wipe(down)">
                                      <p:cBhvr>
                                        <p:cTn id="97" dur="500"/>
                                        <p:tgtEl>
                                          <p:spTgt spid="23"/>
                                        </p:tgtEl>
                                      </p:cBhvr>
                                    </p:animEffect>
                                  </p:childTnLst>
                                </p:cTn>
                              </p:par>
                            </p:childTnLst>
                          </p:cTn>
                        </p:par>
                      </p:childTnLst>
                    </p:cTn>
                  </p:par>
                  <p:par>
                    <p:cTn id="98" fill="hold">
                      <p:stCondLst>
                        <p:cond delay="indefinite"/>
                      </p:stCondLst>
                      <p:childTnLst>
                        <p:par>
                          <p:cTn id="99" fill="hold">
                            <p:stCondLst>
                              <p:cond delay="0"/>
                            </p:stCondLst>
                            <p:childTnLst>
                              <p:par>
                                <p:cTn id="100" presetID="22" presetClass="entr" presetSubtype="4" fill="hold" grpId="0" nodeType="clickEffect">
                                  <p:stCondLst>
                                    <p:cond delay="0"/>
                                  </p:stCondLst>
                                  <p:childTnLst>
                                    <p:set>
                                      <p:cBhvr>
                                        <p:cTn id="101" dur="1" fill="hold">
                                          <p:stCondLst>
                                            <p:cond delay="0"/>
                                          </p:stCondLst>
                                        </p:cTn>
                                        <p:tgtEl>
                                          <p:spTgt spid="21"/>
                                        </p:tgtEl>
                                        <p:attrNameLst>
                                          <p:attrName>style.visibility</p:attrName>
                                        </p:attrNameLst>
                                      </p:cBhvr>
                                      <p:to>
                                        <p:strVal val="visible"/>
                                      </p:to>
                                    </p:set>
                                    <p:animEffect transition="in" filter="wipe(down)">
                                      <p:cBhvr>
                                        <p:cTn id="10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6" grpId="0" animBg="1"/>
      <p:bldP spid="7" grpId="0" animBg="1"/>
      <p:bldP spid="16" grpId="0" animBg="1"/>
      <p:bldP spid="17" grpId="0" animBg="1"/>
      <p:bldP spid="18" grpId="0" animBg="1"/>
      <p:bldP spid="19" grpId="0" animBg="1"/>
      <p:bldP spid="21" grpId="0" animBg="1"/>
      <p:bldP spid="2" grpId="0" animBg="1"/>
      <p:bldP spid="22" grpId="0"/>
      <p:bldP spid="23" grpId="0" animBg="1"/>
      <p:bldP spid="27" grpId="0"/>
      <p:bldP spid="2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18A83-A5FE-1D69-81E2-9FE495D285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B5C3F2-BE97-E248-6DC3-3B5586C9AFAF}"/>
              </a:ext>
            </a:extLst>
          </p:cNvPr>
          <p:cNvSpPr txBox="1">
            <a:spLocks/>
          </p:cNvSpPr>
          <p:nvPr/>
        </p:nvSpPr>
        <p:spPr>
          <a:xfrm>
            <a:off x="228600" y="382221"/>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0DF6E99F-034D-6D5E-D39F-CAED5A425B2B}"/>
              </a:ext>
              <a:ext uri="{C183D7F6-B498-43B3-948B-1728B52AA6E4}">
                <adec:decorative xmlns:adec="http://schemas.microsoft.com/office/drawing/2017/decorative" val="1"/>
              </a:ext>
            </a:extLst>
          </p:cNvPr>
          <p:cNvCxnSpPr>
            <a:cxnSpLocks/>
            <a:endCxn id="12" idx="1"/>
          </p:cNvCxnSpPr>
          <p:nvPr/>
        </p:nvCxnSpPr>
        <p:spPr>
          <a:xfrm flipV="1">
            <a:off x="228600" y="573244"/>
            <a:ext cx="4334069" cy="19993"/>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DEC74EA8-2A4C-1664-107A-A476E441C7B5}"/>
              </a:ext>
              <a:ext uri="{C183D7F6-B498-43B3-948B-1728B52AA6E4}">
                <adec:decorative xmlns:adec="http://schemas.microsoft.com/office/drawing/2017/decorative" val="1"/>
              </a:ext>
            </a:extLst>
          </p:cNvPr>
          <p:cNvCxnSpPr>
            <a:cxnSpLocks/>
          </p:cNvCxnSpPr>
          <p:nvPr/>
        </p:nvCxnSpPr>
        <p:spPr>
          <a:xfrm>
            <a:off x="7184571" y="573244"/>
            <a:ext cx="4778829" cy="19993"/>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340FAE4-B290-EA70-AB78-7D1C5AD97105}"/>
              </a:ext>
            </a:extLst>
          </p:cNvPr>
          <p:cNvSpPr txBox="1"/>
          <p:nvPr/>
        </p:nvSpPr>
        <p:spPr>
          <a:xfrm>
            <a:off x="4562669" y="342411"/>
            <a:ext cx="3405674" cy="461665"/>
          </a:xfrm>
          <a:prstGeom prst="rect">
            <a:avLst/>
          </a:prstGeom>
          <a:noFill/>
        </p:spPr>
        <p:txBody>
          <a:bodyPr wrap="square">
            <a:spAutoFit/>
          </a:bodyPr>
          <a:lstStyle/>
          <a:p>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INTRODUCTION</a:t>
            </a:r>
            <a:endParaRPr lang="en-US" sz="2400" b="1" dirty="0"/>
          </a:p>
        </p:txBody>
      </p:sp>
      <p:sp>
        <p:nvSpPr>
          <p:cNvPr id="13" name="Oval 12">
            <a:extLst>
              <a:ext uri="{FF2B5EF4-FFF2-40B4-BE49-F238E27FC236}">
                <a16:creationId xmlns:a16="http://schemas.microsoft.com/office/drawing/2014/main" id="{1C84B89E-3622-B364-D64A-EA95EA3E36C3}"/>
              </a:ext>
              <a:ext uri="{C183D7F6-B498-43B3-948B-1728B52AA6E4}">
                <adec:decorative xmlns:adec="http://schemas.microsoft.com/office/drawing/2017/decorative" val="1"/>
              </a:ext>
            </a:extLst>
          </p:cNvPr>
          <p:cNvSpPr/>
          <p:nvPr/>
        </p:nvSpPr>
        <p:spPr>
          <a:xfrm>
            <a:off x="754821" y="1327347"/>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TextBox 14">
            <a:extLst>
              <a:ext uri="{FF2B5EF4-FFF2-40B4-BE49-F238E27FC236}">
                <a16:creationId xmlns:a16="http://schemas.microsoft.com/office/drawing/2014/main" id="{59FA0572-E1D7-B784-FCF0-8BFCADDA4F11}"/>
              </a:ext>
            </a:extLst>
          </p:cNvPr>
          <p:cNvSpPr txBox="1"/>
          <p:nvPr/>
        </p:nvSpPr>
        <p:spPr>
          <a:xfrm>
            <a:off x="1298917" y="1204918"/>
            <a:ext cx="10306929" cy="707886"/>
          </a:xfrm>
          <a:prstGeom prst="rect">
            <a:avLst/>
          </a:prstGeom>
          <a:noFill/>
        </p:spPr>
        <p:txBody>
          <a:bodyPr wrap="square" rtlCol="0">
            <a:spAutoFit/>
          </a:bodyPr>
          <a:lstStyle/>
          <a:p>
            <a:pPr algn="just"/>
            <a:r>
              <a:rPr lang="en-US" sz="2000" b="1" dirty="0">
                <a:latin typeface="Times New Roman" panose="02020603050405020304" pitchFamily="18" charset="0"/>
                <a:cs typeface="Times New Roman" panose="02020603050405020304" pitchFamily="18" charset="0"/>
              </a:rPr>
              <a:t>The Chaos of Impact:</a:t>
            </a:r>
            <a:r>
              <a:rPr lang="en-US" sz="2000" b="1" dirty="0"/>
              <a:t> :</a:t>
            </a:r>
            <a:r>
              <a:rPr lang="en-US" sz="2000" dirty="0"/>
              <a:t> In the immediate aftermath of floods, earthquakes, and hurricanes, infrastructure is </a:t>
            </a:r>
            <a:r>
              <a:rPr lang="en-US" sz="2000" dirty="0">
                <a:latin typeface="Times New Roman" panose="02020603050405020304" pitchFamily="18" charset="0"/>
                <a:cs typeface="Times New Roman" panose="02020603050405020304" pitchFamily="18" charset="0"/>
              </a:rPr>
              <a:t>paralyzed</a:t>
            </a:r>
            <a:r>
              <a:rPr lang="en-US" sz="2000" dirty="0"/>
              <a:t>, making traditional manual assessments impracticable.</a:t>
            </a:r>
            <a:endParaRPr lang="en-US" sz="2000" dirty="0">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E1B884BD-AC54-7C1F-4DF6-0B8DEDA0CCA6}"/>
              </a:ext>
              <a:ext uri="{C183D7F6-B498-43B3-948B-1728B52AA6E4}">
                <adec:decorative xmlns:adec="http://schemas.microsoft.com/office/drawing/2017/decorative" val="1"/>
              </a:ext>
            </a:extLst>
          </p:cNvPr>
          <p:cNvSpPr/>
          <p:nvPr/>
        </p:nvSpPr>
        <p:spPr>
          <a:xfrm>
            <a:off x="754821" y="2226908"/>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D67BBD04-EB8E-260D-C9E9-C297FB923A5E}"/>
              </a:ext>
            </a:extLst>
          </p:cNvPr>
          <p:cNvSpPr txBox="1"/>
          <p:nvPr/>
        </p:nvSpPr>
        <p:spPr>
          <a:xfrm flipH="1">
            <a:off x="1272882" y="2183474"/>
            <a:ext cx="10332963" cy="707886"/>
          </a:xfrm>
          <a:prstGeom prst="rect">
            <a:avLst/>
          </a:prstGeom>
          <a:noFill/>
        </p:spPr>
        <p:txBody>
          <a:bodyPr wrap="square" rtlCol="0">
            <a:spAutoFit/>
          </a:bodyPr>
          <a:lstStyle/>
          <a:p>
            <a:pPr algn="just"/>
            <a:r>
              <a:rPr lang="en-US" sz="2000" b="1" dirty="0">
                <a:latin typeface="Times New Roman" panose="02020603050405020304" pitchFamily="18" charset="0"/>
                <a:cs typeface="Times New Roman" panose="02020603050405020304" pitchFamily="18" charset="0"/>
              </a:rPr>
              <a:t>The "Information Gap":</a:t>
            </a:r>
            <a:r>
              <a:rPr lang="en-US" sz="2000" dirty="0">
                <a:latin typeface="Times New Roman" panose="02020603050405020304" pitchFamily="18" charset="0"/>
                <a:cs typeface="Times New Roman" panose="02020603050405020304" pitchFamily="18" charset="0"/>
              </a:rPr>
              <a:t> Critical time is lost as response teams struggle to gather data, delaying search and rescue missions and the allocation of emergency resources.</a:t>
            </a:r>
          </a:p>
        </p:txBody>
      </p:sp>
      <p:sp>
        <p:nvSpPr>
          <p:cNvPr id="18" name="Oval 17">
            <a:extLst>
              <a:ext uri="{FF2B5EF4-FFF2-40B4-BE49-F238E27FC236}">
                <a16:creationId xmlns:a16="http://schemas.microsoft.com/office/drawing/2014/main" id="{5E0718BD-5A96-EF6A-4C42-4C2C7BADB2E1}"/>
              </a:ext>
              <a:ext uri="{C183D7F6-B498-43B3-948B-1728B52AA6E4}">
                <adec:decorative xmlns:adec="http://schemas.microsoft.com/office/drawing/2017/decorative" val="1"/>
              </a:ext>
            </a:extLst>
          </p:cNvPr>
          <p:cNvSpPr/>
          <p:nvPr/>
        </p:nvSpPr>
        <p:spPr>
          <a:xfrm>
            <a:off x="754821" y="3474971"/>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DFFAD0A1-B3F4-1BBF-1C72-963535C69907}"/>
              </a:ext>
            </a:extLst>
          </p:cNvPr>
          <p:cNvSpPr txBox="1"/>
          <p:nvPr/>
        </p:nvSpPr>
        <p:spPr>
          <a:xfrm>
            <a:off x="1298914" y="3350777"/>
            <a:ext cx="10306931" cy="369332"/>
          </a:xfrm>
          <a:prstGeom prst="rect">
            <a:avLst/>
          </a:prstGeom>
          <a:noFill/>
        </p:spPr>
        <p:txBody>
          <a:bodyPr wrap="square" rtlCol="0">
            <a:spAutoFit/>
          </a:bodyPr>
          <a:lstStyle/>
          <a:p>
            <a:pPr algn="just"/>
            <a:r>
              <a:rPr lang="en-US" b="1" dirty="0">
                <a:latin typeface="Times New Roman" panose="02020603050405020304" pitchFamily="18" charset="0"/>
                <a:cs typeface="Times New Roman" panose="02020603050405020304" pitchFamily="18" charset="0"/>
              </a:rPr>
              <a:t>The Bottom Line:</a:t>
            </a:r>
            <a:r>
              <a:rPr lang="en-US" dirty="0">
                <a:latin typeface="Times New Roman" panose="02020603050405020304" pitchFamily="18" charset="0"/>
                <a:cs typeface="Times New Roman" panose="02020603050405020304" pitchFamily="18" charset="0"/>
              </a:rPr>
              <a:t> A delayed assessment means a delayed response, directly impacting human lives.</a:t>
            </a:r>
          </a:p>
        </p:txBody>
      </p:sp>
      <p:sp>
        <p:nvSpPr>
          <p:cNvPr id="7" name="Date Placeholder 6">
            <a:extLst>
              <a:ext uri="{FF2B5EF4-FFF2-40B4-BE49-F238E27FC236}">
                <a16:creationId xmlns:a16="http://schemas.microsoft.com/office/drawing/2014/main" id="{DA132C07-47D4-C2E3-83B0-AB110EF1AE23}"/>
              </a:ext>
            </a:extLst>
          </p:cNvPr>
          <p:cNvSpPr>
            <a:spLocks noGrp="1"/>
          </p:cNvSpPr>
          <p:nvPr>
            <p:ph type="dt" sz="half" idx="10"/>
          </p:nvPr>
        </p:nvSpPr>
        <p:spPr/>
        <p:txBody>
          <a:bodyPr/>
          <a:lstStyle/>
          <a:p>
            <a:fld id="{9494BA87-060C-4D11-8506-3EFCD4D296C0}"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8" name="Slide Number Placeholder 7">
            <a:extLst>
              <a:ext uri="{FF2B5EF4-FFF2-40B4-BE49-F238E27FC236}">
                <a16:creationId xmlns:a16="http://schemas.microsoft.com/office/drawing/2014/main" id="{F8E934F0-B7C2-56F6-438C-0E748D5D4E9E}"/>
              </a:ext>
            </a:extLst>
          </p:cNvPr>
          <p:cNvSpPr>
            <a:spLocks noGrp="1"/>
          </p:cNvSpPr>
          <p:nvPr>
            <p:ph type="sldNum" sz="quarter" idx="12"/>
          </p:nvPr>
        </p:nvSpPr>
        <p:spPr/>
        <p:txBody>
          <a:bodyPr/>
          <a:lstStyle/>
          <a:p>
            <a:fld id="{06FEDF93-2BFD-41CA-ABC7-B039102F3792}" type="slidenum">
              <a:rPr lang="en-US" smtClean="0">
                <a:latin typeface="Times New Roman" panose="02020603050405020304" pitchFamily="18" charset="0"/>
                <a:cs typeface="Times New Roman" panose="02020603050405020304" pitchFamily="18" charset="0"/>
              </a:rPr>
              <a:t>3</a:t>
            </a:fld>
            <a:endParaRPr lang="en-US"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5FE8BD0D-BE16-54BC-7121-BC7C4CD68406}"/>
              </a:ext>
            </a:extLst>
          </p:cNvPr>
          <p:cNvSpPr txBox="1"/>
          <p:nvPr/>
        </p:nvSpPr>
        <p:spPr>
          <a:xfrm>
            <a:off x="838200" y="4807397"/>
            <a:ext cx="10601131" cy="369332"/>
          </a:xfrm>
          <a:prstGeom prst="rect">
            <a:avLst/>
          </a:prstGeom>
          <a:noFill/>
        </p:spPr>
        <p:txBody>
          <a:bodyPr wrap="square" rtlCol="0">
            <a:spAutoFit/>
          </a:bodyPr>
          <a:lstStyle/>
          <a:p>
            <a:pPr algn="ctr"/>
            <a:r>
              <a:rPr lang="en-US" dirty="0">
                <a:latin typeface="Times New Roman" panose="02020603050405020304" pitchFamily="18" charset="0"/>
                <a:cs typeface="Times New Roman" panose="02020603050405020304" pitchFamily="18" charset="0"/>
              </a:rPr>
              <a:t>"In a crisis, information is just as vital as medicine. But if that information isn't instant, it’s obsolete."</a:t>
            </a:r>
          </a:p>
        </p:txBody>
      </p:sp>
      <p:sp>
        <p:nvSpPr>
          <p:cNvPr id="6" name="Footer Placeholder 5">
            <a:extLst>
              <a:ext uri="{FF2B5EF4-FFF2-40B4-BE49-F238E27FC236}">
                <a16:creationId xmlns:a16="http://schemas.microsoft.com/office/drawing/2014/main" id="{40613D85-5B5B-C217-879D-129F0569D6DA}"/>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3993614780"/>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228600" y="382221"/>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228600" y="593237"/>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7877175" y="593237"/>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C2019681-6EFF-BF8C-1016-3C55FADF54A9}"/>
              </a:ext>
            </a:extLst>
          </p:cNvPr>
          <p:cNvSpPr txBox="1"/>
          <p:nvPr/>
        </p:nvSpPr>
        <p:spPr>
          <a:xfrm>
            <a:off x="4614203" y="342411"/>
            <a:ext cx="3137095" cy="461665"/>
          </a:xfrm>
          <a:prstGeom prst="rect">
            <a:avLst/>
          </a:prstGeom>
          <a:noFill/>
        </p:spPr>
        <p:txBody>
          <a:bodyPr wrap="square">
            <a:spAutoFit/>
          </a:bodyPr>
          <a:lstStyle/>
          <a:p>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INTRODUCTION</a:t>
            </a:r>
            <a:endParaRPr lang="en-US" sz="2400" b="1" dirty="0"/>
          </a:p>
        </p:txBody>
      </p:sp>
      <p:sp>
        <p:nvSpPr>
          <p:cNvPr id="13" name="Oval 12">
            <a:extLst>
              <a:ext uri="{FF2B5EF4-FFF2-40B4-BE49-F238E27FC236}">
                <a16:creationId xmlns:a16="http://schemas.microsoft.com/office/drawing/2014/main" id="{71F18A0D-BB9A-BBDD-C7E8-CC8B846B65CA}"/>
              </a:ext>
              <a:ext uri="{C183D7F6-B498-43B3-948B-1728B52AA6E4}">
                <adec:decorative xmlns:adec="http://schemas.microsoft.com/office/drawing/2017/decorative" val="1"/>
              </a:ext>
            </a:extLst>
          </p:cNvPr>
          <p:cNvSpPr/>
          <p:nvPr/>
        </p:nvSpPr>
        <p:spPr>
          <a:xfrm>
            <a:off x="754821" y="1327347"/>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TextBox 14">
            <a:extLst>
              <a:ext uri="{FF2B5EF4-FFF2-40B4-BE49-F238E27FC236}">
                <a16:creationId xmlns:a16="http://schemas.microsoft.com/office/drawing/2014/main" id="{3F84B639-FC09-317F-9832-8E4781EEE89E}"/>
              </a:ext>
            </a:extLst>
          </p:cNvPr>
          <p:cNvSpPr txBox="1"/>
          <p:nvPr/>
        </p:nvSpPr>
        <p:spPr>
          <a:xfrm>
            <a:off x="1298917" y="1204918"/>
            <a:ext cx="10306929" cy="707886"/>
          </a:xfrm>
          <a:prstGeom prst="rect">
            <a:avLst/>
          </a:prstGeom>
          <a:noFill/>
        </p:spPr>
        <p:txBody>
          <a:bodyPr wrap="square" rtlCol="0">
            <a:spAutoFit/>
          </a:bodyPr>
          <a:lstStyle/>
          <a:p>
            <a:pPr algn="just"/>
            <a:r>
              <a:rPr lang="en-US" sz="2000" b="1" dirty="0">
                <a:latin typeface="Times New Roman" panose="02020603050405020304" pitchFamily="18" charset="0"/>
                <a:cs typeface="Times New Roman" panose="02020603050405020304" pitchFamily="18" charset="0"/>
              </a:rPr>
              <a:t>A Real-Time Lifeline:</a:t>
            </a:r>
            <a:r>
              <a:rPr lang="en-US" sz="2000" dirty="0">
                <a:latin typeface="Times New Roman" panose="02020603050405020304" pitchFamily="18" charset="0"/>
                <a:cs typeface="Times New Roman" panose="02020603050405020304" pitchFamily="18" charset="0"/>
              </a:rPr>
              <a:t> Social media platforms like Twitter have emerged as a vital "digital nervous system," pulsing with live, on-the-ground updates.</a:t>
            </a:r>
          </a:p>
        </p:txBody>
      </p:sp>
      <p:sp>
        <p:nvSpPr>
          <p:cNvPr id="16" name="Oval 15">
            <a:extLst>
              <a:ext uri="{FF2B5EF4-FFF2-40B4-BE49-F238E27FC236}">
                <a16:creationId xmlns:a16="http://schemas.microsoft.com/office/drawing/2014/main" id="{485E9D70-9D0A-AC28-6024-A11A75D54D57}"/>
              </a:ext>
              <a:ext uri="{C183D7F6-B498-43B3-948B-1728B52AA6E4}">
                <adec:decorative xmlns:adec="http://schemas.microsoft.com/office/drawing/2017/decorative" val="1"/>
              </a:ext>
            </a:extLst>
          </p:cNvPr>
          <p:cNvSpPr/>
          <p:nvPr/>
        </p:nvSpPr>
        <p:spPr>
          <a:xfrm>
            <a:off x="754821" y="2226908"/>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34BF7909-CDB2-7A59-0A4F-973A491F5DE5}"/>
              </a:ext>
            </a:extLst>
          </p:cNvPr>
          <p:cNvSpPr txBox="1"/>
          <p:nvPr/>
        </p:nvSpPr>
        <p:spPr>
          <a:xfrm flipH="1">
            <a:off x="1272883" y="2183474"/>
            <a:ext cx="8900162" cy="707886"/>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The Challenge:</a:t>
            </a:r>
            <a:r>
              <a:rPr lang="en-US" sz="2000" dirty="0">
                <a:latin typeface="Times New Roman" panose="02020603050405020304" pitchFamily="18" charset="0"/>
                <a:cs typeface="Times New Roman" panose="02020603050405020304" pitchFamily="18" charset="0"/>
              </a:rPr>
              <a:t> This data is a chaotic, heterogeneous mix of text, images, and videos that is impossible to process manually.</a:t>
            </a:r>
          </a:p>
        </p:txBody>
      </p:sp>
      <p:sp>
        <p:nvSpPr>
          <p:cNvPr id="18" name="Oval 17">
            <a:extLst>
              <a:ext uri="{FF2B5EF4-FFF2-40B4-BE49-F238E27FC236}">
                <a16:creationId xmlns:a16="http://schemas.microsoft.com/office/drawing/2014/main" id="{38214026-6177-F636-59B3-50BB64731F53}"/>
              </a:ext>
              <a:ext uri="{C183D7F6-B498-43B3-948B-1728B52AA6E4}">
                <adec:decorative xmlns:adec="http://schemas.microsoft.com/office/drawing/2017/decorative" val="1"/>
              </a:ext>
            </a:extLst>
          </p:cNvPr>
          <p:cNvSpPr/>
          <p:nvPr/>
        </p:nvSpPr>
        <p:spPr>
          <a:xfrm>
            <a:off x="754821" y="3474971"/>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B8C76FD9-415A-D25C-276D-3C791DBEA443}"/>
              </a:ext>
            </a:extLst>
          </p:cNvPr>
          <p:cNvSpPr txBox="1"/>
          <p:nvPr/>
        </p:nvSpPr>
        <p:spPr>
          <a:xfrm>
            <a:off x="1298914" y="3350777"/>
            <a:ext cx="9711207" cy="2031325"/>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The AI Solution: </a:t>
            </a:r>
          </a:p>
          <a:p>
            <a:r>
              <a:rPr lang="en-US" b="1" dirty="0">
                <a:latin typeface="Times New Roman" panose="02020603050405020304" pitchFamily="18" charset="0"/>
                <a:cs typeface="Times New Roman" panose="02020603050405020304" pitchFamily="18" charset="0"/>
              </a:rPr>
              <a:t>Advanced Automated Classification Systems</a:t>
            </a:r>
            <a:r>
              <a:rPr lang="en-US" dirty="0">
                <a:latin typeface="Times New Roman" panose="02020603050405020304" pitchFamily="18" charset="0"/>
                <a:cs typeface="Times New Roman" panose="02020603050405020304" pitchFamily="18" charset="0"/>
              </a:rPr>
              <a:t> are required to:</a:t>
            </a:r>
          </a:p>
          <a:p>
            <a:endParaRPr lang="en-US"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q"/>
            </a:pPr>
            <a:r>
              <a:rPr lang="en-US" b="1" dirty="0">
                <a:latin typeface="Times New Roman" panose="02020603050405020304" pitchFamily="18" charset="0"/>
                <a:cs typeface="Times New Roman" panose="02020603050405020304" pitchFamily="18" charset="0"/>
              </a:rPr>
              <a:t>Process Multimodal Data:</a:t>
            </a:r>
            <a:r>
              <a:rPr lang="en-US" dirty="0">
                <a:latin typeface="Times New Roman" panose="02020603050405020304" pitchFamily="18" charset="0"/>
                <a:cs typeface="Times New Roman" panose="02020603050405020304" pitchFamily="18" charset="0"/>
              </a:rPr>
              <a:t> Effectively analyze text and visuals together.</a:t>
            </a:r>
          </a:p>
          <a:p>
            <a:pPr marL="285750" indent="-285750">
              <a:buFont typeface="Wingdings" panose="05000000000000000000" pitchFamily="2" charset="2"/>
              <a:buChar char="q"/>
            </a:pPr>
            <a:r>
              <a:rPr lang="en-US" b="1" dirty="0">
                <a:latin typeface="Times New Roman" panose="02020603050405020304" pitchFamily="18" charset="0"/>
                <a:cs typeface="Times New Roman" panose="02020603050405020304" pitchFamily="18" charset="0"/>
              </a:rPr>
              <a:t>Turn Noise into Intelligence:</a:t>
            </a:r>
            <a:r>
              <a:rPr lang="en-US" dirty="0">
                <a:latin typeface="Times New Roman" panose="02020603050405020304" pitchFamily="18" charset="0"/>
                <a:cs typeface="Times New Roman" panose="02020603050405020304" pitchFamily="18" charset="0"/>
              </a:rPr>
              <a:t> Rapidly filter through the data to identify the hardest-hit areas, directing resources where they are needed most.</a:t>
            </a:r>
          </a:p>
          <a:p>
            <a:endParaRPr lang="en-US" dirty="0"/>
          </a:p>
        </p:txBody>
      </p:sp>
      <p:sp>
        <p:nvSpPr>
          <p:cNvPr id="7" name="Date Placeholder 6">
            <a:extLst>
              <a:ext uri="{FF2B5EF4-FFF2-40B4-BE49-F238E27FC236}">
                <a16:creationId xmlns:a16="http://schemas.microsoft.com/office/drawing/2014/main" id="{DCDB693D-70A5-6387-9B19-5B27AC2EA3FB}"/>
              </a:ext>
            </a:extLst>
          </p:cNvPr>
          <p:cNvSpPr>
            <a:spLocks noGrp="1"/>
          </p:cNvSpPr>
          <p:nvPr>
            <p:ph type="dt" sz="half" idx="10"/>
          </p:nvPr>
        </p:nvSpPr>
        <p:spPr/>
        <p:txBody>
          <a:bodyPr/>
          <a:lstStyle/>
          <a:p>
            <a:fld id="{A4056202-79BD-40A6-BE26-3FE9DD16D851}"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8" name="Slide Number Placeholder 7">
            <a:extLst>
              <a:ext uri="{FF2B5EF4-FFF2-40B4-BE49-F238E27FC236}">
                <a16:creationId xmlns:a16="http://schemas.microsoft.com/office/drawing/2014/main" id="{8E9959B5-6F0B-9F75-2419-53630DDD21F9}"/>
              </a:ext>
            </a:extLst>
          </p:cNvPr>
          <p:cNvSpPr>
            <a:spLocks noGrp="1"/>
          </p:cNvSpPr>
          <p:nvPr>
            <p:ph type="sldNum" sz="quarter" idx="12"/>
          </p:nvPr>
        </p:nvSpPr>
        <p:spPr/>
        <p:txBody>
          <a:bodyPr/>
          <a:lstStyle/>
          <a:p>
            <a:fld id="{06FEDF93-2BFD-41CA-ABC7-B039102F3792}" type="slidenum">
              <a:rPr lang="en-US" smtClean="0">
                <a:latin typeface="Times New Roman" panose="02020603050405020304" pitchFamily="18" charset="0"/>
                <a:cs typeface="Times New Roman" panose="02020603050405020304" pitchFamily="18" charset="0"/>
              </a:rPr>
              <a:t>4</a:t>
            </a:fld>
            <a:endParaRPr lang="en-US" dirty="0">
              <a:latin typeface="Times New Roman" panose="02020603050405020304" pitchFamily="18" charset="0"/>
              <a:cs typeface="Times New Roman" panose="02020603050405020304" pitchFamily="18" charset="0"/>
            </a:endParaRPr>
          </a:p>
        </p:txBody>
      </p:sp>
      <p:sp>
        <p:nvSpPr>
          <p:cNvPr id="6" name="Footer Placeholder 5">
            <a:extLst>
              <a:ext uri="{FF2B5EF4-FFF2-40B4-BE49-F238E27FC236}">
                <a16:creationId xmlns:a16="http://schemas.microsoft.com/office/drawing/2014/main" id="{05349A4D-5ABB-259B-4787-163BF747B039}"/>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3710057055"/>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7AAF55-A850-D42C-CFC7-99705ED538B0}"/>
              </a:ext>
            </a:extLst>
          </p:cNvPr>
          <p:cNvSpPr>
            <a:spLocks noGrp="1"/>
          </p:cNvSpPr>
          <p:nvPr>
            <p:ph type="dt" sz="half" idx="10"/>
          </p:nvPr>
        </p:nvSpPr>
        <p:spPr/>
        <p:txBody>
          <a:bodyPr/>
          <a:lstStyle/>
          <a:p>
            <a:fld id="{0932E252-90A0-4881-AF64-0052727F861B}" type="datetime1">
              <a:rPr lang="en-US" smtClean="0"/>
              <a:t>1/18/2026</a:t>
            </a:fld>
            <a:endParaRPr lang="en-US" dirty="0"/>
          </a:p>
        </p:txBody>
      </p:sp>
      <p:sp>
        <p:nvSpPr>
          <p:cNvPr id="3" name="Slide Number Placeholder 2">
            <a:extLst>
              <a:ext uri="{FF2B5EF4-FFF2-40B4-BE49-F238E27FC236}">
                <a16:creationId xmlns:a16="http://schemas.microsoft.com/office/drawing/2014/main" id="{D4145C61-E1F7-6AE5-A7B0-9BF674E45F34}"/>
              </a:ext>
            </a:extLst>
          </p:cNvPr>
          <p:cNvSpPr>
            <a:spLocks noGrp="1"/>
          </p:cNvSpPr>
          <p:nvPr>
            <p:ph type="sldNum" sz="quarter" idx="12"/>
          </p:nvPr>
        </p:nvSpPr>
        <p:spPr/>
        <p:txBody>
          <a:bodyPr/>
          <a:lstStyle/>
          <a:p>
            <a:fld id="{06FEDF93-2BFD-41CA-ABC7-B039102F3792}" type="slidenum">
              <a:rPr lang="en-US" smtClean="0"/>
              <a:t>5</a:t>
            </a:fld>
            <a:endParaRPr lang="en-US" dirty="0"/>
          </a:p>
        </p:txBody>
      </p:sp>
      <p:sp>
        <p:nvSpPr>
          <p:cNvPr id="4" name="Title 1">
            <a:extLst>
              <a:ext uri="{FF2B5EF4-FFF2-40B4-BE49-F238E27FC236}">
                <a16:creationId xmlns:a16="http://schemas.microsoft.com/office/drawing/2014/main" id="{D0B13E7C-74DE-5E0C-D1CC-4A757F9FCB35}"/>
              </a:ext>
            </a:extLst>
          </p:cNvPr>
          <p:cNvSpPr txBox="1">
            <a:spLocks/>
          </p:cNvSpPr>
          <p:nvPr/>
        </p:nvSpPr>
        <p:spPr>
          <a:xfrm>
            <a:off x="228600" y="382221"/>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5" name="Straight Connector 4">
            <a:extLst>
              <a:ext uri="{FF2B5EF4-FFF2-40B4-BE49-F238E27FC236}">
                <a16:creationId xmlns:a16="http://schemas.microsoft.com/office/drawing/2014/main" id="{DCA0B1AC-93DD-0A15-2126-DEC243EC49E1}"/>
              </a:ext>
              <a:ext uri="{C183D7F6-B498-43B3-948B-1728B52AA6E4}">
                <adec:decorative xmlns:adec="http://schemas.microsoft.com/office/drawing/2017/decorative" val="1"/>
              </a:ext>
            </a:extLst>
          </p:cNvPr>
          <p:cNvCxnSpPr>
            <a:cxnSpLocks/>
          </p:cNvCxnSpPr>
          <p:nvPr/>
        </p:nvCxnSpPr>
        <p:spPr>
          <a:xfrm>
            <a:off x="594359" y="609699"/>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EE68278-92F1-B890-ECDF-D0BC5B472B31}"/>
              </a:ext>
            </a:extLst>
          </p:cNvPr>
          <p:cNvSpPr txBox="1"/>
          <p:nvPr/>
        </p:nvSpPr>
        <p:spPr>
          <a:xfrm>
            <a:off x="4933803" y="382221"/>
            <a:ext cx="2645458" cy="461665"/>
          </a:xfrm>
          <a:prstGeom prst="rect">
            <a:avLst/>
          </a:prstGeom>
          <a:noFill/>
        </p:spPr>
        <p:txBody>
          <a:bodyPr wrap="square">
            <a:spAutoFit/>
          </a:body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MOTIVATION</a:t>
            </a:r>
            <a:endParaRPr lang="en-US" sz="2400" b="1" dirty="0"/>
          </a:p>
        </p:txBody>
      </p:sp>
      <p:cxnSp>
        <p:nvCxnSpPr>
          <p:cNvPr id="7" name="Straight Connector 6">
            <a:extLst>
              <a:ext uri="{FF2B5EF4-FFF2-40B4-BE49-F238E27FC236}">
                <a16:creationId xmlns:a16="http://schemas.microsoft.com/office/drawing/2014/main" id="{B7B8C433-8CD8-BD46-13E5-1BCF8B74F19B}"/>
              </a:ext>
              <a:ext uri="{C183D7F6-B498-43B3-948B-1728B52AA6E4}">
                <adec:decorative xmlns:adec="http://schemas.microsoft.com/office/drawing/2017/decorative" val="1"/>
              </a:ext>
            </a:extLst>
          </p:cNvPr>
          <p:cNvCxnSpPr>
            <a:cxnSpLocks/>
          </p:cNvCxnSpPr>
          <p:nvPr/>
        </p:nvCxnSpPr>
        <p:spPr>
          <a:xfrm>
            <a:off x="7764634" y="609699"/>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E45BA764-0533-EC5F-F26D-673CC193931C}"/>
              </a:ext>
              <a:ext uri="{C183D7F6-B498-43B3-948B-1728B52AA6E4}">
                <adec:decorative xmlns:adec="http://schemas.microsoft.com/office/drawing/2017/decorative" val="1"/>
              </a:ext>
            </a:extLst>
          </p:cNvPr>
          <p:cNvSpPr/>
          <p:nvPr/>
        </p:nvSpPr>
        <p:spPr>
          <a:xfrm>
            <a:off x="754821" y="2884020"/>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D34CDCE5-7D9F-3E7F-2C9C-F514CFA23007}"/>
              </a:ext>
              <a:ext uri="{C183D7F6-B498-43B3-948B-1728B52AA6E4}">
                <adec:decorative xmlns:adec="http://schemas.microsoft.com/office/drawing/2017/decorative" val="1"/>
              </a:ext>
            </a:extLst>
          </p:cNvPr>
          <p:cNvSpPr/>
          <p:nvPr/>
        </p:nvSpPr>
        <p:spPr>
          <a:xfrm>
            <a:off x="754821" y="3647437"/>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
            <a:extLst>
              <a:ext uri="{FF2B5EF4-FFF2-40B4-BE49-F238E27FC236}">
                <a16:creationId xmlns:a16="http://schemas.microsoft.com/office/drawing/2014/main" id="{2BD25149-3338-997C-EFF8-F2C8316BA7D3}"/>
              </a:ext>
            </a:extLst>
          </p:cNvPr>
          <p:cNvSpPr>
            <a:spLocks noChangeArrowheads="1"/>
          </p:cNvSpPr>
          <p:nvPr/>
        </p:nvSpPr>
        <p:spPr bwMode="auto">
          <a:xfrm>
            <a:off x="1341719" y="2761031"/>
            <a:ext cx="1034953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spcBef>
                <a:spcPct val="0"/>
              </a:spcBef>
              <a:spcAft>
                <a:spcPct val="0"/>
              </a:spcAft>
            </a:pPr>
            <a:r>
              <a:rPr lang="en-US" b="1" dirty="0">
                <a:latin typeface="Times New Roman" panose="02020603050405020304" pitchFamily="18" charset="0"/>
                <a:ea typeface="Tahoma" panose="020B0604030504040204" pitchFamily="34" charset="0"/>
                <a:cs typeface="Times New Roman" panose="02020603050405020304" pitchFamily="18" charset="0"/>
              </a:rPr>
              <a:t>Information Overload:</a:t>
            </a:r>
            <a:r>
              <a:rPr lang="en-US" dirty="0">
                <a:latin typeface="Times New Roman" panose="02020603050405020304" pitchFamily="18" charset="0"/>
                <a:ea typeface="Tahoma" panose="020B0604030504040204" pitchFamily="34" charset="0"/>
                <a:cs typeface="Times New Roman" panose="02020603050405020304" pitchFamily="18" charset="0"/>
              </a:rPr>
              <a:t> During a disaster, 50,000+ social media posts are generated per hour. Human responders cannot manually filter this data fast enough to save lives.</a:t>
            </a:r>
            <a:endParaRPr lang="en-US" altLang="en-US" dirty="0">
              <a:latin typeface="Times New Roman" panose="02020603050405020304" pitchFamily="18" charset="0"/>
              <a:ea typeface="Tahoma" panose="020B0604030504040204" pitchFamily="34" charset="0"/>
              <a:cs typeface="Times New Roman" panose="02020603050405020304" pitchFamily="18" charset="0"/>
            </a:endParaRPr>
          </a:p>
        </p:txBody>
      </p:sp>
      <p:sp>
        <p:nvSpPr>
          <p:cNvPr id="14" name="Rectangle 2">
            <a:extLst>
              <a:ext uri="{FF2B5EF4-FFF2-40B4-BE49-F238E27FC236}">
                <a16:creationId xmlns:a16="http://schemas.microsoft.com/office/drawing/2014/main" id="{F929583C-FA87-7A31-CAF2-03CDCAB2C3A3}"/>
              </a:ext>
            </a:extLst>
          </p:cNvPr>
          <p:cNvSpPr>
            <a:spLocks noChangeArrowheads="1"/>
          </p:cNvSpPr>
          <p:nvPr/>
        </p:nvSpPr>
        <p:spPr bwMode="auto">
          <a:xfrm>
            <a:off x="1341719" y="3561513"/>
            <a:ext cx="10424183"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spcBef>
                <a:spcPct val="0"/>
              </a:spcBef>
              <a:spcAft>
                <a:spcPct val="0"/>
              </a:spcAft>
            </a:pPr>
            <a:r>
              <a:rPr lang="en-US" sz="2000" b="1" dirty="0">
                <a:latin typeface="Times New Roman" panose="02020603050405020304" pitchFamily="18" charset="0"/>
                <a:cs typeface="Times New Roman" panose="02020603050405020304" pitchFamily="18" charset="0"/>
              </a:rPr>
              <a:t>The Multi-Task Reality:</a:t>
            </a:r>
            <a:r>
              <a:rPr lang="en-US" sz="2000" dirty="0">
                <a:latin typeface="Times New Roman" panose="02020603050405020304" pitchFamily="18" charset="0"/>
                <a:cs typeface="Times New Roman" panose="02020603050405020304" pitchFamily="18" charset="0"/>
              </a:rPr>
              <a:t> Disasters are not one-dimensional. Responders need to know three things simultaneously: </a:t>
            </a:r>
            <a:r>
              <a:rPr lang="en-US" sz="2000" i="1" dirty="0">
                <a:latin typeface="Times New Roman" panose="02020603050405020304" pitchFamily="18" charset="0"/>
                <a:cs typeface="Times New Roman" panose="02020603050405020304" pitchFamily="18" charset="0"/>
              </a:rPr>
              <a:t>Is it real?</a:t>
            </a:r>
            <a:r>
              <a:rPr lang="en-US" sz="2000" dirty="0">
                <a:latin typeface="Times New Roman" panose="02020603050405020304" pitchFamily="18" charset="0"/>
                <a:cs typeface="Times New Roman" panose="02020603050405020304" pitchFamily="18" charset="0"/>
              </a:rPr>
              <a:t>, </a:t>
            </a:r>
            <a:r>
              <a:rPr lang="en-US" sz="2000" i="1" dirty="0">
                <a:latin typeface="Times New Roman" panose="02020603050405020304" pitchFamily="18" charset="0"/>
                <a:cs typeface="Times New Roman" panose="02020603050405020304" pitchFamily="18" charset="0"/>
              </a:rPr>
              <a:t>What is needed?</a:t>
            </a:r>
            <a:r>
              <a:rPr lang="en-US" sz="2000" dirty="0">
                <a:latin typeface="Times New Roman" panose="02020603050405020304" pitchFamily="18" charset="0"/>
                <a:cs typeface="Times New Roman" panose="02020603050405020304" pitchFamily="18" charset="0"/>
              </a:rPr>
              <a:t>, and </a:t>
            </a:r>
            <a:r>
              <a:rPr lang="en-US" sz="2000" i="1" dirty="0">
                <a:latin typeface="Times New Roman" panose="02020603050405020304" pitchFamily="18" charset="0"/>
                <a:cs typeface="Times New Roman" panose="02020603050405020304" pitchFamily="18" charset="0"/>
              </a:rPr>
              <a:t>How urgent is it?</a:t>
            </a: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15" name="Oval 14">
            <a:extLst>
              <a:ext uri="{FF2B5EF4-FFF2-40B4-BE49-F238E27FC236}">
                <a16:creationId xmlns:a16="http://schemas.microsoft.com/office/drawing/2014/main" id="{51454BAA-93FC-C444-3F14-BA01224D1153}"/>
              </a:ext>
              <a:ext uri="{C183D7F6-B498-43B3-948B-1728B52AA6E4}">
                <adec:decorative xmlns:adec="http://schemas.microsoft.com/office/drawing/2017/decorative" val="1"/>
              </a:ext>
            </a:extLst>
          </p:cNvPr>
          <p:cNvSpPr/>
          <p:nvPr/>
        </p:nvSpPr>
        <p:spPr>
          <a:xfrm>
            <a:off x="754821" y="4517234"/>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3">
            <a:extLst>
              <a:ext uri="{FF2B5EF4-FFF2-40B4-BE49-F238E27FC236}">
                <a16:creationId xmlns:a16="http://schemas.microsoft.com/office/drawing/2014/main" id="{6BB10507-6799-0E17-8554-7B9D22A733CB}"/>
              </a:ext>
            </a:extLst>
          </p:cNvPr>
          <p:cNvSpPr>
            <a:spLocks noChangeArrowheads="1"/>
          </p:cNvSpPr>
          <p:nvPr/>
        </p:nvSpPr>
        <p:spPr bwMode="auto">
          <a:xfrm>
            <a:off x="1273365" y="4433427"/>
            <a:ext cx="1057749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eaLnBrk="0" fontAlgn="base" hangingPunct="0">
              <a:spcBef>
                <a:spcPct val="0"/>
              </a:spcBef>
              <a:spcAft>
                <a:spcPct val="0"/>
              </a:spcAft>
            </a:pPr>
            <a:r>
              <a:rPr lang="en-US" sz="2000" b="1" dirty="0">
                <a:latin typeface="Times New Roman" panose="02020603050405020304" pitchFamily="18" charset="0"/>
                <a:cs typeface="Times New Roman" panose="02020603050405020304" pitchFamily="18" charset="0"/>
              </a:rPr>
              <a:t>The Lifeline Vision:</a:t>
            </a:r>
            <a:r>
              <a:rPr lang="en-US" sz="2000" dirty="0">
                <a:latin typeface="Times New Roman" panose="02020603050405020304" pitchFamily="18" charset="0"/>
                <a:cs typeface="Times New Roman" panose="02020603050405020304" pitchFamily="18" charset="0"/>
              </a:rPr>
              <a:t> To transform chaotic, multimodal social media noise into </a:t>
            </a:r>
            <a:r>
              <a:rPr lang="en-US" sz="2000" b="1" dirty="0">
                <a:latin typeface="Times New Roman" panose="02020603050405020304" pitchFamily="18" charset="0"/>
                <a:cs typeface="Times New Roman" panose="02020603050405020304" pitchFamily="18" charset="0"/>
              </a:rPr>
              <a:t>Structured, Prioritized Intelligence</a:t>
            </a:r>
            <a:r>
              <a:rPr lang="en-US" sz="2000" dirty="0">
                <a:latin typeface="Times New Roman" panose="02020603050405020304" pitchFamily="18" charset="0"/>
                <a:cs typeface="Times New Roman" panose="02020603050405020304" pitchFamily="18" charset="0"/>
              </a:rPr>
              <a:t> for emergency decision-making.</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EC4BF876-2195-4A18-CEA2-DE4842A73BBC}"/>
              </a:ext>
              <a:ext uri="{C183D7F6-B498-43B3-948B-1728B52AA6E4}">
                <adec:decorative xmlns:adec="http://schemas.microsoft.com/office/drawing/2017/decorative" val="1"/>
              </a:ext>
            </a:extLst>
          </p:cNvPr>
          <p:cNvSpPr/>
          <p:nvPr/>
        </p:nvSpPr>
        <p:spPr>
          <a:xfrm>
            <a:off x="754821" y="5333752"/>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4">
            <a:extLst>
              <a:ext uri="{FF2B5EF4-FFF2-40B4-BE49-F238E27FC236}">
                <a16:creationId xmlns:a16="http://schemas.microsoft.com/office/drawing/2014/main" id="{B7C10C2B-1E1E-01C5-715C-B762B9115F0E}"/>
              </a:ext>
            </a:extLst>
          </p:cNvPr>
          <p:cNvSpPr>
            <a:spLocks noChangeArrowheads="1"/>
          </p:cNvSpPr>
          <p:nvPr/>
        </p:nvSpPr>
        <p:spPr bwMode="auto">
          <a:xfrm>
            <a:off x="1273364" y="5106010"/>
            <a:ext cx="1057749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latin typeface="Times New Roman" panose="02020603050405020304" pitchFamily="18" charset="0"/>
                <a:cs typeface="Times New Roman" panose="02020603050405020304" pitchFamily="18" charset="0"/>
              </a:rPr>
              <a:t>Moving from </a:t>
            </a:r>
            <a:r>
              <a:rPr lang="en-US" sz="2000" b="1" dirty="0">
                <a:latin typeface="Times New Roman" panose="02020603050405020304" pitchFamily="18" charset="0"/>
                <a:cs typeface="Times New Roman" panose="02020603050405020304" pitchFamily="18" charset="0"/>
              </a:rPr>
              <a:t>Reactive</a:t>
            </a:r>
            <a:r>
              <a:rPr lang="en-US" sz="2000" dirty="0">
                <a:latin typeface="Times New Roman" panose="02020603050405020304" pitchFamily="18" charset="0"/>
                <a:cs typeface="Times New Roman" panose="02020603050405020304" pitchFamily="18" charset="0"/>
              </a:rPr>
              <a:t> (scrolling through feeds) to </a:t>
            </a:r>
            <a:r>
              <a:rPr lang="en-US" sz="2000" b="1" dirty="0">
                <a:latin typeface="Times New Roman" panose="02020603050405020304" pitchFamily="18" charset="0"/>
                <a:cs typeface="Times New Roman" panose="02020603050405020304" pitchFamily="18" charset="0"/>
              </a:rPr>
              <a:t>Proactive</a:t>
            </a:r>
            <a:r>
              <a:rPr lang="en-US" sz="2000" dirty="0">
                <a:latin typeface="Times New Roman" panose="02020603050405020304" pitchFamily="18" charset="0"/>
                <a:cs typeface="Times New Roman" panose="02020603050405020304" pitchFamily="18" charset="0"/>
              </a:rPr>
              <a:t> (receiving a prioritized list of high-urgency zones).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D8718F79-241D-496E-F82E-C4DF5C3AB918}"/>
              </a:ext>
            </a:extLst>
          </p:cNvPr>
          <p:cNvSpPr txBox="1"/>
          <p:nvPr/>
        </p:nvSpPr>
        <p:spPr>
          <a:xfrm>
            <a:off x="401216" y="1211446"/>
            <a:ext cx="11364686" cy="1107996"/>
          </a:xfrm>
          <a:prstGeom prst="rect">
            <a:avLst/>
          </a:prstGeom>
          <a:noFill/>
        </p:spPr>
        <p:txBody>
          <a:bodyPr wrap="square">
            <a:spAutoFit/>
          </a:bodyPr>
          <a:lstStyle/>
          <a:p>
            <a:pPr algn="just"/>
            <a:r>
              <a:rPr lang="en-US" sz="2200" dirty="0">
                <a:latin typeface="Times New Roman" panose="02020603050405020304" pitchFamily="18" charset="0"/>
                <a:cs typeface="Times New Roman" panose="02020603050405020304" pitchFamily="18" charset="0"/>
              </a:rPr>
              <a:t>Unimodal analysis (text-only or image-only) often fails to capture the full context of a crisis. For instance, a text post might be vague without its accompanying image, or an image might be non-informative without its caption.</a:t>
            </a:r>
          </a:p>
        </p:txBody>
      </p:sp>
      <p:sp>
        <p:nvSpPr>
          <p:cNvPr id="10" name="Footer Placeholder 9">
            <a:extLst>
              <a:ext uri="{FF2B5EF4-FFF2-40B4-BE49-F238E27FC236}">
                <a16:creationId xmlns:a16="http://schemas.microsoft.com/office/drawing/2014/main" id="{E6B8686F-CBA0-8057-42C1-0E54A4819BFD}"/>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4108743176"/>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down)">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down)">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down)">
                                      <p:cBhvr>
                                        <p:cTn id="2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p:bldP spid="16" grpId="0"/>
      <p:bldP spid="1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44327-7DFB-7C35-5BA4-63271871CD17}"/>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7487C610-4EBD-2B3F-A33A-38B1B9ECD5FF}"/>
              </a:ext>
            </a:extLst>
          </p:cNvPr>
          <p:cNvSpPr>
            <a:spLocks noGrp="1"/>
          </p:cNvSpPr>
          <p:nvPr>
            <p:ph type="dt" sz="half" idx="10"/>
          </p:nvPr>
        </p:nvSpPr>
        <p:spPr/>
        <p:txBody>
          <a:bodyPr/>
          <a:lstStyle/>
          <a:p>
            <a:fld id="{F51AB235-0B23-4FB9-8EA7-3D428B2CF5E1}" type="datetime1">
              <a:rPr lang="en-US" smtClean="0"/>
              <a:t>1/18/2026</a:t>
            </a:fld>
            <a:endParaRPr lang="en-US" dirty="0"/>
          </a:p>
        </p:txBody>
      </p:sp>
      <p:sp>
        <p:nvSpPr>
          <p:cNvPr id="3" name="Slide Number Placeholder 2">
            <a:extLst>
              <a:ext uri="{FF2B5EF4-FFF2-40B4-BE49-F238E27FC236}">
                <a16:creationId xmlns:a16="http://schemas.microsoft.com/office/drawing/2014/main" id="{394E512D-86BA-0C1C-8E76-52D17F588480}"/>
              </a:ext>
            </a:extLst>
          </p:cNvPr>
          <p:cNvSpPr>
            <a:spLocks noGrp="1"/>
          </p:cNvSpPr>
          <p:nvPr>
            <p:ph type="sldNum" sz="quarter" idx="12"/>
          </p:nvPr>
        </p:nvSpPr>
        <p:spPr/>
        <p:txBody>
          <a:bodyPr/>
          <a:lstStyle/>
          <a:p>
            <a:fld id="{06FEDF93-2BFD-41CA-ABC7-B039102F3792}" type="slidenum">
              <a:rPr lang="en-US" smtClean="0"/>
              <a:t>6</a:t>
            </a:fld>
            <a:endParaRPr lang="en-US" dirty="0"/>
          </a:p>
        </p:txBody>
      </p:sp>
      <p:sp>
        <p:nvSpPr>
          <p:cNvPr id="4" name="Title 1">
            <a:extLst>
              <a:ext uri="{FF2B5EF4-FFF2-40B4-BE49-F238E27FC236}">
                <a16:creationId xmlns:a16="http://schemas.microsoft.com/office/drawing/2014/main" id="{CCB0EAD9-D54C-244D-78F6-8849A24C4000}"/>
              </a:ext>
            </a:extLst>
          </p:cNvPr>
          <p:cNvSpPr txBox="1">
            <a:spLocks/>
          </p:cNvSpPr>
          <p:nvPr/>
        </p:nvSpPr>
        <p:spPr>
          <a:xfrm>
            <a:off x="228600" y="382221"/>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5" name="Straight Connector 4">
            <a:extLst>
              <a:ext uri="{FF2B5EF4-FFF2-40B4-BE49-F238E27FC236}">
                <a16:creationId xmlns:a16="http://schemas.microsoft.com/office/drawing/2014/main" id="{E543EA6B-F4C7-A0EB-A3F2-8BC1814CF2EC}"/>
              </a:ext>
              <a:ext uri="{C183D7F6-B498-43B3-948B-1728B52AA6E4}">
                <adec:decorative xmlns:adec="http://schemas.microsoft.com/office/drawing/2017/decorative" val="1"/>
              </a:ext>
            </a:extLst>
          </p:cNvPr>
          <p:cNvCxnSpPr>
            <a:cxnSpLocks/>
          </p:cNvCxnSpPr>
          <p:nvPr/>
        </p:nvCxnSpPr>
        <p:spPr>
          <a:xfrm>
            <a:off x="594359" y="609699"/>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32E0557F-2C09-A5C7-E846-A2CBE07FC76D}"/>
              </a:ext>
            </a:extLst>
          </p:cNvPr>
          <p:cNvSpPr txBox="1"/>
          <p:nvPr/>
        </p:nvSpPr>
        <p:spPr>
          <a:xfrm>
            <a:off x="4933803" y="382221"/>
            <a:ext cx="2645458" cy="461665"/>
          </a:xfrm>
          <a:prstGeom prst="rect">
            <a:avLst/>
          </a:prstGeom>
          <a:noFill/>
        </p:spPr>
        <p:txBody>
          <a:bodyPr wrap="square">
            <a:spAutoFit/>
          </a:body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MOTIVATION</a:t>
            </a:r>
            <a:endParaRPr lang="en-US" sz="2400" b="1" dirty="0"/>
          </a:p>
        </p:txBody>
      </p:sp>
      <p:cxnSp>
        <p:nvCxnSpPr>
          <p:cNvPr id="7" name="Straight Connector 6">
            <a:extLst>
              <a:ext uri="{FF2B5EF4-FFF2-40B4-BE49-F238E27FC236}">
                <a16:creationId xmlns:a16="http://schemas.microsoft.com/office/drawing/2014/main" id="{04BBE112-F23C-4687-88CB-F9174F90AA5E}"/>
              </a:ext>
              <a:ext uri="{C183D7F6-B498-43B3-948B-1728B52AA6E4}">
                <adec:decorative xmlns:adec="http://schemas.microsoft.com/office/drawing/2017/decorative" val="1"/>
              </a:ext>
            </a:extLst>
          </p:cNvPr>
          <p:cNvCxnSpPr>
            <a:cxnSpLocks/>
          </p:cNvCxnSpPr>
          <p:nvPr/>
        </p:nvCxnSpPr>
        <p:spPr>
          <a:xfrm>
            <a:off x="7764634" y="609699"/>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0" name="Date Placeholder 1">
            <a:extLst>
              <a:ext uri="{FF2B5EF4-FFF2-40B4-BE49-F238E27FC236}">
                <a16:creationId xmlns:a16="http://schemas.microsoft.com/office/drawing/2014/main" id="{DB98A003-6E7F-8A6F-D60E-40E0F8577073}"/>
              </a:ext>
            </a:extLst>
          </p:cNvPr>
          <p:cNvSpPr txBox="1">
            <a:spLocks/>
          </p:cNvSpPr>
          <p:nvPr/>
        </p:nvSpPr>
        <p:spPr>
          <a:xfrm>
            <a:off x="838200" y="6356350"/>
            <a:ext cx="27432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04/28/2024</a:t>
            </a:r>
            <a:endParaRPr lang="en-US" dirty="0"/>
          </a:p>
        </p:txBody>
      </p:sp>
      <p:sp>
        <p:nvSpPr>
          <p:cNvPr id="11" name="Slide Number Placeholder 2">
            <a:extLst>
              <a:ext uri="{FF2B5EF4-FFF2-40B4-BE49-F238E27FC236}">
                <a16:creationId xmlns:a16="http://schemas.microsoft.com/office/drawing/2014/main" id="{8E64075B-21EA-2F1A-12AA-7FB145D76202}"/>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6FEDF93-2BFD-41CA-ABC7-B039102F3792}" type="slidenum">
              <a:rPr lang="en-US" smtClean="0"/>
              <a:pPr/>
              <a:t>6</a:t>
            </a:fld>
            <a:endParaRPr lang="en-US" dirty="0"/>
          </a:p>
        </p:txBody>
      </p:sp>
      <p:pic>
        <p:nvPicPr>
          <p:cNvPr id="13" name="Google Shape;115;p15" descr="image.png">
            <a:extLst>
              <a:ext uri="{FF2B5EF4-FFF2-40B4-BE49-F238E27FC236}">
                <a16:creationId xmlns:a16="http://schemas.microsoft.com/office/drawing/2014/main" id="{1A5E4EF1-3BC0-DDEF-9F5E-7C1BA8A8D45E}"/>
              </a:ext>
            </a:extLst>
          </p:cNvPr>
          <p:cNvPicPr preferRelativeResize="0"/>
          <p:nvPr/>
        </p:nvPicPr>
        <p:blipFill rotWithShape="1">
          <a:blip r:embed="rId2">
            <a:alphaModFix/>
          </a:blip>
          <a:srcRect/>
          <a:stretch/>
        </p:blipFill>
        <p:spPr>
          <a:xfrm>
            <a:off x="571500" y="1400175"/>
            <a:ext cx="5286375" cy="3200400"/>
          </a:xfrm>
          <a:prstGeom prst="rect">
            <a:avLst/>
          </a:prstGeom>
          <a:noFill/>
          <a:ln>
            <a:noFill/>
          </a:ln>
        </p:spPr>
      </p:pic>
      <p:pic>
        <p:nvPicPr>
          <p:cNvPr id="19" name="Google Shape;116;p15" descr="image.png">
            <a:extLst>
              <a:ext uri="{FF2B5EF4-FFF2-40B4-BE49-F238E27FC236}">
                <a16:creationId xmlns:a16="http://schemas.microsoft.com/office/drawing/2014/main" id="{FEB95180-C7CA-435A-84B2-64EC76826C03}"/>
              </a:ext>
            </a:extLst>
          </p:cNvPr>
          <p:cNvPicPr preferRelativeResize="0"/>
          <p:nvPr/>
        </p:nvPicPr>
        <p:blipFill rotWithShape="1">
          <a:blip r:embed="rId3">
            <a:alphaModFix/>
          </a:blip>
          <a:srcRect/>
          <a:stretch/>
        </p:blipFill>
        <p:spPr>
          <a:xfrm>
            <a:off x="581025" y="1409700"/>
            <a:ext cx="5267325" cy="3181350"/>
          </a:xfrm>
          <a:prstGeom prst="rect">
            <a:avLst/>
          </a:prstGeom>
          <a:noFill/>
          <a:ln>
            <a:noFill/>
          </a:ln>
        </p:spPr>
      </p:pic>
      <p:sp>
        <p:nvSpPr>
          <p:cNvPr id="21" name="Google Shape;118;p15">
            <a:extLst>
              <a:ext uri="{FF2B5EF4-FFF2-40B4-BE49-F238E27FC236}">
                <a16:creationId xmlns:a16="http://schemas.microsoft.com/office/drawing/2014/main" id="{1A9F777C-C152-7486-A887-06CB10925144}"/>
              </a:ext>
            </a:extLst>
          </p:cNvPr>
          <p:cNvSpPr txBox="1"/>
          <p:nvPr/>
        </p:nvSpPr>
        <p:spPr>
          <a:xfrm>
            <a:off x="6045225" y="1617062"/>
            <a:ext cx="5867400" cy="830997"/>
          </a:xfrm>
          <a:prstGeom prst="rect">
            <a:avLst/>
          </a:prstGeom>
          <a:noFill/>
          <a:ln>
            <a:noFill/>
          </a:ln>
        </p:spPr>
        <p:txBody>
          <a:bodyPr spcFirstLastPara="1" wrap="square" lIns="0" tIns="0" rIns="0" bIns="0" anchor="t" anchorCtr="0">
            <a:spAutoFit/>
          </a:bodyPr>
          <a:lstStyle/>
          <a:p>
            <a:pPr marL="0" marR="0" lvl="0" indent="0" algn="l" rtl="0">
              <a:lnSpc>
                <a:spcPct val="149964"/>
              </a:lnSpc>
              <a:spcBef>
                <a:spcPts val="0"/>
              </a:spcBef>
              <a:spcAft>
                <a:spcPts val="0"/>
              </a:spcAft>
              <a:buNone/>
            </a:pPr>
            <a:r>
              <a:rPr lang="en-US" b="0" i="0" u="none" strike="noStrike" cap="none" dirty="0">
                <a:solidFill>
                  <a:srgbClr val="2D3748"/>
                </a:solidFill>
                <a:latin typeface="Times New Roman" panose="02020603050405020304" pitchFamily="18" charset="0"/>
                <a:ea typeface="DM Sans"/>
                <a:cs typeface="Times New Roman" panose="02020603050405020304" pitchFamily="18" charset="0"/>
                <a:sym typeface="DM Sans"/>
              </a:rPr>
              <a:t>A rescue drone in a network-destroyed flood zone must process data </a:t>
            </a:r>
            <a:r>
              <a:rPr lang="en-US" b="1" i="0" u="none" strike="noStrike" cap="none" dirty="0">
                <a:solidFill>
                  <a:srgbClr val="2D3748"/>
                </a:solidFill>
                <a:latin typeface="Times New Roman" panose="02020603050405020304" pitchFamily="18" charset="0"/>
                <a:ea typeface="DM Sans"/>
                <a:cs typeface="Times New Roman" panose="02020603050405020304" pitchFamily="18" charset="0"/>
                <a:sym typeface="DM Sans"/>
              </a:rPr>
              <a:t>on-board</a:t>
            </a:r>
            <a:r>
              <a:rPr lang="en-US" b="0" i="0" u="none" strike="noStrike" cap="none" dirty="0">
                <a:solidFill>
                  <a:srgbClr val="2D3748"/>
                </a:solidFill>
                <a:latin typeface="Times New Roman" panose="02020603050405020304" pitchFamily="18" charset="0"/>
                <a:ea typeface="DM Sans"/>
                <a:cs typeface="Times New Roman" panose="02020603050405020304" pitchFamily="18" charset="0"/>
                <a:sym typeface="DM Sans"/>
              </a:rPr>
              <a:t> to identify survivors or road damage.</a:t>
            </a:r>
            <a:endParaRPr dirty="0">
              <a:latin typeface="Times New Roman" panose="02020603050405020304" pitchFamily="18" charset="0"/>
              <a:cs typeface="Times New Roman" panose="02020603050405020304" pitchFamily="18" charset="0"/>
            </a:endParaRPr>
          </a:p>
        </p:txBody>
      </p:sp>
      <p:sp>
        <p:nvSpPr>
          <p:cNvPr id="22" name="Google Shape;119;p15">
            <a:extLst>
              <a:ext uri="{FF2B5EF4-FFF2-40B4-BE49-F238E27FC236}">
                <a16:creationId xmlns:a16="http://schemas.microsoft.com/office/drawing/2014/main" id="{A38F422A-A9F2-84F3-148B-68379D63A58D}"/>
              </a:ext>
            </a:extLst>
          </p:cNvPr>
          <p:cNvSpPr txBox="1"/>
          <p:nvPr/>
        </p:nvSpPr>
        <p:spPr>
          <a:xfrm>
            <a:off x="6502425" y="2822526"/>
            <a:ext cx="4953000" cy="830997"/>
          </a:xfrm>
          <a:prstGeom prst="rect">
            <a:avLst/>
          </a:prstGeom>
          <a:noFill/>
          <a:ln>
            <a:noFill/>
          </a:ln>
        </p:spPr>
        <p:txBody>
          <a:bodyPr spcFirstLastPara="1" wrap="square" lIns="0" tIns="0" rIns="0" bIns="0" anchor="t" anchorCtr="0">
            <a:spAutoFit/>
          </a:bodyPr>
          <a:lstStyle/>
          <a:p>
            <a:pPr marL="0" marR="0" lvl="0" indent="0" algn="l" rtl="0">
              <a:lnSpc>
                <a:spcPct val="149964"/>
              </a:lnSpc>
              <a:spcBef>
                <a:spcPts val="0"/>
              </a:spcBef>
              <a:spcAft>
                <a:spcPts val="0"/>
              </a:spcAft>
              <a:buNone/>
            </a:pPr>
            <a:r>
              <a:rPr lang="en-US" b="1" i="0" u="none" strike="noStrike" cap="none" dirty="0">
                <a:solidFill>
                  <a:srgbClr val="2D3748"/>
                </a:solidFill>
                <a:latin typeface="Times New Roman" panose="02020603050405020304" pitchFamily="18" charset="0"/>
                <a:ea typeface="DM Sans"/>
                <a:cs typeface="Times New Roman" panose="02020603050405020304" pitchFamily="18" charset="0"/>
                <a:sym typeface="DM Sans"/>
              </a:rPr>
              <a:t>Computational Heaviness:</a:t>
            </a:r>
            <a:r>
              <a:rPr lang="en-US" b="0" i="0" u="none" strike="noStrike" cap="none" dirty="0">
                <a:solidFill>
                  <a:srgbClr val="2D3748"/>
                </a:solidFill>
                <a:latin typeface="Times New Roman" panose="02020603050405020304" pitchFamily="18" charset="0"/>
                <a:ea typeface="DM Sans"/>
                <a:cs typeface="Times New Roman" panose="02020603050405020304" pitchFamily="18" charset="0"/>
                <a:sym typeface="DM Sans"/>
              </a:rPr>
              <a:t> Existing models require powerful server GPUs (NVIDIA A100s).</a:t>
            </a:r>
            <a:endParaRPr dirty="0">
              <a:latin typeface="Times New Roman" panose="02020603050405020304" pitchFamily="18" charset="0"/>
              <a:cs typeface="Times New Roman" panose="02020603050405020304" pitchFamily="18" charset="0"/>
            </a:endParaRPr>
          </a:p>
        </p:txBody>
      </p:sp>
      <p:sp>
        <p:nvSpPr>
          <p:cNvPr id="23" name="Google Shape;120;p15">
            <a:extLst>
              <a:ext uri="{FF2B5EF4-FFF2-40B4-BE49-F238E27FC236}">
                <a16:creationId xmlns:a16="http://schemas.microsoft.com/office/drawing/2014/main" id="{F79628AD-B58B-2D74-EA70-43ADC5712856}"/>
              </a:ext>
            </a:extLst>
          </p:cNvPr>
          <p:cNvSpPr txBox="1"/>
          <p:nvPr/>
        </p:nvSpPr>
        <p:spPr>
          <a:xfrm>
            <a:off x="1009415" y="4971411"/>
            <a:ext cx="10071620" cy="415498"/>
          </a:xfrm>
          <a:prstGeom prst="rect">
            <a:avLst/>
          </a:prstGeom>
          <a:noFill/>
          <a:ln>
            <a:noFill/>
          </a:ln>
        </p:spPr>
        <p:txBody>
          <a:bodyPr spcFirstLastPara="1" wrap="square" lIns="0" tIns="0" rIns="0" bIns="0" anchor="t" anchorCtr="0">
            <a:spAutoFit/>
          </a:bodyPr>
          <a:lstStyle/>
          <a:p>
            <a:pPr marL="0" marR="0" lvl="0" indent="0" algn="l" rtl="0">
              <a:lnSpc>
                <a:spcPct val="149964"/>
              </a:lnSpc>
              <a:spcBef>
                <a:spcPts val="0"/>
              </a:spcBef>
              <a:spcAft>
                <a:spcPts val="0"/>
              </a:spcAft>
              <a:buNone/>
            </a:pPr>
            <a:r>
              <a:rPr lang="en-US" b="1" i="0" u="none" strike="noStrike" cap="none" dirty="0">
                <a:solidFill>
                  <a:srgbClr val="2D3748"/>
                </a:solidFill>
                <a:latin typeface="Times New Roman" panose="02020603050405020304" pitchFamily="18" charset="0"/>
                <a:ea typeface="DM Sans"/>
                <a:cs typeface="Times New Roman" panose="02020603050405020304" pitchFamily="18" charset="0"/>
                <a:sym typeface="DM Sans"/>
              </a:rPr>
              <a:t>Semantic Ambiguity:</a:t>
            </a:r>
            <a:r>
              <a:rPr lang="en-US" b="0" i="0" u="none" strike="noStrike" cap="none" dirty="0">
                <a:solidFill>
                  <a:srgbClr val="2D3748"/>
                </a:solidFill>
                <a:latin typeface="Times New Roman" panose="02020603050405020304" pitchFamily="18" charset="0"/>
                <a:ea typeface="DM Sans"/>
                <a:cs typeface="Times New Roman" panose="02020603050405020304" pitchFamily="18" charset="0"/>
                <a:sym typeface="DM Sans"/>
              </a:rPr>
              <a:t> Text/Image in isolation often fails context. "Water is rising" + (Flood Photo) = Urgent.</a:t>
            </a:r>
            <a:endParaRPr dirty="0">
              <a:latin typeface="Times New Roman" panose="02020603050405020304" pitchFamily="18" charset="0"/>
              <a:cs typeface="Times New Roman" panose="02020603050405020304" pitchFamily="18" charset="0"/>
            </a:endParaRPr>
          </a:p>
        </p:txBody>
      </p:sp>
      <p:sp>
        <p:nvSpPr>
          <p:cNvPr id="24" name="Google Shape;121;p15">
            <a:extLst>
              <a:ext uri="{FF2B5EF4-FFF2-40B4-BE49-F238E27FC236}">
                <a16:creationId xmlns:a16="http://schemas.microsoft.com/office/drawing/2014/main" id="{AEA51C4E-C818-33D1-FB79-BD60FB9944F0}"/>
              </a:ext>
            </a:extLst>
          </p:cNvPr>
          <p:cNvSpPr txBox="1"/>
          <p:nvPr/>
        </p:nvSpPr>
        <p:spPr>
          <a:xfrm>
            <a:off x="1009415" y="5526965"/>
            <a:ext cx="8218405" cy="415498"/>
          </a:xfrm>
          <a:prstGeom prst="rect">
            <a:avLst/>
          </a:prstGeom>
          <a:noFill/>
          <a:ln>
            <a:noFill/>
          </a:ln>
        </p:spPr>
        <p:txBody>
          <a:bodyPr spcFirstLastPara="1" wrap="square" lIns="0" tIns="0" rIns="0" bIns="0" anchor="t" anchorCtr="0">
            <a:spAutoFit/>
          </a:bodyPr>
          <a:lstStyle/>
          <a:p>
            <a:pPr marL="0" marR="0" lvl="0" indent="0" algn="l" rtl="0">
              <a:lnSpc>
                <a:spcPct val="149964"/>
              </a:lnSpc>
              <a:spcBef>
                <a:spcPts val="0"/>
              </a:spcBef>
              <a:spcAft>
                <a:spcPts val="0"/>
              </a:spcAft>
              <a:buNone/>
            </a:pPr>
            <a:r>
              <a:rPr lang="en-US" b="1" i="0" u="none" strike="noStrike" cap="none" dirty="0">
                <a:solidFill>
                  <a:srgbClr val="2D3748"/>
                </a:solidFill>
                <a:latin typeface="Times New Roman" panose="02020603050405020304" pitchFamily="18" charset="0"/>
                <a:ea typeface="DM Sans"/>
                <a:cs typeface="Times New Roman" panose="02020603050405020304" pitchFamily="18" charset="0"/>
                <a:sym typeface="DM Sans"/>
              </a:rPr>
              <a:t>The Solution:</a:t>
            </a:r>
            <a:r>
              <a:rPr lang="en-US" b="0" i="0" u="none" strike="noStrike" cap="none" dirty="0">
                <a:solidFill>
                  <a:srgbClr val="2D3748"/>
                </a:solidFill>
                <a:latin typeface="Times New Roman" panose="02020603050405020304" pitchFamily="18" charset="0"/>
                <a:ea typeface="DM Sans"/>
                <a:cs typeface="Times New Roman" panose="02020603050405020304" pitchFamily="18" charset="0"/>
                <a:sym typeface="DM Sans"/>
              </a:rPr>
              <a:t> Efficient Multimodal Learning via CLIP architecture.</a:t>
            </a:r>
            <a:endParaRPr dirty="0">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B822B210-E59B-A132-A46B-7837B7772BB7}"/>
              </a:ext>
              <a:ext uri="{C183D7F6-B498-43B3-948B-1728B52AA6E4}">
                <adec:decorative xmlns:adec="http://schemas.microsoft.com/office/drawing/2017/decorative" val="1"/>
              </a:ext>
            </a:extLst>
          </p:cNvPr>
          <p:cNvSpPr/>
          <p:nvPr/>
        </p:nvSpPr>
        <p:spPr>
          <a:xfrm>
            <a:off x="5961110" y="2847765"/>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95B9DBA5-8433-6BDF-342F-179BBFD70213}"/>
              </a:ext>
              <a:ext uri="{C183D7F6-B498-43B3-948B-1728B52AA6E4}">
                <adec:decorative xmlns:adec="http://schemas.microsoft.com/office/drawing/2017/decorative" val="1"/>
              </a:ext>
            </a:extLst>
          </p:cNvPr>
          <p:cNvSpPr/>
          <p:nvPr/>
        </p:nvSpPr>
        <p:spPr>
          <a:xfrm>
            <a:off x="542778" y="5588765"/>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37EA94FA-F4B2-5854-41B1-5B9517BF67DE}"/>
              </a:ext>
              <a:ext uri="{C183D7F6-B498-43B3-948B-1728B52AA6E4}">
                <adec:decorative xmlns:adec="http://schemas.microsoft.com/office/drawing/2017/decorative" val="1"/>
              </a:ext>
            </a:extLst>
          </p:cNvPr>
          <p:cNvSpPr/>
          <p:nvPr/>
        </p:nvSpPr>
        <p:spPr>
          <a:xfrm>
            <a:off x="542778" y="5014462"/>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Footer Placeholder 13">
            <a:extLst>
              <a:ext uri="{FF2B5EF4-FFF2-40B4-BE49-F238E27FC236}">
                <a16:creationId xmlns:a16="http://schemas.microsoft.com/office/drawing/2014/main" id="{B831BBFD-3645-C19A-1B63-24194F0121B4}"/>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1373198004"/>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228600" y="424424"/>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chemeClr val="tx1">
                    <a:lumMod val="75000"/>
                    <a:lumOff val="25000"/>
                  </a:schemeClr>
                </a:solidFill>
              </a:rPr>
              <a:t> </a:t>
            </a: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LITERATURE REVIEW</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182880" y="609699"/>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8373061" y="609699"/>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4" name="Oval 3">
            <a:extLst>
              <a:ext uri="{FF2B5EF4-FFF2-40B4-BE49-F238E27FC236}">
                <a16:creationId xmlns:a16="http://schemas.microsoft.com/office/drawing/2014/main" id="{BB9AF333-C007-76DB-CCD3-39C1DAEFADC2}"/>
              </a:ext>
              <a:ext uri="{C183D7F6-B498-43B3-948B-1728B52AA6E4}">
                <adec:decorative xmlns:adec="http://schemas.microsoft.com/office/drawing/2017/decorative" val="1"/>
              </a:ext>
            </a:extLst>
          </p:cNvPr>
          <p:cNvSpPr/>
          <p:nvPr/>
        </p:nvSpPr>
        <p:spPr>
          <a:xfrm>
            <a:off x="591801" y="1774216"/>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79F44F0F-B25C-202C-5B97-334146C20495}"/>
              </a:ext>
            </a:extLst>
          </p:cNvPr>
          <p:cNvSpPr txBox="1"/>
          <p:nvPr/>
        </p:nvSpPr>
        <p:spPr>
          <a:xfrm>
            <a:off x="1150027" y="1748707"/>
            <a:ext cx="10450172" cy="707886"/>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Title: </a:t>
            </a:r>
            <a:r>
              <a:rPr lang="en-US" sz="2000" b="1" dirty="0" err="1">
                <a:latin typeface="Times New Roman" panose="02020603050405020304" pitchFamily="18" charset="0"/>
                <a:cs typeface="Times New Roman" panose="02020603050405020304" pitchFamily="18" charset="0"/>
              </a:rPr>
              <a:t>BanglaMM</a:t>
            </a:r>
            <a:r>
              <a:rPr lang="en-US" sz="2000" b="1" dirty="0">
                <a:latin typeface="Times New Roman" panose="02020603050405020304" pitchFamily="18" charset="0"/>
                <a:cs typeface="Times New Roman" panose="02020603050405020304" pitchFamily="18" charset="0"/>
              </a:rPr>
              <a:t>-Disaster: A Multimodal Transformer-Based Deep Learning Framework for Multiclass Disaster Classification in Bangla</a:t>
            </a:r>
            <a:endParaRPr lang="en-US" dirty="0"/>
          </a:p>
        </p:txBody>
      </p:sp>
      <p:sp>
        <p:nvSpPr>
          <p:cNvPr id="7" name="Oval 6">
            <a:extLst>
              <a:ext uri="{FF2B5EF4-FFF2-40B4-BE49-F238E27FC236}">
                <a16:creationId xmlns:a16="http://schemas.microsoft.com/office/drawing/2014/main" id="{07469937-D86A-167C-56F2-4B1E270A25F1}"/>
              </a:ext>
              <a:ext uri="{C183D7F6-B498-43B3-948B-1728B52AA6E4}">
                <adec:decorative xmlns:adec="http://schemas.microsoft.com/office/drawing/2017/decorative" val="1"/>
              </a:ext>
            </a:extLst>
          </p:cNvPr>
          <p:cNvSpPr/>
          <p:nvPr/>
        </p:nvSpPr>
        <p:spPr>
          <a:xfrm>
            <a:off x="5416943" y="861916"/>
            <a:ext cx="814900" cy="77559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mj-lt"/>
              </a:rPr>
              <a:t>01</a:t>
            </a:r>
          </a:p>
        </p:txBody>
      </p:sp>
      <p:sp>
        <p:nvSpPr>
          <p:cNvPr id="8" name="Oval 7">
            <a:extLst>
              <a:ext uri="{FF2B5EF4-FFF2-40B4-BE49-F238E27FC236}">
                <a16:creationId xmlns:a16="http://schemas.microsoft.com/office/drawing/2014/main" id="{956B120C-7B5D-AF73-7552-0812753EF976}"/>
              </a:ext>
              <a:ext uri="{C183D7F6-B498-43B3-948B-1728B52AA6E4}">
                <adec:decorative xmlns:adec="http://schemas.microsoft.com/office/drawing/2017/decorative" val="1"/>
              </a:ext>
            </a:extLst>
          </p:cNvPr>
          <p:cNvSpPr/>
          <p:nvPr/>
        </p:nvSpPr>
        <p:spPr>
          <a:xfrm>
            <a:off x="591801" y="2603526"/>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4A0AB298-E22A-FB45-B951-2D608EDEA475}"/>
              </a:ext>
            </a:extLst>
          </p:cNvPr>
          <p:cNvSpPr txBox="1"/>
          <p:nvPr/>
        </p:nvSpPr>
        <p:spPr>
          <a:xfrm>
            <a:off x="1135786" y="3264993"/>
            <a:ext cx="10596709" cy="1477328"/>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Dataset: </a:t>
            </a:r>
            <a:r>
              <a:rPr lang="en-US" dirty="0">
                <a:latin typeface="Times New Roman" panose="02020603050405020304" pitchFamily="18" charset="0"/>
                <a:cs typeface="Times New Roman" panose="02020603050405020304" pitchFamily="18" charset="0"/>
              </a:rPr>
              <a:t>The authors constructed a new dataset of 5,037 Bangla social media posts, each containing an image and a caption, annotated into nine disaster-related categories (e.g., Floods, Agricultural Damage).</a:t>
            </a:r>
          </a:p>
          <a:p>
            <a:r>
              <a:rPr lang="en-US" b="1" dirty="0">
                <a:latin typeface="Times New Roman" panose="02020603050405020304" pitchFamily="18" charset="0"/>
                <a:cs typeface="Times New Roman" panose="02020603050405020304" pitchFamily="18" charset="0"/>
              </a:rPr>
              <a:t>Methodology: </a:t>
            </a:r>
            <a:r>
              <a:rPr lang="en-US" dirty="0">
                <a:latin typeface="Times New Roman" panose="02020603050405020304" pitchFamily="18" charset="0"/>
                <a:cs typeface="Times New Roman" panose="02020603050405020304" pitchFamily="18" charset="0"/>
              </a:rPr>
              <a:t>The framework integrates transformer-based text encoders (</a:t>
            </a:r>
            <a:r>
              <a:rPr lang="en-US" dirty="0" err="1">
                <a:latin typeface="Times New Roman" panose="02020603050405020304" pitchFamily="18" charset="0"/>
                <a:cs typeface="Times New Roman" panose="02020603050405020304" pitchFamily="18" charset="0"/>
              </a:rPr>
              <a:t>BanglaBERT</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mBERT</a:t>
            </a:r>
            <a:r>
              <a:rPr lang="en-US" dirty="0">
                <a:latin typeface="Times New Roman" panose="02020603050405020304" pitchFamily="18" charset="0"/>
                <a:cs typeface="Times New Roman" panose="02020603050405020304" pitchFamily="18" charset="0"/>
              </a:rPr>
              <a:t>, and XLM-</a:t>
            </a:r>
            <a:r>
              <a:rPr lang="en-US" dirty="0" err="1">
                <a:latin typeface="Times New Roman" panose="02020603050405020304" pitchFamily="18" charset="0"/>
                <a:cs typeface="Times New Roman" panose="02020603050405020304" pitchFamily="18" charset="0"/>
              </a:rPr>
              <a:t>ROBERTa</a:t>
            </a:r>
            <a:r>
              <a:rPr lang="en-US" dirty="0">
                <a:latin typeface="Times New Roman" panose="02020603050405020304" pitchFamily="18" charset="0"/>
                <a:cs typeface="Times New Roman" panose="02020603050405020304" pitchFamily="18" charset="0"/>
              </a:rPr>
              <a:t>) with CNN backbones (ResNet50, DenseNet169, MobileNetV2). It employs early fusion through feature concatenation to enable cross-modal feature interactions, achieving a best accuracy of 83.76%.</a:t>
            </a:r>
          </a:p>
        </p:txBody>
      </p:sp>
      <p:sp>
        <p:nvSpPr>
          <p:cNvPr id="10" name="TextBox 9">
            <a:extLst>
              <a:ext uri="{FF2B5EF4-FFF2-40B4-BE49-F238E27FC236}">
                <a16:creationId xmlns:a16="http://schemas.microsoft.com/office/drawing/2014/main" id="{D2848A77-EDE9-08A2-81B6-EC8013D4B3FA}"/>
              </a:ext>
            </a:extLst>
          </p:cNvPr>
          <p:cNvSpPr txBox="1"/>
          <p:nvPr/>
        </p:nvSpPr>
        <p:spPr>
          <a:xfrm>
            <a:off x="1150027" y="2506850"/>
            <a:ext cx="10596710" cy="707886"/>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Authors : </a:t>
            </a:r>
            <a:r>
              <a:rPr lang="en-US" sz="2000" dirty="0">
                <a:latin typeface="Times New Roman" panose="02020603050405020304" pitchFamily="18" charset="0"/>
                <a:cs typeface="Times New Roman" panose="02020603050405020304" pitchFamily="18" charset="0"/>
              </a:rPr>
              <a:t>Ariful Islam, Md. Mahmudul Arif, Md Arifur Rahman, Md Rifat Hossen, Abdullah Al Noman</a:t>
            </a:r>
            <a:endParaRPr lang="en-US" dirty="0"/>
          </a:p>
        </p:txBody>
      </p:sp>
      <p:sp>
        <p:nvSpPr>
          <p:cNvPr id="11" name="Oval 10">
            <a:extLst>
              <a:ext uri="{FF2B5EF4-FFF2-40B4-BE49-F238E27FC236}">
                <a16:creationId xmlns:a16="http://schemas.microsoft.com/office/drawing/2014/main" id="{897DA6F4-36EA-4457-1CC8-521437C6E036}"/>
              </a:ext>
              <a:ext uri="{C183D7F6-B498-43B3-948B-1728B52AA6E4}">
                <adec:decorative xmlns:adec="http://schemas.microsoft.com/office/drawing/2017/decorative" val="1"/>
              </a:ext>
            </a:extLst>
          </p:cNvPr>
          <p:cNvSpPr/>
          <p:nvPr/>
        </p:nvSpPr>
        <p:spPr>
          <a:xfrm>
            <a:off x="591801" y="3318310"/>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BA8500F9-BEC3-F2BB-7406-1E93E71356CE}"/>
              </a:ext>
              <a:ext uri="{C183D7F6-B498-43B3-948B-1728B52AA6E4}">
                <adec:decorative xmlns:adec="http://schemas.microsoft.com/office/drawing/2017/decorative" val="1"/>
              </a:ext>
            </a:extLst>
          </p:cNvPr>
          <p:cNvSpPr/>
          <p:nvPr/>
        </p:nvSpPr>
        <p:spPr>
          <a:xfrm>
            <a:off x="591801" y="4947168"/>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582788B3-E9C1-8AA3-541E-6F3521BC83F6}"/>
              </a:ext>
            </a:extLst>
          </p:cNvPr>
          <p:cNvSpPr txBox="1"/>
          <p:nvPr/>
        </p:nvSpPr>
        <p:spPr>
          <a:xfrm>
            <a:off x="1135786" y="4853256"/>
            <a:ext cx="10450172" cy="1477328"/>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Limitations:</a:t>
            </a:r>
          </a:p>
          <a:p>
            <a:r>
              <a:rPr lang="en-US" b="1" dirty="0">
                <a:latin typeface="Times New Roman" panose="02020603050405020304" pitchFamily="18" charset="0"/>
                <a:cs typeface="Times New Roman" panose="02020603050405020304" pitchFamily="18" charset="0"/>
              </a:rPr>
              <a:t>Model Weight</a:t>
            </a:r>
            <a:r>
              <a:rPr lang="en-US" dirty="0">
                <a:latin typeface="Times New Roman" panose="02020603050405020304" pitchFamily="18" charset="0"/>
                <a:cs typeface="Times New Roman" panose="02020603050405020304" pitchFamily="18" charset="0"/>
              </a:rPr>
              <a:t>: The architectural choices prioritized computational efficiency, potentially sacrificing the higher performance offered by heavier models like Vision Transformers (</a:t>
            </a:r>
            <a:r>
              <a:rPr lang="en-US" dirty="0" err="1">
                <a:latin typeface="Times New Roman" panose="02020603050405020304" pitchFamily="18" charset="0"/>
                <a:cs typeface="Times New Roman" panose="02020603050405020304" pitchFamily="18" charset="0"/>
              </a:rPr>
              <a:t>ViT</a:t>
            </a:r>
            <a:r>
              <a:rPr lang="en-US" dirty="0">
                <a:latin typeface="Times New Roman" panose="02020603050405020304" pitchFamily="18" charset="0"/>
                <a:cs typeface="Times New Roman" panose="02020603050405020304" pitchFamily="18" charset="0"/>
              </a:rPr>
              <a:t>).</a:t>
            </a:r>
          </a:p>
          <a:p>
            <a:r>
              <a:rPr lang="en-US" b="1" dirty="0">
                <a:latin typeface="Times New Roman" panose="02020603050405020304" pitchFamily="18" charset="0"/>
                <a:cs typeface="Times New Roman" panose="02020603050405020304" pitchFamily="18" charset="0"/>
              </a:rPr>
              <a:t>Data Scale</a:t>
            </a:r>
            <a:r>
              <a:rPr lang="en-US" dirty="0">
                <a:latin typeface="Times New Roman" panose="02020603050405020304" pitchFamily="18" charset="0"/>
                <a:cs typeface="Times New Roman" panose="02020603050405020304" pitchFamily="18" charset="0"/>
              </a:rPr>
              <a:t>: The newly created dataset is relatively small (5,037 posts) compared to major global disaster datasets.</a:t>
            </a:r>
            <a:endParaRPr lang="en-US" b="1" dirty="0">
              <a:latin typeface="Times New Roman" panose="02020603050405020304" pitchFamily="18" charset="0"/>
              <a:cs typeface="Times New Roman" panose="02020603050405020304" pitchFamily="18" charset="0"/>
            </a:endParaRPr>
          </a:p>
        </p:txBody>
      </p:sp>
      <p:sp>
        <p:nvSpPr>
          <p:cNvPr id="14" name="Date Placeholder 13">
            <a:extLst>
              <a:ext uri="{FF2B5EF4-FFF2-40B4-BE49-F238E27FC236}">
                <a16:creationId xmlns:a16="http://schemas.microsoft.com/office/drawing/2014/main" id="{32B15FB0-190A-9F2F-5960-C7A0783408D0}"/>
              </a:ext>
            </a:extLst>
          </p:cNvPr>
          <p:cNvSpPr>
            <a:spLocks noGrp="1"/>
          </p:cNvSpPr>
          <p:nvPr>
            <p:ph type="dt" sz="half" idx="10"/>
          </p:nvPr>
        </p:nvSpPr>
        <p:spPr/>
        <p:txBody>
          <a:bodyPr/>
          <a:lstStyle/>
          <a:p>
            <a:fld id="{6CFC9782-95CB-4121-A0AC-87F3CEA55C62}"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15" name="Slide Number Placeholder 14">
            <a:extLst>
              <a:ext uri="{FF2B5EF4-FFF2-40B4-BE49-F238E27FC236}">
                <a16:creationId xmlns:a16="http://schemas.microsoft.com/office/drawing/2014/main" id="{D0430DB3-AAF4-BBD8-F2F9-DB86C2BB4958}"/>
              </a:ext>
            </a:extLst>
          </p:cNvPr>
          <p:cNvSpPr>
            <a:spLocks noGrp="1"/>
          </p:cNvSpPr>
          <p:nvPr>
            <p:ph type="sldNum" sz="quarter" idx="12"/>
          </p:nvPr>
        </p:nvSpPr>
        <p:spPr/>
        <p:txBody>
          <a:bodyPr/>
          <a:lstStyle/>
          <a:p>
            <a:fld id="{06FEDF93-2BFD-41CA-ABC7-B039102F3792}" type="slidenum">
              <a:rPr lang="en-US" smtClean="0"/>
              <a:t>7</a:t>
            </a:fld>
            <a:endParaRPr lang="en-US" dirty="0"/>
          </a:p>
        </p:txBody>
      </p:sp>
      <p:sp>
        <p:nvSpPr>
          <p:cNvPr id="16" name="Footer Placeholder 15">
            <a:extLst>
              <a:ext uri="{FF2B5EF4-FFF2-40B4-BE49-F238E27FC236}">
                <a16:creationId xmlns:a16="http://schemas.microsoft.com/office/drawing/2014/main" id="{057815DC-DC5D-2952-776A-86D93C2AFE29}"/>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3058848075"/>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228600" y="424424"/>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chemeClr val="tx1">
                    <a:lumMod val="75000"/>
                    <a:lumOff val="25000"/>
                  </a:schemeClr>
                </a:solidFill>
              </a:rPr>
              <a:t> </a:t>
            </a: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LITERATURE REVIEW</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182880" y="609699"/>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8373061" y="609699"/>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4" name="Oval 3">
            <a:extLst>
              <a:ext uri="{FF2B5EF4-FFF2-40B4-BE49-F238E27FC236}">
                <a16:creationId xmlns:a16="http://schemas.microsoft.com/office/drawing/2014/main" id="{BB9AF333-C007-76DB-CCD3-39C1DAEFADC2}"/>
              </a:ext>
              <a:ext uri="{C183D7F6-B498-43B3-948B-1728B52AA6E4}">
                <adec:decorative xmlns:adec="http://schemas.microsoft.com/office/drawing/2017/decorative" val="1"/>
              </a:ext>
            </a:extLst>
          </p:cNvPr>
          <p:cNvSpPr/>
          <p:nvPr/>
        </p:nvSpPr>
        <p:spPr>
          <a:xfrm>
            <a:off x="838200" y="1702576"/>
            <a:ext cx="264296"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79F44F0F-B25C-202C-5B97-334146C20495}"/>
              </a:ext>
            </a:extLst>
          </p:cNvPr>
          <p:cNvSpPr txBox="1"/>
          <p:nvPr/>
        </p:nvSpPr>
        <p:spPr>
          <a:xfrm>
            <a:off x="1094508" y="1719630"/>
            <a:ext cx="10675476" cy="400110"/>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Title:</a:t>
            </a:r>
            <a:r>
              <a:rPr lang="en-US" dirty="0"/>
              <a:t> </a:t>
            </a:r>
            <a:r>
              <a:rPr lang="en-US" dirty="0">
                <a:latin typeface="Times New Roman" panose="02020603050405020304" pitchFamily="18" charset="0"/>
                <a:cs typeface="Times New Roman" panose="02020603050405020304" pitchFamily="18" charset="0"/>
              </a:rPr>
              <a:t>Disaster Image Classification by Fusing Multimodal Social Media Data</a:t>
            </a:r>
          </a:p>
        </p:txBody>
      </p:sp>
      <p:sp>
        <p:nvSpPr>
          <p:cNvPr id="7" name="Oval 6">
            <a:extLst>
              <a:ext uri="{FF2B5EF4-FFF2-40B4-BE49-F238E27FC236}">
                <a16:creationId xmlns:a16="http://schemas.microsoft.com/office/drawing/2014/main" id="{07469937-D86A-167C-56F2-4B1E270A25F1}"/>
              </a:ext>
              <a:ext uri="{C183D7F6-B498-43B3-948B-1728B52AA6E4}">
                <adec:decorative xmlns:adec="http://schemas.microsoft.com/office/drawing/2017/decorative" val="1"/>
              </a:ext>
            </a:extLst>
          </p:cNvPr>
          <p:cNvSpPr/>
          <p:nvPr/>
        </p:nvSpPr>
        <p:spPr>
          <a:xfrm>
            <a:off x="5609675" y="882089"/>
            <a:ext cx="814900" cy="77559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mj-lt"/>
              </a:rPr>
              <a:t>02</a:t>
            </a:r>
          </a:p>
        </p:txBody>
      </p:sp>
      <p:sp>
        <p:nvSpPr>
          <p:cNvPr id="8" name="Oval 7">
            <a:extLst>
              <a:ext uri="{FF2B5EF4-FFF2-40B4-BE49-F238E27FC236}">
                <a16:creationId xmlns:a16="http://schemas.microsoft.com/office/drawing/2014/main" id="{956B120C-7B5D-AF73-7552-0812753EF976}"/>
              </a:ext>
              <a:ext uri="{C183D7F6-B498-43B3-948B-1728B52AA6E4}">
                <adec:decorative xmlns:adec="http://schemas.microsoft.com/office/drawing/2017/decorative" val="1"/>
              </a:ext>
            </a:extLst>
          </p:cNvPr>
          <p:cNvSpPr/>
          <p:nvPr/>
        </p:nvSpPr>
        <p:spPr>
          <a:xfrm>
            <a:off x="807074" y="2323213"/>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4A0AB298-E22A-FB45-B951-2D608EDEA475}"/>
              </a:ext>
            </a:extLst>
          </p:cNvPr>
          <p:cNvSpPr txBox="1"/>
          <p:nvPr/>
        </p:nvSpPr>
        <p:spPr>
          <a:xfrm>
            <a:off x="1153744" y="2872298"/>
            <a:ext cx="11056476" cy="1754326"/>
          </a:xfrm>
          <a:prstGeom prst="rect">
            <a:avLst/>
          </a:prstGeom>
          <a:noFill/>
        </p:spPr>
        <p:txBody>
          <a:bodyPr wrap="square" rtlCol="0">
            <a:spAutoFit/>
          </a:bodyPr>
          <a:lstStyle/>
          <a:p>
            <a:pPr algn="just"/>
            <a:r>
              <a:rPr lang="en-US" b="1" dirty="0">
                <a:latin typeface="Times New Roman" panose="02020603050405020304" pitchFamily="18" charset="0"/>
                <a:cs typeface="Times New Roman" panose="02020603050405020304" pitchFamily="18" charset="0"/>
              </a:rPr>
              <a:t>Dataset: </a:t>
            </a:r>
            <a:r>
              <a:rPr lang="en-US" dirty="0">
                <a:latin typeface="Times New Roman" panose="02020603050405020304" pitchFamily="18" charset="0"/>
                <a:cs typeface="Times New Roman" panose="02020603050405020304" pitchFamily="18" charset="0"/>
              </a:rPr>
              <a:t>The study utilizes the </a:t>
            </a:r>
            <a:r>
              <a:rPr lang="en-US" dirty="0" err="1">
                <a:latin typeface="Times New Roman" panose="02020603050405020304" pitchFamily="18" charset="0"/>
                <a:cs typeface="Times New Roman" panose="02020603050405020304" pitchFamily="18" charset="0"/>
              </a:rPr>
              <a:t>CrisisMMD</a:t>
            </a:r>
            <a:r>
              <a:rPr lang="en-US" dirty="0">
                <a:latin typeface="Times New Roman" panose="02020603050405020304" pitchFamily="18" charset="0"/>
                <a:cs typeface="Times New Roman" panose="02020603050405020304" pitchFamily="18" charset="0"/>
              </a:rPr>
              <a:t> dataset, which consists of several thousand manually annotated tweets and images collected during seven major natural disasters in 2017 (e.g., Hurricane Irma, Mexico Earthquake).</a:t>
            </a:r>
          </a:p>
          <a:p>
            <a:pPr algn="just"/>
            <a:r>
              <a:rPr lang="en-US" b="1" dirty="0">
                <a:latin typeface="Times New Roman" panose="02020603050405020304" pitchFamily="18" charset="0"/>
                <a:cs typeface="Times New Roman" panose="02020603050405020304" pitchFamily="18" charset="0"/>
              </a:rPr>
              <a:t>Methodology: </a:t>
            </a:r>
            <a:r>
              <a:rPr lang="en-US" dirty="0">
                <a:latin typeface="Times New Roman" panose="02020603050405020304" pitchFamily="18" charset="0"/>
                <a:cs typeface="Times New Roman" panose="02020603050405020304" pitchFamily="18" charset="0"/>
              </a:rPr>
              <a:t>The researchers proposed a multimodal fusion approach integrating visual and textual features. A deep learning method (VGG16) is used for image feature extraction, while a </a:t>
            </a:r>
            <a:r>
              <a:rPr lang="en-US" dirty="0" err="1">
                <a:latin typeface="Times New Roman" panose="02020603050405020304" pitchFamily="18" charset="0"/>
                <a:cs typeface="Times New Roman" panose="02020603050405020304" pitchFamily="18" charset="0"/>
              </a:rPr>
              <a:t>FastText</a:t>
            </a:r>
            <a:r>
              <a:rPr lang="en-US" dirty="0">
                <a:latin typeface="Times New Roman" panose="02020603050405020304" pitchFamily="18" charset="0"/>
                <a:cs typeface="Times New Roman" panose="02020603050405020304" pitchFamily="18" charset="0"/>
              </a:rPr>
              <a:t> framework is employed for textual features. These features are fused via a concatenating operation and passed through three fully connected layers and a SoftMax layer for final classification.</a:t>
            </a:r>
          </a:p>
        </p:txBody>
      </p:sp>
      <p:sp>
        <p:nvSpPr>
          <p:cNvPr id="10" name="TextBox 9">
            <a:extLst>
              <a:ext uri="{FF2B5EF4-FFF2-40B4-BE49-F238E27FC236}">
                <a16:creationId xmlns:a16="http://schemas.microsoft.com/office/drawing/2014/main" id="{D2848A77-EDE9-08A2-81B6-EC8013D4B3FA}"/>
              </a:ext>
            </a:extLst>
          </p:cNvPr>
          <p:cNvSpPr txBox="1"/>
          <p:nvPr/>
        </p:nvSpPr>
        <p:spPr>
          <a:xfrm>
            <a:off x="1122500" y="2273604"/>
            <a:ext cx="10347349" cy="400110"/>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Authors:</a:t>
            </a:r>
            <a:r>
              <a:rPr lang="en-US" sz="2000" dirty="0">
                <a:latin typeface="Times New Roman" panose="02020603050405020304" pitchFamily="18" charset="0"/>
                <a:cs typeface="Times New Roman" panose="02020603050405020304" pitchFamily="18" charset="0"/>
              </a:rPr>
              <a:t> Zhiqiang Zou, Hongyu Gan, </a:t>
            </a:r>
            <a:r>
              <a:rPr lang="en-US" sz="2000" dirty="0" err="1">
                <a:latin typeface="Times New Roman" panose="02020603050405020304" pitchFamily="18" charset="0"/>
                <a:cs typeface="Times New Roman" panose="02020603050405020304" pitchFamily="18" charset="0"/>
              </a:rPr>
              <a:t>Qunying</a:t>
            </a:r>
            <a:r>
              <a:rPr lang="en-US" sz="2000" dirty="0">
                <a:latin typeface="Times New Roman" panose="02020603050405020304" pitchFamily="18" charset="0"/>
                <a:cs typeface="Times New Roman" panose="02020603050405020304" pitchFamily="18" charset="0"/>
              </a:rPr>
              <a:t> Huang, </a:t>
            </a:r>
            <a:r>
              <a:rPr lang="en-US" sz="2000" dirty="0" err="1">
                <a:latin typeface="Times New Roman" panose="02020603050405020304" pitchFamily="18" charset="0"/>
                <a:cs typeface="Times New Roman" panose="02020603050405020304" pitchFamily="18" charset="0"/>
              </a:rPr>
              <a:t>Tianhui</a:t>
            </a:r>
            <a:r>
              <a:rPr lang="en-US" sz="2000" dirty="0">
                <a:latin typeface="Times New Roman" panose="02020603050405020304" pitchFamily="18" charset="0"/>
                <a:cs typeface="Times New Roman" panose="02020603050405020304" pitchFamily="18" charset="0"/>
              </a:rPr>
              <a:t> Cai, Kai Cao</a:t>
            </a:r>
          </a:p>
        </p:txBody>
      </p:sp>
      <p:sp>
        <p:nvSpPr>
          <p:cNvPr id="11" name="Oval 10">
            <a:extLst>
              <a:ext uri="{FF2B5EF4-FFF2-40B4-BE49-F238E27FC236}">
                <a16:creationId xmlns:a16="http://schemas.microsoft.com/office/drawing/2014/main" id="{897DA6F4-36EA-4457-1CC8-521437C6E036}"/>
              </a:ext>
              <a:ext uri="{C183D7F6-B498-43B3-948B-1728B52AA6E4}">
                <adec:decorative xmlns:adec="http://schemas.microsoft.com/office/drawing/2017/decorative" val="1"/>
              </a:ext>
            </a:extLst>
          </p:cNvPr>
          <p:cNvSpPr/>
          <p:nvPr/>
        </p:nvSpPr>
        <p:spPr>
          <a:xfrm>
            <a:off x="767731" y="2911370"/>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BA8500F9-BEC3-F2BB-7406-1E93E71356CE}"/>
              </a:ext>
              <a:ext uri="{C183D7F6-B498-43B3-948B-1728B52AA6E4}">
                <adec:decorative xmlns:adec="http://schemas.microsoft.com/office/drawing/2017/decorative" val="1"/>
              </a:ext>
            </a:extLst>
          </p:cNvPr>
          <p:cNvSpPr/>
          <p:nvPr/>
        </p:nvSpPr>
        <p:spPr>
          <a:xfrm>
            <a:off x="767731" y="4872835"/>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582788B3-E9C1-8AA3-541E-6F3521BC83F6}"/>
              </a:ext>
            </a:extLst>
          </p:cNvPr>
          <p:cNvSpPr txBox="1"/>
          <p:nvPr/>
        </p:nvSpPr>
        <p:spPr>
          <a:xfrm>
            <a:off x="1153744" y="4809912"/>
            <a:ext cx="10671518" cy="1477328"/>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Limitations:</a:t>
            </a:r>
          </a:p>
          <a:p>
            <a:pPr algn="just"/>
            <a:r>
              <a:rPr lang="en-US" b="1" dirty="0">
                <a:latin typeface="Times New Roman" panose="02020603050405020304" pitchFamily="18" charset="0"/>
                <a:cs typeface="Times New Roman" panose="02020603050405020304" pitchFamily="18" charset="0"/>
              </a:rPr>
              <a:t>Simplistic Fusion Logic: </a:t>
            </a:r>
            <a:r>
              <a:rPr lang="en-US" dirty="0">
                <a:latin typeface="Times New Roman" panose="02020603050405020304" pitchFamily="18" charset="0"/>
                <a:cs typeface="Times New Roman" panose="02020603050405020304" pitchFamily="18" charset="0"/>
              </a:rPr>
              <a:t>The model relies on a basic concatenation strategy for fusing modalities rather than more advanced, cross-modal attention-based fusion.</a:t>
            </a:r>
          </a:p>
          <a:p>
            <a:pPr algn="just"/>
            <a:r>
              <a:rPr lang="en-US" b="1" dirty="0">
                <a:latin typeface="Times New Roman" panose="02020603050405020304" pitchFamily="18" charset="0"/>
                <a:cs typeface="Times New Roman" panose="02020603050405020304" pitchFamily="18" charset="0"/>
              </a:rPr>
              <a:t>Architectural Gap: </a:t>
            </a:r>
            <a:r>
              <a:rPr lang="en-US" dirty="0">
                <a:latin typeface="Times New Roman" panose="02020603050405020304" pitchFamily="18" charset="0"/>
                <a:cs typeface="Times New Roman" panose="02020603050405020304" pitchFamily="18" charset="0"/>
              </a:rPr>
              <a:t>The study does not explore "new age" transformer models for the fusion process, which could more effectively capture the intricate relationships between text and images.</a:t>
            </a:r>
          </a:p>
        </p:txBody>
      </p:sp>
      <p:sp>
        <p:nvSpPr>
          <p:cNvPr id="14" name="Date Placeholder 13">
            <a:extLst>
              <a:ext uri="{FF2B5EF4-FFF2-40B4-BE49-F238E27FC236}">
                <a16:creationId xmlns:a16="http://schemas.microsoft.com/office/drawing/2014/main" id="{AA7BDBD6-CAD8-1E6A-4C4B-FB5F8CADE4AB}"/>
              </a:ext>
            </a:extLst>
          </p:cNvPr>
          <p:cNvSpPr>
            <a:spLocks noGrp="1"/>
          </p:cNvSpPr>
          <p:nvPr>
            <p:ph type="dt" sz="half" idx="10"/>
          </p:nvPr>
        </p:nvSpPr>
        <p:spPr/>
        <p:txBody>
          <a:bodyPr/>
          <a:lstStyle/>
          <a:p>
            <a:fld id="{27EF63BE-580F-40E9-9F47-741B47AB0C1E}"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15" name="Slide Number Placeholder 14">
            <a:extLst>
              <a:ext uri="{FF2B5EF4-FFF2-40B4-BE49-F238E27FC236}">
                <a16:creationId xmlns:a16="http://schemas.microsoft.com/office/drawing/2014/main" id="{744174DC-993E-7C79-DA07-C5AD77F0A26B}"/>
              </a:ext>
            </a:extLst>
          </p:cNvPr>
          <p:cNvSpPr>
            <a:spLocks noGrp="1"/>
          </p:cNvSpPr>
          <p:nvPr>
            <p:ph type="sldNum" sz="quarter" idx="12"/>
          </p:nvPr>
        </p:nvSpPr>
        <p:spPr/>
        <p:txBody>
          <a:bodyPr/>
          <a:lstStyle/>
          <a:p>
            <a:fld id="{06FEDF93-2BFD-41CA-ABC7-B039102F3792}" type="slidenum">
              <a:rPr lang="en-US" smtClean="0"/>
              <a:t>8</a:t>
            </a:fld>
            <a:endParaRPr lang="en-US" dirty="0"/>
          </a:p>
        </p:txBody>
      </p:sp>
      <p:sp>
        <p:nvSpPr>
          <p:cNvPr id="16" name="Footer Placeholder 15">
            <a:extLst>
              <a:ext uri="{FF2B5EF4-FFF2-40B4-BE49-F238E27FC236}">
                <a16:creationId xmlns:a16="http://schemas.microsoft.com/office/drawing/2014/main" id="{BAF386B8-23F7-E5E9-8752-A3EF3229FE47}"/>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215140655"/>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228600" y="424424"/>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chemeClr val="tx1">
                    <a:lumMod val="75000"/>
                    <a:lumOff val="25000"/>
                  </a:schemeClr>
                </a:solidFill>
              </a:rPr>
              <a:t> </a:t>
            </a: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LITERATURE REVIEW</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182880" y="609699"/>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8373061" y="609699"/>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4" name="Oval 3">
            <a:extLst>
              <a:ext uri="{FF2B5EF4-FFF2-40B4-BE49-F238E27FC236}">
                <a16:creationId xmlns:a16="http://schemas.microsoft.com/office/drawing/2014/main" id="{BB9AF333-C007-76DB-CCD3-39C1DAEFADC2}"/>
              </a:ext>
              <a:ext uri="{C183D7F6-B498-43B3-948B-1728B52AA6E4}">
                <adec:decorative xmlns:adec="http://schemas.microsoft.com/office/drawing/2017/decorative" val="1"/>
              </a:ext>
            </a:extLst>
          </p:cNvPr>
          <p:cNvSpPr/>
          <p:nvPr/>
        </p:nvSpPr>
        <p:spPr>
          <a:xfrm>
            <a:off x="685802" y="1956760"/>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79F44F0F-B25C-202C-5B97-334146C20495}"/>
              </a:ext>
            </a:extLst>
          </p:cNvPr>
          <p:cNvSpPr txBox="1"/>
          <p:nvPr/>
        </p:nvSpPr>
        <p:spPr>
          <a:xfrm>
            <a:off x="1181688" y="1792847"/>
            <a:ext cx="11010312" cy="677108"/>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Title:</a:t>
            </a:r>
            <a:r>
              <a:rPr lang="en-US" dirty="0"/>
              <a:t> </a:t>
            </a:r>
            <a:r>
              <a:rPr lang="en-US" dirty="0">
                <a:latin typeface="Times New Roman" panose="02020603050405020304" pitchFamily="18" charset="0"/>
                <a:cs typeface="Times New Roman" panose="02020603050405020304" pitchFamily="18" charset="0"/>
              </a:rPr>
              <a:t>The ERMES chatbot: A conversational communication tool for improved emergency management and disaster risk reduction</a:t>
            </a:r>
          </a:p>
        </p:txBody>
      </p:sp>
      <p:sp>
        <p:nvSpPr>
          <p:cNvPr id="7" name="Oval 6">
            <a:extLst>
              <a:ext uri="{FF2B5EF4-FFF2-40B4-BE49-F238E27FC236}">
                <a16:creationId xmlns:a16="http://schemas.microsoft.com/office/drawing/2014/main" id="{07469937-D86A-167C-56F2-4B1E270A25F1}"/>
              </a:ext>
              <a:ext uri="{C183D7F6-B498-43B3-948B-1728B52AA6E4}">
                <adec:decorative xmlns:adec="http://schemas.microsoft.com/office/drawing/2017/decorative" val="1"/>
              </a:ext>
            </a:extLst>
          </p:cNvPr>
          <p:cNvSpPr/>
          <p:nvPr/>
        </p:nvSpPr>
        <p:spPr>
          <a:xfrm>
            <a:off x="5388952" y="1024248"/>
            <a:ext cx="814900" cy="77559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mj-lt"/>
              </a:rPr>
              <a:t>03</a:t>
            </a:r>
          </a:p>
        </p:txBody>
      </p:sp>
      <p:sp>
        <p:nvSpPr>
          <p:cNvPr id="8" name="Oval 7">
            <a:extLst>
              <a:ext uri="{FF2B5EF4-FFF2-40B4-BE49-F238E27FC236}">
                <a16:creationId xmlns:a16="http://schemas.microsoft.com/office/drawing/2014/main" id="{956B120C-7B5D-AF73-7552-0812753EF976}"/>
              </a:ext>
              <a:ext uri="{C183D7F6-B498-43B3-948B-1728B52AA6E4}">
                <adec:decorative xmlns:adec="http://schemas.microsoft.com/office/drawing/2017/decorative" val="1"/>
              </a:ext>
            </a:extLst>
          </p:cNvPr>
          <p:cNvSpPr/>
          <p:nvPr/>
        </p:nvSpPr>
        <p:spPr>
          <a:xfrm>
            <a:off x="685802" y="2569677"/>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4A0AB298-E22A-FB45-B951-2D608EDEA475}"/>
              </a:ext>
            </a:extLst>
          </p:cNvPr>
          <p:cNvSpPr txBox="1"/>
          <p:nvPr/>
        </p:nvSpPr>
        <p:spPr>
          <a:xfrm>
            <a:off x="1169058" y="2898224"/>
            <a:ext cx="10904754" cy="2308324"/>
          </a:xfrm>
          <a:prstGeom prst="rect">
            <a:avLst/>
          </a:prstGeom>
          <a:noFill/>
        </p:spPr>
        <p:txBody>
          <a:bodyPr wrap="square" rtlCol="0">
            <a:spAutoFit/>
          </a:bodyPr>
          <a:lstStyle/>
          <a:p>
            <a:pPr algn="just"/>
            <a:r>
              <a:rPr lang="en-US" b="1" dirty="0">
                <a:latin typeface="Times New Roman" panose="02020603050405020304" pitchFamily="18" charset="0"/>
                <a:cs typeface="Times New Roman" panose="02020603050405020304" pitchFamily="18" charset="0"/>
              </a:rPr>
              <a:t>Dataset</a:t>
            </a:r>
            <a:r>
              <a:rPr lang="en-US" dirty="0">
                <a:latin typeface="Times New Roman" panose="02020603050405020304" pitchFamily="18" charset="0"/>
                <a:cs typeface="Times New Roman" panose="02020603050405020304" pitchFamily="18" charset="0"/>
              </a:rPr>
              <a:t>: Validation was performed through </a:t>
            </a:r>
            <a:r>
              <a:rPr lang="en-US" b="1" dirty="0">
                <a:latin typeface="Times New Roman" panose="02020603050405020304" pitchFamily="18" charset="0"/>
                <a:cs typeface="Times New Roman" panose="02020603050405020304" pitchFamily="18" charset="0"/>
              </a:rPr>
              <a:t>four in-field demonstration events</a:t>
            </a:r>
            <a:r>
              <a:rPr lang="en-US" dirty="0">
                <a:latin typeface="Times New Roman" panose="02020603050405020304" pitchFamily="18" charset="0"/>
                <a:cs typeface="Times New Roman" panose="02020603050405020304" pitchFamily="18" charset="0"/>
              </a:rPr>
              <a:t> based on realistic emergency scenarios in Corsica (France), Piedmont (Italy), Catalonia (Spain), and Thessaloniki (Greece). A total of 52 organizations and approximately 240 people participated in the validation process.</a:t>
            </a:r>
          </a:p>
          <a:p>
            <a:pPr algn="just"/>
            <a:r>
              <a:rPr lang="en-US" b="1" dirty="0">
                <a:latin typeface="Times New Roman" panose="02020603050405020304" pitchFamily="18" charset="0"/>
                <a:cs typeface="Times New Roman" panose="02020603050405020304" pitchFamily="18" charset="0"/>
              </a:rPr>
              <a:t>Methodology</a:t>
            </a:r>
            <a:r>
              <a:rPr lang="en-US" dirty="0">
                <a:latin typeface="Times New Roman" panose="02020603050405020304" pitchFamily="18" charset="0"/>
                <a:cs typeface="Times New Roman" panose="02020603050405020304" pitchFamily="18" charset="0"/>
              </a:rPr>
              <a:t>: The research follows a </a:t>
            </a:r>
            <a:r>
              <a:rPr lang="en-US" b="1" dirty="0">
                <a:latin typeface="Times New Roman" panose="02020603050405020304" pitchFamily="18" charset="0"/>
                <a:cs typeface="Times New Roman" panose="02020603050405020304" pitchFamily="18" charset="0"/>
              </a:rPr>
              <a:t>User-</a:t>
            </a:r>
            <a:r>
              <a:rPr lang="en-US" b="1" dirty="0" err="1">
                <a:latin typeface="Times New Roman" panose="02020603050405020304" pitchFamily="18" charset="0"/>
                <a:cs typeface="Times New Roman" panose="02020603050405020304" pitchFamily="18" charset="0"/>
              </a:rPr>
              <a:t>Centred</a:t>
            </a:r>
            <a:r>
              <a:rPr lang="en-US" b="1" dirty="0">
                <a:latin typeface="Times New Roman" panose="02020603050405020304" pitchFamily="18" charset="0"/>
                <a:cs typeface="Times New Roman" panose="02020603050405020304" pitchFamily="18" charset="0"/>
              </a:rPr>
              <a:t> Design (UCD)</a:t>
            </a:r>
            <a:r>
              <a:rPr lang="en-US" dirty="0">
                <a:latin typeface="Times New Roman" panose="02020603050405020304" pitchFamily="18" charset="0"/>
                <a:cs typeface="Times New Roman" panose="02020603050405020304" pitchFamily="18" charset="0"/>
              </a:rPr>
              <a:t> approach, involving end-users in requirement definition, technical design, and final validation. The system, named </a:t>
            </a:r>
            <a:r>
              <a:rPr lang="en-US" b="1" dirty="0">
                <a:latin typeface="Times New Roman" panose="02020603050405020304" pitchFamily="18" charset="0"/>
                <a:cs typeface="Times New Roman" panose="02020603050405020304" pitchFamily="18" charset="0"/>
              </a:rPr>
              <a:t>ERMES Chatbot</a:t>
            </a:r>
            <a:r>
              <a:rPr lang="en-US" dirty="0">
                <a:latin typeface="Times New Roman" panose="02020603050405020304" pitchFamily="18" charset="0"/>
                <a:cs typeface="Times New Roman" panose="02020603050405020304" pitchFamily="18" charset="0"/>
              </a:rPr>
              <a:t>, is implemented on the </a:t>
            </a:r>
            <a:r>
              <a:rPr lang="en-US" b="1" dirty="0">
                <a:latin typeface="Times New Roman" panose="02020603050405020304" pitchFamily="18" charset="0"/>
                <a:cs typeface="Times New Roman" panose="02020603050405020304" pitchFamily="18" charset="0"/>
              </a:rPr>
              <a:t>Telegram</a:t>
            </a:r>
            <a:r>
              <a:rPr lang="en-US" dirty="0">
                <a:latin typeface="Times New Roman" panose="02020603050405020304" pitchFamily="18" charset="0"/>
                <a:cs typeface="Times New Roman" panose="02020603050405020304" pitchFamily="18" charset="0"/>
              </a:rPr>
              <a:t> platform to facilitate real-time bidirectional communication between control centers, field forces, and citizens. It includes a </a:t>
            </a:r>
            <a:r>
              <a:rPr lang="en-US" b="1" dirty="0">
                <a:latin typeface="Times New Roman" panose="02020603050405020304" pitchFamily="18" charset="0"/>
                <a:cs typeface="Times New Roman" panose="02020603050405020304" pitchFamily="18" charset="0"/>
              </a:rPr>
              <a:t>gamification strategy</a:t>
            </a:r>
            <a:r>
              <a:rPr lang="en-US" dirty="0">
                <a:latin typeface="Times New Roman" panose="02020603050405020304" pitchFamily="18" charset="0"/>
                <a:cs typeface="Times New Roman" panose="02020603050405020304" pitchFamily="18" charset="0"/>
              </a:rPr>
              <a:t> (points, badges, leaderboards) to boost citizen engagement and situational awareness</a:t>
            </a:r>
            <a:r>
              <a:rPr lang="en-US" dirty="0"/>
              <a:t>.</a:t>
            </a:r>
            <a:endParaRPr lang="en-US"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D2848A77-EDE9-08A2-81B6-EC8013D4B3FA}"/>
              </a:ext>
            </a:extLst>
          </p:cNvPr>
          <p:cNvSpPr txBox="1"/>
          <p:nvPr/>
        </p:nvSpPr>
        <p:spPr>
          <a:xfrm>
            <a:off x="1181688" y="2498114"/>
            <a:ext cx="9352573" cy="400110"/>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Authors:</a:t>
            </a:r>
            <a:r>
              <a:rPr lang="it-IT" sz="2000" dirty="0">
                <a:latin typeface="Times New Roman" panose="02020603050405020304" pitchFamily="18" charset="0"/>
                <a:cs typeface="Times New Roman" panose="02020603050405020304" pitchFamily="18" charset="0"/>
              </a:rPr>
              <a:t> Angelica Urbanelli, Antonella Frisiello, Luca Bruno, Claudio Rossi</a:t>
            </a:r>
            <a:r>
              <a:rPr lang="en-US" sz="2000" dirty="0">
                <a:latin typeface="Times New Roman" panose="02020603050405020304" pitchFamily="18" charset="0"/>
                <a:cs typeface="Times New Roman" panose="02020603050405020304" pitchFamily="18" charset="0"/>
              </a:rPr>
              <a:t> </a:t>
            </a:r>
          </a:p>
        </p:txBody>
      </p:sp>
      <p:sp>
        <p:nvSpPr>
          <p:cNvPr id="11" name="Oval 10">
            <a:extLst>
              <a:ext uri="{FF2B5EF4-FFF2-40B4-BE49-F238E27FC236}">
                <a16:creationId xmlns:a16="http://schemas.microsoft.com/office/drawing/2014/main" id="{897DA6F4-36EA-4457-1CC8-521437C6E036}"/>
              </a:ext>
              <a:ext uri="{C183D7F6-B498-43B3-948B-1728B52AA6E4}">
                <adec:decorative xmlns:adec="http://schemas.microsoft.com/office/drawing/2017/decorative" val="1"/>
              </a:ext>
            </a:extLst>
          </p:cNvPr>
          <p:cNvSpPr/>
          <p:nvPr/>
        </p:nvSpPr>
        <p:spPr>
          <a:xfrm>
            <a:off x="685802" y="3525856"/>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BA8500F9-BEC3-F2BB-7406-1E93E71356CE}"/>
              </a:ext>
              <a:ext uri="{C183D7F6-B498-43B3-948B-1728B52AA6E4}">
                <adec:decorative xmlns:adec="http://schemas.microsoft.com/office/drawing/2017/decorative" val="1"/>
              </a:ext>
            </a:extLst>
          </p:cNvPr>
          <p:cNvSpPr/>
          <p:nvPr/>
        </p:nvSpPr>
        <p:spPr>
          <a:xfrm>
            <a:off x="685802" y="5094952"/>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582788B3-E9C1-8AA3-541E-6F3521BC83F6}"/>
              </a:ext>
            </a:extLst>
          </p:cNvPr>
          <p:cNvSpPr txBox="1"/>
          <p:nvPr/>
        </p:nvSpPr>
        <p:spPr>
          <a:xfrm>
            <a:off x="1181688" y="5157763"/>
            <a:ext cx="11010312" cy="954107"/>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Limitations:</a:t>
            </a:r>
          </a:p>
          <a:p>
            <a:r>
              <a:rPr lang="en-US" b="1" dirty="0">
                <a:latin typeface="Times New Roman" panose="02020603050405020304" pitchFamily="18" charset="0"/>
                <a:cs typeface="Times New Roman" panose="02020603050405020304" pitchFamily="18" charset="0"/>
              </a:rPr>
              <a:t>Target Audience Constraint</a:t>
            </a:r>
            <a:r>
              <a:rPr lang="en-US" dirty="0">
                <a:latin typeface="Times New Roman" panose="02020603050405020304" pitchFamily="18" charset="0"/>
                <a:cs typeface="Times New Roman" panose="02020603050405020304" pitchFamily="18" charset="0"/>
              </a:rPr>
              <a:t>: The current research primarily focuses on the citizen dimension of the chatbot, leaving the validation of professional emergency practitioner functionalities for future work.</a:t>
            </a:r>
            <a:endParaRPr lang="en-US" b="1" dirty="0">
              <a:latin typeface="Times New Roman" panose="02020603050405020304" pitchFamily="18" charset="0"/>
              <a:cs typeface="Times New Roman" panose="02020603050405020304" pitchFamily="18" charset="0"/>
            </a:endParaRPr>
          </a:p>
        </p:txBody>
      </p:sp>
      <p:sp>
        <p:nvSpPr>
          <p:cNvPr id="14" name="Date Placeholder 13">
            <a:extLst>
              <a:ext uri="{FF2B5EF4-FFF2-40B4-BE49-F238E27FC236}">
                <a16:creationId xmlns:a16="http://schemas.microsoft.com/office/drawing/2014/main" id="{4D86A037-690C-CC24-C260-A5E2331C7C3B}"/>
              </a:ext>
            </a:extLst>
          </p:cNvPr>
          <p:cNvSpPr>
            <a:spLocks noGrp="1"/>
          </p:cNvSpPr>
          <p:nvPr>
            <p:ph type="dt" sz="half" idx="10"/>
          </p:nvPr>
        </p:nvSpPr>
        <p:spPr/>
        <p:txBody>
          <a:bodyPr/>
          <a:lstStyle/>
          <a:p>
            <a:fld id="{5F6D8BDD-A45C-402E-8A4B-FB3CAD973C64}"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15" name="Slide Number Placeholder 14">
            <a:extLst>
              <a:ext uri="{FF2B5EF4-FFF2-40B4-BE49-F238E27FC236}">
                <a16:creationId xmlns:a16="http://schemas.microsoft.com/office/drawing/2014/main" id="{DDF8C326-BF38-DFD2-26A9-90477EBD5AAE}"/>
              </a:ext>
            </a:extLst>
          </p:cNvPr>
          <p:cNvSpPr>
            <a:spLocks noGrp="1"/>
          </p:cNvSpPr>
          <p:nvPr>
            <p:ph type="sldNum" sz="quarter" idx="12"/>
          </p:nvPr>
        </p:nvSpPr>
        <p:spPr/>
        <p:txBody>
          <a:bodyPr/>
          <a:lstStyle/>
          <a:p>
            <a:fld id="{06FEDF93-2BFD-41CA-ABC7-B039102F3792}" type="slidenum">
              <a:rPr lang="en-US" smtClean="0"/>
              <a:t>9</a:t>
            </a:fld>
            <a:endParaRPr lang="en-US" dirty="0"/>
          </a:p>
        </p:txBody>
      </p:sp>
      <p:sp>
        <p:nvSpPr>
          <p:cNvPr id="16" name="Footer Placeholder 15">
            <a:extLst>
              <a:ext uri="{FF2B5EF4-FFF2-40B4-BE49-F238E27FC236}">
                <a16:creationId xmlns:a16="http://schemas.microsoft.com/office/drawing/2014/main" id="{CB4D60B9-AFB7-2954-BDCE-F3D089F4CB3D}"/>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3725597237"/>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228600" y="424424"/>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chemeClr val="tx1">
                    <a:lumMod val="75000"/>
                    <a:lumOff val="25000"/>
                  </a:schemeClr>
                </a:solidFill>
              </a:rPr>
              <a:t> </a:t>
            </a: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LITERATURE REVIEW</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182880" y="609699"/>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8373061" y="609699"/>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4" name="Oval 3">
            <a:extLst>
              <a:ext uri="{FF2B5EF4-FFF2-40B4-BE49-F238E27FC236}">
                <a16:creationId xmlns:a16="http://schemas.microsoft.com/office/drawing/2014/main" id="{BB9AF333-C007-76DB-CCD3-39C1DAEFADC2}"/>
              </a:ext>
              <a:ext uri="{C183D7F6-B498-43B3-948B-1728B52AA6E4}">
                <adec:decorative xmlns:adec="http://schemas.microsoft.com/office/drawing/2017/decorative" val="1"/>
              </a:ext>
            </a:extLst>
          </p:cNvPr>
          <p:cNvSpPr/>
          <p:nvPr/>
        </p:nvSpPr>
        <p:spPr>
          <a:xfrm>
            <a:off x="854613" y="1853644"/>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79F44F0F-B25C-202C-5B97-334146C20495}"/>
              </a:ext>
            </a:extLst>
          </p:cNvPr>
          <p:cNvSpPr txBox="1"/>
          <p:nvPr/>
        </p:nvSpPr>
        <p:spPr>
          <a:xfrm>
            <a:off x="1287924" y="1853644"/>
            <a:ext cx="10675476" cy="400110"/>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Title:</a:t>
            </a:r>
            <a:r>
              <a:rPr lang="en-US" dirty="0"/>
              <a:t> </a:t>
            </a:r>
            <a:r>
              <a:rPr lang="en-US" dirty="0">
                <a:latin typeface="Times New Roman" panose="02020603050405020304" pitchFamily="18" charset="0"/>
                <a:cs typeface="Times New Roman" panose="02020603050405020304" pitchFamily="18" charset="0"/>
              </a:rPr>
              <a:t>Analysis of Multimodal Social Media Data Utilizing VIT Base 16 and GPT-2 for Disaster Response</a:t>
            </a:r>
          </a:p>
        </p:txBody>
      </p:sp>
      <p:sp>
        <p:nvSpPr>
          <p:cNvPr id="7" name="Oval 6">
            <a:extLst>
              <a:ext uri="{FF2B5EF4-FFF2-40B4-BE49-F238E27FC236}">
                <a16:creationId xmlns:a16="http://schemas.microsoft.com/office/drawing/2014/main" id="{07469937-D86A-167C-56F2-4B1E270A25F1}"/>
              </a:ext>
              <a:ext uri="{C183D7F6-B498-43B3-948B-1728B52AA6E4}">
                <adec:decorative xmlns:adec="http://schemas.microsoft.com/office/drawing/2017/decorative" val="1"/>
              </a:ext>
            </a:extLst>
          </p:cNvPr>
          <p:cNvSpPr/>
          <p:nvPr/>
        </p:nvSpPr>
        <p:spPr>
          <a:xfrm>
            <a:off x="5553037" y="1010443"/>
            <a:ext cx="814900" cy="77559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mj-lt"/>
              </a:rPr>
              <a:t>04</a:t>
            </a:r>
          </a:p>
        </p:txBody>
      </p:sp>
      <p:sp>
        <p:nvSpPr>
          <p:cNvPr id="8" name="Oval 7">
            <a:extLst>
              <a:ext uri="{FF2B5EF4-FFF2-40B4-BE49-F238E27FC236}">
                <a16:creationId xmlns:a16="http://schemas.microsoft.com/office/drawing/2014/main" id="{956B120C-7B5D-AF73-7552-0812753EF976}"/>
              </a:ext>
              <a:ext uri="{C183D7F6-B498-43B3-948B-1728B52AA6E4}">
                <adec:decorative xmlns:adec="http://schemas.microsoft.com/office/drawing/2017/decorative" val="1"/>
              </a:ext>
            </a:extLst>
          </p:cNvPr>
          <p:cNvSpPr/>
          <p:nvPr/>
        </p:nvSpPr>
        <p:spPr>
          <a:xfrm>
            <a:off x="854613" y="2619429"/>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4A0AB298-E22A-FB45-B951-2D608EDEA475}"/>
              </a:ext>
            </a:extLst>
          </p:cNvPr>
          <p:cNvSpPr txBox="1"/>
          <p:nvPr/>
        </p:nvSpPr>
        <p:spPr>
          <a:xfrm>
            <a:off x="1249650" y="3278750"/>
            <a:ext cx="10675475" cy="1938992"/>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Dataset: </a:t>
            </a:r>
            <a:r>
              <a:rPr lang="en-US" sz="2000" dirty="0">
                <a:latin typeface="Times New Roman" panose="02020603050405020304" pitchFamily="18" charset="0"/>
                <a:cs typeface="Times New Roman" panose="02020603050405020304" pitchFamily="18" charset="0"/>
              </a:rPr>
              <a:t>The study employs the </a:t>
            </a:r>
            <a:r>
              <a:rPr lang="en-US" sz="2000" dirty="0" err="1">
                <a:latin typeface="Times New Roman" panose="02020603050405020304" pitchFamily="18" charset="0"/>
                <a:cs typeface="Times New Roman" panose="02020603050405020304" pitchFamily="18" charset="0"/>
              </a:rPr>
              <a:t>CrisisMMD</a:t>
            </a:r>
            <a:r>
              <a:rPr lang="en-US" sz="2000" dirty="0">
                <a:latin typeface="Times New Roman" panose="02020603050405020304" pitchFamily="18" charset="0"/>
                <a:cs typeface="Times New Roman" panose="02020603050405020304" pitchFamily="18" charset="0"/>
              </a:rPr>
              <a:t> dataset, focusing on the first task of classifying whether a tweet is informative or not. It includes 16,058 tweets and 18,082 images.</a:t>
            </a:r>
          </a:p>
          <a:p>
            <a:r>
              <a:rPr lang="en-US" sz="2000" b="1" dirty="0">
                <a:latin typeface="Times New Roman" panose="02020603050405020304" pitchFamily="18" charset="0"/>
                <a:cs typeface="Times New Roman" panose="02020603050405020304" pitchFamily="18" charset="0"/>
              </a:rPr>
              <a:t>Methodology: </a:t>
            </a:r>
            <a:r>
              <a:rPr lang="en-US" sz="2000" dirty="0">
                <a:latin typeface="Times New Roman" panose="02020603050405020304" pitchFamily="18" charset="0"/>
                <a:cs typeface="Times New Roman" panose="02020603050405020304" pitchFamily="18" charset="0"/>
              </a:rPr>
              <a:t>This approach uniquely combines two advanced transformer models: Vision Transformer (</a:t>
            </a:r>
            <a:r>
              <a:rPr lang="en-US" sz="2000" dirty="0" err="1">
                <a:latin typeface="Times New Roman" panose="02020603050405020304" pitchFamily="18" charset="0"/>
                <a:cs typeface="Times New Roman" panose="02020603050405020304" pitchFamily="18" charset="0"/>
              </a:rPr>
              <a:t>ViT</a:t>
            </a:r>
            <a:r>
              <a:rPr lang="en-US" sz="2000" dirty="0">
                <a:latin typeface="Times New Roman" panose="02020603050405020304" pitchFamily="18" charset="0"/>
                <a:cs typeface="Times New Roman" panose="02020603050405020304" pitchFamily="18" charset="0"/>
              </a:rPr>
              <a:t> Base 16) for image modality and GPT-2 for text modality. The predictions from both models are concatenated and passed through an ensemble Random Forest Classifier to determine the final label. This method outperformed traditional CNN-based models by 13.23%.</a:t>
            </a:r>
          </a:p>
        </p:txBody>
      </p:sp>
      <p:sp>
        <p:nvSpPr>
          <p:cNvPr id="10" name="TextBox 9">
            <a:extLst>
              <a:ext uri="{FF2B5EF4-FFF2-40B4-BE49-F238E27FC236}">
                <a16:creationId xmlns:a16="http://schemas.microsoft.com/office/drawing/2014/main" id="{D2848A77-EDE9-08A2-81B6-EC8013D4B3FA}"/>
              </a:ext>
            </a:extLst>
          </p:cNvPr>
          <p:cNvSpPr txBox="1"/>
          <p:nvPr/>
        </p:nvSpPr>
        <p:spPr>
          <a:xfrm>
            <a:off x="1241570" y="2472176"/>
            <a:ext cx="9895891" cy="707886"/>
          </a:xfrm>
          <a:prstGeom prst="rect">
            <a:avLst/>
          </a:prstGeom>
          <a:noFill/>
        </p:spPr>
        <p:txBody>
          <a:bodyPr wrap="square" rtlCol="0">
            <a:spAutoFit/>
          </a:bodyPr>
          <a:lstStyle/>
          <a:p>
            <a:pPr algn="just" fontAlgn="ctr"/>
            <a:r>
              <a:rPr lang="en-US" sz="2000" b="1" dirty="0">
                <a:latin typeface="Times New Roman" panose="02020603050405020304" pitchFamily="18" charset="0"/>
                <a:cs typeface="Times New Roman" panose="02020603050405020304" pitchFamily="18" charset="0"/>
              </a:rPr>
              <a:t>Authors:</a:t>
            </a:r>
            <a:r>
              <a:rPr lang="en-US" sz="2000" dirty="0">
                <a:latin typeface="Times New Roman" panose="02020603050405020304" pitchFamily="18" charset="0"/>
                <a:cs typeface="Times New Roman" panose="02020603050405020304" pitchFamily="18" charset="0"/>
              </a:rPr>
              <a:t> Shilpa Gite, Shruti Patil, Biswajeet Pradhan, Madhuri Yadav, Sneha Basak, </a:t>
            </a:r>
            <a:r>
              <a:rPr lang="en-US" sz="2000" dirty="0" err="1">
                <a:latin typeface="Times New Roman" panose="02020603050405020304" pitchFamily="18" charset="0"/>
                <a:cs typeface="Times New Roman" panose="02020603050405020304" pitchFamily="18" charset="0"/>
              </a:rPr>
              <a:t>Arundarasi</a:t>
            </a:r>
            <a:r>
              <a:rPr lang="en-US" sz="2000" dirty="0">
                <a:latin typeface="Times New Roman" panose="02020603050405020304" pitchFamily="18" charset="0"/>
                <a:cs typeface="Times New Roman" panose="02020603050405020304" pitchFamily="18" charset="0"/>
              </a:rPr>
              <a:t> Rajendra, Abdullah Alamri, Kaustubh </a:t>
            </a:r>
            <a:r>
              <a:rPr lang="en-US" sz="2000" dirty="0" err="1">
                <a:latin typeface="Times New Roman" panose="02020603050405020304" pitchFamily="18" charset="0"/>
                <a:cs typeface="Times New Roman" panose="02020603050405020304" pitchFamily="18" charset="0"/>
              </a:rPr>
              <a:t>Raykar</a:t>
            </a:r>
            <a:r>
              <a:rPr lang="en-US" sz="2000" dirty="0">
                <a:latin typeface="Times New Roman" panose="02020603050405020304" pitchFamily="18" charset="0"/>
                <a:cs typeface="Times New Roman" panose="02020603050405020304" pitchFamily="18" charset="0"/>
              </a:rPr>
              <a:t>, Ketan Kotecha</a:t>
            </a:r>
          </a:p>
        </p:txBody>
      </p:sp>
      <p:sp>
        <p:nvSpPr>
          <p:cNvPr id="11" name="Oval 10">
            <a:extLst>
              <a:ext uri="{FF2B5EF4-FFF2-40B4-BE49-F238E27FC236}">
                <a16:creationId xmlns:a16="http://schemas.microsoft.com/office/drawing/2014/main" id="{897DA6F4-36EA-4457-1CC8-521437C6E036}"/>
              </a:ext>
              <a:ext uri="{C183D7F6-B498-43B3-948B-1728B52AA6E4}">
                <adec:decorative xmlns:adec="http://schemas.microsoft.com/office/drawing/2017/decorative" val="1"/>
              </a:ext>
            </a:extLst>
          </p:cNvPr>
          <p:cNvSpPr/>
          <p:nvPr/>
        </p:nvSpPr>
        <p:spPr>
          <a:xfrm>
            <a:off x="854613" y="3495184"/>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BA8500F9-BEC3-F2BB-7406-1E93E71356CE}"/>
              </a:ext>
              <a:ext uri="{C183D7F6-B498-43B3-948B-1728B52AA6E4}">
                <adec:decorative xmlns:adec="http://schemas.microsoft.com/office/drawing/2017/decorative" val="1"/>
              </a:ext>
            </a:extLst>
          </p:cNvPr>
          <p:cNvSpPr/>
          <p:nvPr/>
        </p:nvSpPr>
        <p:spPr>
          <a:xfrm>
            <a:off x="838200" y="5244898"/>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582788B3-E9C1-8AA3-541E-6F3521BC83F6}"/>
              </a:ext>
            </a:extLst>
          </p:cNvPr>
          <p:cNvSpPr txBox="1"/>
          <p:nvPr/>
        </p:nvSpPr>
        <p:spPr>
          <a:xfrm>
            <a:off x="1291882" y="5234141"/>
            <a:ext cx="9124291" cy="923330"/>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Limitations:</a:t>
            </a:r>
          </a:p>
          <a:p>
            <a:r>
              <a:rPr lang="en-US" b="1" dirty="0">
                <a:latin typeface="Times New Roman" panose="02020603050405020304" pitchFamily="18" charset="0"/>
                <a:cs typeface="Times New Roman" panose="02020603050405020304" pitchFamily="18" charset="0"/>
              </a:rPr>
              <a:t>Lack of Tuning: </a:t>
            </a:r>
            <a:r>
              <a:rPr lang="en-US" dirty="0">
                <a:latin typeface="Times New Roman" panose="02020603050405020304" pitchFamily="18" charset="0"/>
                <a:cs typeface="Times New Roman" panose="02020603050405020304" pitchFamily="18" charset="0"/>
              </a:rPr>
              <a:t>The researchers did not perform hyperparameter tuning using specified optimization techniques, identifying this as a primary area for future analysis.</a:t>
            </a:r>
          </a:p>
        </p:txBody>
      </p:sp>
      <p:sp>
        <p:nvSpPr>
          <p:cNvPr id="14" name="Date Placeholder 13">
            <a:extLst>
              <a:ext uri="{FF2B5EF4-FFF2-40B4-BE49-F238E27FC236}">
                <a16:creationId xmlns:a16="http://schemas.microsoft.com/office/drawing/2014/main" id="{4BB32132-E56E-895E-6601-903315FC2D54}"/>
              </a:ext>
            </a:extLst>
          </p:cNvPr>
          <p:cNvSpPr>
            <a:spLocks noGrp="1"/>
          </p:cNvSpPr>
          <p:nvPr>
            <p:ph type="dt" sz="half" idx="10"/>
          </p:nvPr>
        </p:nvSpPr>
        <p:spPr/>
        <p:txBody>
          <a:bodyPr/>
          <a:lstStyle/>
          <a:p>
            <a:fld id="{9AA2C3E1-2E4D-478B-B501-274660563294}"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15" name="Slide Number Placeholder 14">
            <a:extLst>
              <a:ext uri="{FF2B5EF4-FFF2-40B4-BE49-F238E27FC236}">
                <a16:creationId xmlns:a16="http://schemas.microsoft.com/office/drawing/2014/main" id="{EC2DB5F1-36A8-1E2F-AEFE-87780D2EAB9C}"/>
              </a:ext>
            </a:extLst>
          </p:cNvPr>
          <p:cNvSpPr>
            <a:spLocks noGrp="1"/>
          </p:cNvSpPr>
          <p:nvPr>
            <p:ph type="sldNum" sz="quarter" idx="12"/>
          </p:nvPr>
        </p:nvSpPr>
        <p:spPr/>
        <p:txBody>
          <a:bodyPr/>
          <a:lstStyle/>
          <a:p>
            <a:fld id="{06FEDF93-2BFD-41CA-ABC7-B039102F3792}" type="slidenum">
              <a:rPr lang="en-US" smtClean="0"/>
              <a:t>10</a:t>
            </a:fld>
            <a:endParaRPr lang="en-US" dirty="0"/>
          </a:p>
        </p:txBody>
      </p:sp>
      <p:sp>
        <p:nvSpPr>
          <p:cNvPr id="16" name="Footer Placeholder 15">
            <a:extLst>
              <a:ext uri="{FF2B5EF4-FFF2-40B4-BE49-F238E27FC236}">
                <a16:creationId xmlns:a16="http://schemas.microsoft.com/office/drawing/2014/main" id="{3D40E79A-F51E-8398-B6A9-ADF7F94CE796}"/>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3163021546"/>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228600" y="424424"/>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chemeClr val="tx1">
                    <a:lumMod val="75000"/>
                    <a:lumOff val="25000"/>
                  </a:schemeClr>
                </a:solidFill>
              </a:rPr>
              <a:t> </a:t>
            </a: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LITERATURE REVIEW</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182880" y="609699"/>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8373061" y="609699"/>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4" name="Oval 3">
            <a:extLst>
              <a:ext uri="{FF2B5EF4-FFF2-40B4-BE49-F238E27FC236}">
                <a16:creationId xmlns:a16="http://schemas.microsoft.com/office/drawing/2014/main" id="{BB9AF333-C007-76DB-CCD3-39C1DAEFADC2}"/>
              </a:ext>
              <a:ext uri="{C183D7F6-B498-43B3-948B-1728B52AA6E4}">
                <adec:decorative xmlns:adec="http://schemas.microsoft.com/office/drawing/2017/decorative" val="1"/>
              </a:ext>
            </a:extLst>
          </p:cNvPr>
          <p:cNvSpPr/>
          <p:nvPr/>
        </p:nvSpPr>
        <p:spPr>
          <a:xfrm>
            <a:off x="838200" y="1752295"/>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79F44F0F-B25C-202C-5B97-334146C20495}"/>
              </a:ext>
            </a:extLst>
          </p:cNvPr>
          <p:cNvSpPr txBox="1"/>
          <p:nvPr/>
        </p:nvSpPr>
        <p:spPr>
          <a:xfrm>
            <a:off x="1202393" y="1735761"/>
            <a:ext cx="10675476" cy="400110"/>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Title:</a:t>
            </a:r>
            <a:r>
              <a:rPr lang="en-US" dirty="0"/>
              <a:t> </a:t>
            </a:r>
            <a:r>
              <a:rPr lang="en-US" dirty="0">
                <a:latin typeface="Times New Roman" panose="02020603050405020304" pitchFamily="18" charset="0"/>
                <a:cs typeface="Times New Roman" panose="02020603050405020304" pitchFamily="18" charset="0"/>
              </a:rPr>
              <a:t>VLCE: A Knowledge-Enhanced Framework for Image Description in Disaster Assessment</a:t>
            </a:r>
          </a:p>
        </p:txBody>
      </p:sp>
      <p:sp>
        <p:nvSpPr>
          <p:cNvPr id="7" name="Oval 6">
            <a:extLst>
              <a:ext uri="{FF2B5EF4-FFF2-40B4-BE49-F238E27FC236}">
                <a16:creationId xmlns:a16="http://schemas.microsoft.com/office/drawing/2014/main" id="{07469937-D86A-167C-56F2-4B1E270A25F1}"/>
              </a:ext>
              <a:ext uri="{C183D7F6-B498-43B3-948B-1728B52AA6E4}">
                <adec:decorative xmlns:adec="http://schemas.microsoft.com/office/drawing/2017/decorative" val="1"/>
              </a:ext>
            </a:extLst>
          </p:cNvPr>
          <p:cNvSpPr/>
          <p:nvPr/>
        </p:nvSpPr>
        <p:spPr>
          <a:xfrm>
            <a:off x="5553037" y="860642"/>
            <a:ext cx="814900" cy="77559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mj-lt"/>
              </a:rPr>
              <a:t>05</a:t>
            </a:r>
          </a:p>
        </p:txBody>
      </p:sp>
      <p:sp>
        <p:nvSpPr>
          <p:cNvPr id="8" name="Oval 7">
            <a:extLst>
              <a:ext uri="{FF2B5EF4-FFF2-40B4-BE49-F238E27FC236}">
                <a16:creationId xmlns:a16="http://schemas.microsoft.com/office/drawing/2014/main" id="{956B120C-7B5D-AF73-7552-0812753EF976}"/>
              </a:ext>
              <a:ext uri="{C183D7F6-B498-43B3-948B-1728B52AA6E4}">
                <adec:decorative xmlns:adec="http://schemas.microsoft.com/office/drawing/2017/decorative" val="1"/>
              </a:ext>
            </a:extLst>
          </p:cNvPr>
          <p:cNvSpPr/>
          <p:nvPr/>
        </p:nvSpPr>
        <p:spPr>
          <a:xfrm>
            <a:off x="838200" y="2471129"/>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4A0AB298-E22A-FB45-B951-2D608EDEA475}"/>
              </a:ext>
            </a:extLst>
          </p:cNvPr>
          <p:cNvSpPr txBox="1"/>
          <p:nvPr/>
        </p:nvSpPr>
        <p:spPr>
          <a:xfrm>
            <a:off x="1182476" y="3119556"/>
            <a:ext cx="10675475" cy="1754326"/>
          </a:xfrm>
          <a:prstGeom prst="rect">
            <a:avLst/>
          </a:prstGeom>
          <a:noFill/>
        </p:spPr>
        <p:txBody>
          <a:bodyPr wrap="square" rtlCol="0">
            <a:spAutoFit/>
          </a:bodyPr>
          <a:lstStyle/>
          <a:p>
            <a:pPr algn="just"/>
            <a:r>
              <a:rPr lang="en-US" b="1" dirty="0">
                <a:latin typeface="Times New Roman" panose="02020603050405020304" pitchFamily="18" charset="0"/>
                <a:cs typeface="Times New Roman" panose="02020603050405020304" pitchFamily="18" charset="0"/>
              </a:rPr>
              <a:t>Dataset </a:t>
            </a:r>
            <a:r>
              <a:rPr lang="en-US" dirty="0">
                <a:latin typeface="Times New Roman" panose="02020603050405020304" pitchFamily="18" charset="0"/>
                <a:cs typeface="Times New Roman" panose="02020603050405020304" pitchFamily="18" charset="0"/>
              </a:rPr>
              <a:t>Utilizes </a:t>
            </a:r>
            <a:r>
              <a:rPr lang="en-US" b="1" dirty="0" err="1">
                <a:latin typeface="Times New Roman" panose="02020603050405020304" pitchFamily="18" charset="0"/>
                <a:cs typeface="Times New Roman" panose="02020603050405020304" pitchFamily="18" charset="0"/>
              </a:rPr>
              <a:t>xBD</a:t>
            </a:r>
            <a:r>
              <a:rPr lang="en-US" dirty="0">
                <a:latin typeface="Times New Roman" panose="02020603050405020304" pitchFamily="18" charset="0"/>
                <a:cs typeface="Times New Roman" panose="02020603050405020304" pitchFamily="18" charset="0"/>
              </a:rPr>
              <a:t> (12,738 satellite images) and </a:t>
            </a:r>
            <a:r>
              <a:rPr lang="en-US" b="1" dirty="0" err="1">
                <a:latin typeface="Times New Roman" panose="02020603050405020304" pitchFamily="18" charset="0"/>
                <a:cs typeface="Times New Roman" panose="02020603050405020304" pitchFamily="18" charset="0"/>
              </a:rPr>
              <a:t>RescueNet</a:t>
            </a:r>
            <a:r>
              <a:rPr lang="en-US" dirty="0">
                <a:latin typeface="Times New Roman" panose="02020603050405020304" pitchFamily="18" charset="0"/>
                <a:cs typeface="Times New Roman" panose="02020603050405020304" pitchFamily="18" charset="0"/>
              </a:rPr>
              <a:t> (4,494 UAV images captured after Hurricane Michael).</a:t>
            </a:r>
          </a:p>
          <a:p>
            <a:pPr algn="just"/>
            <a:r>
              <a:rPr lang="en-US" b="1" dirty="0">
                <a:latin typeface="Times New Roman" panose="02020603050405020304" pitchFamily="18" charset="0"/>
                <a:cs typeface="Times New Roman" panose="02020603050405020304" pitchFamily="18" charset="0"/>
              </a:rPr>
              <a:t>Methodology</a:t>
            </a:r>
            <a:r>
              <a:rPr lang="en-US" dirty="0">
                <a:latin typeface="Times New Roman" panose="02020603050405020304" pitchFamily="18" charset="0"/>
                <a:cs typeface="Times New Roman" panose="02020603050405020304" pitchFamily="18" charset="0"/>
              </a:rPr>
              <a:t>: Introduces the </a:t>
            </a:r>
            <a:r>
              <a:rPr lang="en-US" b="1" dirty="0">
                <a:latin typeface="Times New Roman" panose="02020603050405020304" pitchFamily="18" charset="0"/>
                <a:cs typeface="Times New Roman" panose="02020603050405020304" pitchFamily="18" charset="0"/>
              </a:rPr>
              <a:t>Vision Language Caption Enhancer (VLCE)</a:t>
            </a:r>
            <a:r>
              <a:rPr lang="en-US" dirty="0">
                <a:latin typeface="Times New Roman" panose="02020603050405020304" pitchFamily="18" charset="0"/>
                <a:cs typeface="Times New Roman" panose="02020603050405020304" pitchFamily="18" charset="0"/>
              </a:rPr>
              <a:t>, which integrates semantic knowledge from </a:t>
            </a:r>
            <a:r>
              <a:rPr lang="en-US" b="1" dirty="0" err="1">
                <a:latin typeface="Times New Roman" panose="02020603050405020304" pitchFamily="18" charset="0"/>
                <a:cs typeface="Times New Roman" panose="02020603050405020304" pitchFamily="18" charset="0"/>
              </a:rPr>
              <a:t>ConceptNet</a:t>
            </a:r>
            <a:r>
              <a:rPr lang="en-US" b="1" dirty="0">
                <a:latin typeface="Times New Roman" panose="02020603050405020304" pitchFamily="18" charset="0"/>
                <a:cs typeface="Times New Roman" panose="02020603050405020304" pitchFamily="18" charset="0"/>
              </a:rPr>
              <a:t> and WordNet</a:t>
            </a:r>
            <a:r>
              <a:rPr lang="en-US" dirty="0">
                <a:latin typeface="Times New Roman" panose="02020603050405020304" pitchFamily="18" charset="0"/>
                <a:cs typeface="Times New Roman" panose="02020603050405020304" pitchFamily="18" charset="0"/>
              </a:rPr>
              <a:t> to enrich disaster descriptions. It employs </a:t>
            </a:r>
            <a:r>
              <a:rPr lang="en-US" b="1" dirty="0">
                <a:latin typeface="Times New Roman" panose="02020603050405020304" pitchFamily="18" charset="0"/>
                <a:cs typeface="Times New Roman" panose="02020603050405020304" pitchFamily="18" charset="0"/>
              </a:rPr>
              <a:t>YOLOv8</a:t>
            </a:r>
            <a:r>
              <a:rPr lang="en-US" dirty="0">
                <a:latin typeface="Times New Roman" panose="02020603050405020304" pitchFamily="18" charset="0"/>
                <a:cs typeface="Times New Roman" panose="02020603050405020304" pitchFamily="18" charset="0"/>
              </a:rPr>
              <a:t> for object detection to prompt Vision-Language Models (</a:t>
            </a:r>
            <a:r>
              <a:rPr lang="en-US" b="1" dirty="0" err="1">
                <a:latin typeface="Times New Roman" panose="02020603050405020304" pitchFamily="18" charset="0"/>
                <a:cs typeface="Times New Roman" panose="02020603050405020304" pitchFamily="18" charset="0"/>
              </a:rPr>
              <a:t>LLaVA</a:t>
            </a:r>
            <a:r>
              <a:rPr lang="en-US" b="1" dirty="0">
                <a:latin typeface="Times New Roman" panose="02020603050405020304" pitchFamily="18" charset="0"/>
                <a:cs typeface="Times New Roman" panose="02020603050405020304" pitchFamily="18" charset="0"/>
              </a:rPr>
              <a:t> and </a:t>
            </a:r>
            <a:r>
              <a:rPr lang="en-US" b="1" dirty="0" err="1">
                <a:latin typeface="Times New Roman" panose="02020603050405020304" pitchFamily="18" charset="0"/>
                <a:cs typeface="Times New Roman" panose="02020603050405020304" pitchFamily="18" charset="0"/>
              </a:rPr>
              <a:t>QwenVL</a:t>
            </a:r>
            <a:r>
              <a:rPr lang="en-US" dirty="0">
                <a:latin typeface="Times New Roman" panose="02020603050405020304" pitchFamily="18" charset="0"/>
                <a:cs typeface="Times New Roman" panose="02020603050405020304" pitchFamily="18" charset="0"/>
              </a:rPr>
              <a:t>). The framework uses two specialized architectures: </a:t>
            </a:r>
            <a:r>
              <a:rPr lang="en-US" b="1" dirty="0">
                <a:latin typeface="Times New Roman" panose="02020603050405020304" pitchFamily="18" charset="0"/>
                <a:cs typeface="Times New Roman" panose="02020603050405020304" pitchFamily="18" charset="0"/>
              </a:rPr>
              <a:t>CNN-LSTM</a:t>
            </a:r>
            <a:r>
              <a:rPr lang="en-US" dirty="0">
                <a:latin typeface="Times New Roman" panose="02020603050405020304" pitchFamily="18" charset="0"/>
                <a:cs typeface="Times New Roman" panose="02020603050405020304" pitchFamily="18" charset="0"/>
              </a:rPr>
              <a:t> for satellite imagery and a </a:t>
            </a:r>
            <a:r>
              <a:rPr lang="en-US" b="1" dirty="0">
                <a:latin typeface="Times New Roman" panose="02020603050405020304" pitchFamily="18" charset="0"/>
                <a:cs typeface="Times New Roman" panose="02020603050405020304" pitchFamily="18" charset="0"/>
              </a:rPr>
              <a:t>Vision Transformer (</a:t>
            </a:r>
            <a:r>
              <a:rPr lang="en-US" b="1" dirty="0" err="1">
                <a:latin typeface="Times New Roman" panose="02020603050405020304" pitchFamily="18" charset="0"/>
                <a:cs typeface="Times New Roman" panose="02020603050405020304" pitchFamily="18" charset="0"/>
              </a:rPr>
              <a:t>ViT</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for UAV imagery.</a:t>
            </a:r>
          </a:p>
        </p:txBody>
      </p:sp>
      <p:sp>
        <p:nvSpPr>
          <p:cNvPr id="10" name="TextBox 9">
            <a:extLst>
              <a:ext uri="{FF2B5EF4-FFF2-40B4-BE49-F238E27FC236}">
                <a16:creationId xmlns:a16="http://schemas.microsoft.com/office/drawing/2014/main" id="{D2848A77-EDE9-08A2-81B6-EC8013D4B3FA}"/>
              </a:ext>
            </a:extLst>
          </p:cNvPr>
          <p:cNvSpPr txBox="1"/>
          <p:nvPr/>
        </p:nvSpPr>
        <p:spPr>
          <a:xfrm>
            <a:off x="1151300" y="2424382"/>
            <a:ext cx="10589945" cy="646331"/>
          </a:xfrm>
          <a:prstGeom prst="rect">
            <a:avLst/>
          </a:prstGeom>
          <a:noFill/>
        </p:spPr>
        <p:txBody>
          <a:bodyPr wrap="square" rtlCol="0">
            <a:spAutoFit/>
          </a:bodyPr>
          <a:lstStyle/>
          <a:p>
            <a:pPr algn="just" fontAlgn="ctr"/>
            <a:r>
              <a:rPr lang="en-US" b="1" dirty="0">
                <a:latin typeface="Times New Roman" panose="02020603050405020304" pitchFamily="18" charset="0"/>
                <a:cs typeface="Times New Roman" panose="02020603050405020304" pitchFamily="18" charset="0"/>
              </a:rPr>
              <a:t>Authors: </a:t>
            </a:r>
            <a:r>
              <a:rPr lang="en-US" dirty="0">
                <a:latin typeface="Times New Roman" panose="02020603050405020304" pitchFamily="18" charset="0"/>
                <a:cs typeface="Times New Roman" panose="02020603050405020304" pitchFamily="18" charset="0"/>
              </a:rPr>
              <a:t>Md. Mahfuzur Rahman, </a:t>
            </a:r>
            <a:r>
              <a:rPr lang="en-US" dirty="0" err="1">
                <a:latin typeface="Times New Roman" panose="02020603050405020304" pitchFamily="18" charset="0"/>
                <a:cs typeface="Times New Roman" panose="02020603050405020304" pitchFamily="18" charset="0"/>
              </a:rPr>
              <a:t>Marufa</a:t>
            </a:r>
            <a:r>
              <a:rPr lang="en-US" dirty="0">
                <a:latin typeface="Times New Roman" panose="02020603050405020304" pitchFamily="18" charset="0"/>
                <a:cs typeface="Times New Roman" panose="02020603050405020304" pitchFamily="18" charset="0"/>
              </a:rPr>
              <a:t> Kamal, </a:t>
            </a:r>
            <a:r>
              <a:rPr lang="en-US" dirty="0" err="1">
                <a:latin typeface="Times New Roman" panose="02020603050405020304" pitchFamily="18" charset="0"/>
                <a:cs typeface="Times New Roman" panose="02020603050405020304" pitchFamily="18" charset="0"/>
              </a:rPr>
              <a:t>Sunzida</a:t>
            </a:r>
            <a:r>
              <a:rPr lang="en-US" dirty="0">
                <a:latin typeface="Times New Roman" panose="02020603050405020304" pitchFamily="18" charset="0"/>
                <a:cs typeface="Times New Roman" panose="02020603050405020304" pitchFamily="18" charset="0"/>
              </a:rPr>
              <a:t> Siddique, Mohd Ariful Haque, Kishor Datta Gupta, Fahad Rahman, Ahmed Rafi Hasan, Roy George</a:t>
            </a:r>
          </a:p>
        </p:txBody>
      </p:sp>
      <p:sp>
        <p:nvSpPr>
          <p:cNvPr id="11" name="Oval 10">
            <a:extLst>
              <a:ext uri="{FF2B5EF4-FFF2-40B4-BE49-F238E27FC236}">
                <a16:creationId xmlns:a16="http://schemas.microsoft.com/office/drawing/2014/main" id="{897DA6F4-36EA-4457-1CC8-521437C6E036}"/>
              </a:ext>
              <a:ext uri="{C183D7F6-B498-43B3-948B-1728B52AA6E4}">
                <adec:decorative xmlns:adec="http://schemas.microsoft.com/office/drawing/2017/decorative" val="1"/>
              </a:ext>
            </a:extLst>
          </p:cNvPr>
          <p:cNvSpPr/>
          <p:nvPr/>
        </p:nvSpPr>
        <p:spPr>
          <a:xfrm>
            <a:off x="826550" y="3144384"/>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BA8500F9-BEC3-F2BB-7406-1E93E71356CE}"/>
              </a:ext>
              <a:ext uri="{C183D7F6-B498-43B3-948B-1728B52AA6E4}">
                <adec:decorative xmlns:adec="http://schemas.microsoft.com/office/drawing/2017/decorative" val="1"/>
              </a:ext>
            </a:extLst>
          </p:cNvPr>
          <p:cNvSpPr/>
          <p:nvPr/>
        </p:nvSpPr>
        <p:spPr>
          <a:xfrm>
            <a:off x="788413" y="4873882"/>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582788B3-E9C1-8AA3-541E-6F3521BC83F6}"/>
              </a:ext>
            </a:extLst>
          </p:cNvPr>
          <p:cNvSpPr txBox="1"/>
          <p:nvPr/>
        </p:nvSpPr>
        <p:spPr>
          <a:xfrm>
            <a:off x="1151300" y="4830179"/>
            <a:ext cx="10798028" cy="1477328"/>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Limitations: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High Dependence on External Knowledge: Performance drops drastically (below 2%) without </a:t>
            </a:r>
            <a:r>
              <a:rPr lang="en-US" dirty="0" err="1">
                <a:latin typeface="Times New Roman" panose="02020603050405020304" pitchFamily="18" charset="0"/>
                <a:cs typeface="Times New Roman" panose="02020603050405020304" pitchFamily="18" charset="0"/>
              </a:rPr>
              <a:t>ConceptNet</a:t>
            </a:r>
            <a:r>
              <a:rPr lang="en-US" dirty="0">
                <a:latin typeface="Times New Roman" panose="02020603050405020304" pitchFamily="18" charset="0"/>
                <a:cs typeface="Times New Roman" panose="02020603050405020304" pitchFamily="18" charset="0"/>
              </a:rPr>
              <a:t> and WordNet.</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Variable Semantic Alignment Gains: Knowledge integration improves informativeness, but effects on </a:t>
            </a:r>
            <a:r>
              <a:rPr lang="en-US" dirty="0" err="1">
                <a:latin typeface="Times New Roman" panose="02020603050405020304" pitchFamily="18" charset="0"/>
                <a:cs typeface="Times New Roman" panose="02020603050405020304" pitchFamily="18" charset="0"/>
              </a:rPr>
              <a:t>CLIPScore</a:t>
            </a:r>
            <a:r>
              <a:rPr lang="en-US" dirty="0">
                <a:latin typeface="Times New Roman" panose="02020603050405020304" pitchFamily="18" charset="0"/>
                <a:cs typeface="Times New Roman" panose="02020603050405020304" pitchFamily="18" charset="0"/>
              </a:rPr>
              <a:t> vary by model and dataset.</a:t>
            </a:r>
          </a:p>
        </p:txBody>
      </p:sp>
      <p:sp>
        <p:nvSpPr>
          <p:cNvPr id="14" name="Date Placeholder 13">
            <a:extLst>
              <a:ext uri="{FF2B5EF4-FFF2-40B4-BE49-F238E27FC236}">
                <a16:creationId xmlns:a16="http://schemas.microsoft.com/office/drawing/2014/main" id="{9BF65D8D-D419-FD3C-CF72-3B45DADAAADF}"/>
              </a:ext>
            </a:extLst>
          </p:cNvPr>
          <p:cNvSpPr>
            <a:spLocks noGrp="1"/>
          </p:cNvSpPr>
          <p:nvPr>
            <p:ph type="dt" sz="half" idx="10"/>
          </p:nvPr>
        </p:nvSpPr>
        <p:spPr/>
        <p:txBody>
          <a:bodyPr/>
          <a:lstStyle/>
          <a:p>
            <a:fld id="{B11BD9DF-D678-4E5F-99EF-FECE4953A0C9}"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15" name="Slide Number Placeholder 14">
            <a:extLst>
              <a:ext uri="{FF2B5EF4-FFF2-40B4-BE49-F238E27FC236}">
                <a16:creationId xmlns:a16="http://schemas.microsoft.com/office/drawing/2014/main" id="{BA2D391B-9FB3-9B72-63B3-6DDB13FB5C3D}"/>
              </a:ext>
            </a:extLst>
          </p:cNvPr>
          <p:cNvSpPr>
            <a:spLocks noGrp="1"/>
          </p:cNvSpPr>
          <p:nvPr>
            <p:ph type="sldNum" sz="quarter" idx="12"/>
          </p:nvPr>
        </p:nvSpPr>
        <p:spPr/>
        <p:txBody>
          <a:bodyPr/>
          <a:lstStyle/>
          <a:p>
            <a:fld id="{06FEDF93-2BFD-41CA-ABC7-B039102F3792}" type="slidenum">
              <a:rPr lang="en-US" smtClean="0"/>
              <a:t>11</a:t>
            </a:fld>
            <a:endParaRPr lang="en-US" dirty="0"/>
          </a:p>
        </p:txBody>
      </p:sp>
      <p:sp>
        <p:nvSpPr>
          <p:cNvPr id="16" name="Footer Placeholder 15">
            <a:extLst>
              <a:ext uri="{FF2B5EF4-FFF2-40B4-BE49-F238E27FC236}">
                <a16:creationId xmlns:a16="http://schemas.microsoft.com/office/drawing/2014/main" id="{3487F5C6-DE93-BA39-BAB3-DB99FDB82230}"/>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2974732570"/>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172329" y="403965"/>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chemeClr val="tx1">
                    <a:lumMod val="75000"/>
                    <a:lumOff val="25000"/>
                  </a:schemeClr>
                </a:solidFill>
              </a:rPr>
              <a:t> </a:t>
            </a: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RESEARCH GAP</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172329" y="59402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7820904" y="59402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4" name="Oval 3">
            <a:extLst>
              <a:ext uri="{FF2B5EF4-FFF2-40B4-BE49-F238E27FC236}">
                <a16:creationId xmlns:a16="http://schemas.microsoft.com/office/drawing/2014/main" id="{14707B56-BBBF-F2E0-6CD6-708237A16063}"/>
              </a:ext>
              <a:ext uri="{C183D7F6-B498-43B3-948B-1728B52AA6E4}">
                <adec:decorative xmlns:adec="http://schemas.microsoft.com/office/drawing/2017/decorative" val="1"/>
              </a:ext>
            </a:extLst>
          </p:cNvPr>
          <p:cNvSpPr/>
          <p:nvPr/>
        </p:nvSpPr>
        <p:spPr>
          <a:xfrm>
            <a:off x="744554" y="1276069"/>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5300DBC6-7870-737C-0982-10A44DBD4CB3}"/>
              </a:ext>
              <a:ext uri="{C183D7F6-B498-43B3-948B-1728B52AA6E4}">
                <adec:decorative xmlns:adec="http://schemas.microsoft.com/office/drawing/2017/decorative" val="1"/>
              </a:ext>
            </a:extLst>
          </p:cNvPr>
          <p:cNvSpPr/>
          <p:nvPr/>
        </p:nvSpPr>
        <p:spPr>
          <a:xfrm>
            <a:off x="744554" y="4417986"/>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2447EB50-7512-D876-3B9D-D8CB3532DE07}"/>
              </a:ext>
              <a:ext uri="{C183D7F6-B498-43B3-948B-1728B52AA6E4}">
                <adec:decorative xmlns:adec="http://schemas.microsoft.com/office/drawing/2017/decorative" val="1"/>
              </a:ext>
            </a:extLst>
          </p:cNvPr>
          <p:cNvSpPr/>
          <p:nvPr/>
        </p:nvSpPr>
        <p:spPr>
          <a:xfrm>
            <a:off x="744554" y="3021975"/>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Date Placeholder 15">
            <a:extLst>
              <a:ext uri="{FF2B5EF4-FFF2-40B4-BE49-F238E27FC236}">
                <a16:creationId xmlns:a16="http://schemas.microsoft.com/office/drawing/2014/main" id="{D7AEF2D0-BEF5-43F4-61F5-5FF6EAD77904}"/>
              </a:ext>
            </a:extLst>
          </p:cNvPr>
          <p:cNvSpPr>
            <a:spLocks noGrp="1"/>
          </p:cNvSpPr>
          <p:nvPr>
            <p:ph type="dt" sz="half" idx="10"/>
          </p:nvPr>
        </p:nvSpPr>
        <p:spPr/>
        <p:txBody>
          <a:bodyPr/>
          <a:lstStyle/>
          <a:p>
            <a:fld id="{1DDC5047-C43B-4B34-B058-BE0317CD7C61}"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17" name="Slide Number Placeholder 16">
            <a:extLst>
              <a:ext uri="{FF2B5EF4-FFF2-40B4-BE49-F238E27FC236}">
                <a16:creationId xmlns:a16="http://schemas.microsoft.com/office/drawing/2014/main" id="{40CD2AA8-3CEE-D1D1-316F-D8D8A22465C5}"/>
              </a:ext>
            </a:extLst>
          </p:cNvPr>
          <p:cNvSpPr>
            <a:spLocks noGrp="1"/>
          </p:cNvSpPr>
          <p:nvPr>
            <p:ph type="sldNum" sz="quarter" idx="12"/>
          </p:nvPr>
        </p:nvSpPr>
        <p:spPr/>
        <p:txBody>
          <a:bodyPr/>
          <a:lstStyle/>
          <a:p>
            <a:fld id="{06FEDF93-2BFD-41CA-ABC7-B039102F3792}" type="slidenum">
              <a:rPr lang="en-US" smtClean="0"/>
              <a:t>12</a:t>
            </a:fld>
            <a:endParaRPr lang="en-US" dirty="0"/>
          </a:p>
        </p:txBody>
      </p:sp>
      <p:sp>
        <p:nvSpPr>
          <p:cNvPr id="9" name="TextBox 8">
            <a:extLst>
              <a:ext uri="{FF2B5EF4-FFF2-40B4-BE49-F238E27FC236}">
                <a16:creationId xmlns:a16="http://schemas.microsoft.com/office/drawing/2014/main" id="{BF06F1B1-07D3-0183-CAE9-7DEB0CE3F776}"/>
              </a:ext>
            </a:extLst>
          </p:cNvPr>
          <p:cNvSpPr txBox="1"/>
          <p:nvPr/>
        </p:nvSpPr>
        <p:spPr>
          <a:xfrm>
            <a:off x="1433872" y="1159971"/>
            <a:ext cx="9734843" cy="1754326"/>
          </a:xfrm>
          <a:prstGeom prst="rect">
            <a:avLst/>
          </a:prstGeom>
          <a:noFill/>
        </p:spPr>
        <p:txBody>
          <a:bodyPr wrap="square" rtlCol="0">
            <a:spAutoFit/>
          </a:bodyPr>
          <a:lstStyle/>
          <a:p>
            <a:pPr algn="just"/>
            <a:r>
              <a:rPr lang="en-US" b="1" dirty="0">
                <a:latin typeface="Times New Roman" panose="02020603050405020304" pitchFamily="18" charset="0"/>
                <a:cs typeface="Times New Roman" panose="02020603050405020304" pitchFamily="18" charset="0"/>
              </a:rPr>
              <a:t>Lack of "Joint Semantic Understanding"</a:t>
            </a:r>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The Issue:</a:t>
            </a:r>
            <a:r>
              <a:rPr lang="en-US" dirty="0">
                <a:latin typeface="Times New Roman" panose="02020603050405020304" pitchFamily="18" charset="0"/>
                <a:cs typeface="Times New Roman" panose="02020603050405020304" pitchFamily="18" charset="0"/>
              </a:rPr>
              <a:t> Most previous works (e.g., VGG16 + </a:t>
            </a:r>
            <a:r>
              <a:rPr lang="en-US" dirty="0" err="1">
                <a:latin typeface="Times New Roman" panose="02020603050405020304" pitchFamily="18" charset="0"/>
                <a:cs typeface="Times New Roman" panose="02020603050405020304" pitchFamily="18" charset="0"/>
              </a:rPr>
              <a:t>FastText</a:t>
            </a:r>
            <a:r>
              <a:rPr lang="en-US" dirty="0">
                <a:latin typeface="Times New Roman" panose="02020603050405020304" pitchFamily="18" charset="0"/>
                <a:cs typeface="Times New Roman" panose="02020603050405020304" pitchFamily="18" charset="0"/>
              </a:rPr>
              <a:t>) use separate models that are "blind" to each other during training.</a:t>
            </a:r>
          </a:p>
          <a:p>
            <a:pPr algn="just"/>
            <a:r>
              <a:rPr lang="en-US" b="1" dirty="0">
                <a:latin typeface="Times New Roman" panose="02020603050405020304" pitchFamily="18" charset="0"/>
                <a:cs typeface="Times New Roman" panose="02020603050405020304" pitchFamily="18" charset="0"/>
              </a:rPr>
              <a:t>The Gap:</a:t>
            </a:r>
            <a:r>
              <a:rPr lang="en-US" dirty="0">
                <a:latin typeface="Times New Roman" panose="02020603050405020304" pitchFamily="18" charset="0"/>
                <a:cs typeface="Times New Roman" panose="02020603050405020304" pitchFamily="18" charset="0"/>
              </a:rPr>
              <a:t> Because they don't share a "common language," they fail to understand the deep connection between a visual scene (e.g., a collapsed roof) and the textual context (e.g., "we lost everything").</a:t>
            </a:r>
          </a:p>
          <a:p>
            <a:pPr algn="just"/>
            <a:endParaRPr lang="en-US"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BE249660-1851-E246-1CA2-BDC6DD8CD235}"/>
              </a:ext>
            </a:extLst>
          </p:cNvPr>
          <p:cNvSpPr txBox="1"/>
          <p:nvPr/>
        </p:nvSpPr>
        <p:spPr>
          <a:xfrm>
            <a:off x="1430830" y="2914297"/>
            <a:ext cx="9670833" cy="1477328"/>
          </a:xfrm>
          <a:prstGeom prst="rect">
            <a:avLst/>
          </a:prstGeom>
          <a:noFill/>
        </p:spPr>
        <p:txBody>
          <a:bodyPr wrap="square" rtlCol="0">
            <a:spAutoFit/>
          </a:bodyPr>
          <a:lstStyle/>
          <a:p>
            <a:pPr algn="just"/>
            <a:r>
              <a:rPr lang="en-US" b="1" dirty="0">
                <a:latin typeface="Times New Roman" panose="02020603050405020304" pitchFamily="18" charset="0"/>
                <a:cs typeface="Times New Roman" panose="02020603050405020304" pitchFamily="18" charset="0"/>
              </a:rPr>
              <a:t>Failure in Multi-Task Triage</a:t>
            </a:r>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The Issue:</a:t>
            </a:r>
            <a:r>
              <a:rPr lang="en-US" dirty="0">
                <a:latin typeface="Times New Roman" panose="02020603050405020304" pitchFamily="18" charset="0"/>
                <a:cs typeface="Times New Roman" panose="02020603050405020304" pitchFamily="18" charset="0"/>
              </a:rPr>
              <a:t> Previous research focuses on </a:t>
            </a:r>
            <a:r>
              <a:rPr lang="en-US" b="1" dirty="0">
                <a:latin typeface="Times New Roman" panose="02020603050405020304" pitchFamily="18" charset="0"/>
                <a:cs typeface="Times New Roman" panose="02020603050405020304" pitchFamily="18" charset="0"/>
              </a:rPr>
              <a:t>single-label tasks</a:t>
            </a:r>
            <a:r>
              <a:rPr lang="en-US" dirty="0">
                <a:latin typeface="Times New Roman" panose="02020603050405020304" pitchFamily="18" charset="0"/>
                <a:cs typeface="Times New Roman" panose="02020603050405020304" pitchFamily="18" charset="0"/>
              </a:rPr>
              <a:t> (only relevance or only category).</a:t>
            </a:r>
          </a:p>
          <a:p>
            <a:pPr algn="just"/>
            <a:r>
              <a:rPr lang="en-US" b="1" dirty="0">
                <a:latin typeface="Times New Roman" panose="02020603050405020304" pitchFamily="18" charset="0"/>
                <a:cs typeface="Times New Roman" panose="02020603050405020304" pitchFamily="18" charset="0"/>
              </a:rPr>
              <a:t>The Gap:</a:t>
            </a:r>
            <a:r>
              <a:rPr lang="en-US" dirty="0">
                <a:latin typeface="Times New Roman" panose="02020603050405020304" pitchFamily="18" charset="0"/>
                <a:cs typeface="Times New Roman" panose="02020603050405020304" pitchFamily="18" charset="0"/>
              </a:rPr>
              <a:t> In a real crisis, a responder needs </a:t>
            </a:r>
            <a:r>
              <a:rPr lang="en-US" b="1" dirty="0">
                <a:latin typeface="Times New Roman" panose="02020603050405020304" pitchFamily="18" charset="0"/>
                <a:cs typeface="Times New Roman" panose="02020603050405020304" pitchFamily="18" charset="0"/>
              </a:rPr>
              <a:t>simultaneous intelligence</a:t>
            </a:r>
            <a:r>
              <a:rPr lang="en-US" dirty="0">
                <a:latin typeface="Times New Roman" panose="02020603050405020304" pitchFamily="18" charset="0"/>
                <a:cs typeface="Times New Roman" panose="02020603050405020304" pitchFamily="18" charset="0"/>
              </a:rPr>
              <a:t> (Is it real? What is it? How severe?). Existing literature lacks a unified framework that can handle all three tasks in one pass.</a:t>
            </a:r>
          </a:p>
          <a:p>
            <a:pPr algn="just"/>
            <a:endParaRPr lang="en-US" dirty="0">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7FD7A28B-A29B-7845-AA9E-AEBDC1F9EB4B}"/>
              </a:ext>
            </a:extLst>
          </p:cNvPr>
          <p:cNvSpPr txBox="1"/>
          <p:nvPr/>
        </p:nvSpPr>
        <p:spPr>
          <a:xfrm>
            <a:off x="1335397" y="4372034"/>
            <a:ext cx="9931792" cy="1754326"/>
          </a:xfrm>
          <a:prstGeom prst="rect">
            <a:avLst/>
          </a:prstGeom>
          <a:noFill/>
        </p:spPr>
        <p:txBody>
          <a:bodyPr wrap="square" rtlCol="0">
            <a:spAutoFit/>
          </a:bodyPr>
          <a:lstStyle/>
          <a:p>
            <a:pPr algn="just"/>
            <a:r>
              <a:rPr lang="en-US" b="1" dirty="0">
                <a:latin typeface="Times New Roman" panose="02020603050405020304" pitchFamily="18" charset="0"/>
                <a:cs typeface="Times New Roman" panose="02020603050405020304" pitchFamily="18" charset="0"/>
              </a:rPr>
              <a:t>High Inference Latency</a:t>
            </a: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Existing SOTA models (like the </a:t>
            </a:r>
            <a:r>
              <a:rPr lang="en-US" dirty="0" err="1">
                <a:latin typeface="Times New Roman" panose="02020603050405020304" pitchFamily="18" charset="0"/>
                <a:cs typeface="Times New Roman" panose="02020603050405020304" pitchFamily="18" charset="0"/>
              </a:rPr>
              <a:t>ViT</a:t>
            </a:r>
            <a:r>
              <a:rPr lang="en-US" dirty="0">
                <a:latin typeface="Times New Roman" panose="02020603050405020304" pitchFamily="18" charset="0"/>
                <a:cs typeface="Times New Roman" panose="02020603050405020304" pitchFamily="18" charset="0"/>
              </a:rPr>
              <a:t> + GPT-2 ensemble) are computationally "expensive." They require massive VRAM and high-end GPUs to process multimodal data.</a:t>
            </a:r>
          </a:p>
          <a:p>
            <a:pPr algn="just"/>
            <a:r>
              <a:rPr lang="en-US" b="1" dirty="0">
                <a:latin typeface="Times New Roman" panose="02020603050405020304" pitchFamily="18" charset="0"/>
                <a:cs typeface="Times New Roman" panose="02020603050405020304" pitchFamily="18" charset="0"/>
              </a:rPr>
              <a:t>The Gap:</a:t>
            </a:r>
            <a:r>
              <a:rPr lang="en-US" dirty="0">
                <a:latin typeface="Times New Roman" panose="02020603050405020304" pitchFamily="18" charset="0"/>
                <a:cs typeface="Times New Roman" panose="02020603050405020304" pitchFamily="18" charset="0"/>
              </a:rPr>
              <a:t> In a fast-moving disaster, data arrives at a "firehose" velocity. Previous methodologies cannot maintain </a:t>
            </a:r>
            <a:r>
              <a:rPr lang="en-US" b="1" dirty="0">
                <a:latin typeface="Times New Roman" panose="02020603050405020304" pitchFamily="18" charset="0"/>
                <a:cs typeface="Times New Roman" panose="02020603050405020304" pitchFamily="18" charset="0"/>
              </a:rPr>
              <a:t>Real-Time Throughput</a:t>
            </a:r>
            <a:r>
              <a:rPr lang="en-US" dirty="0">
                <a:latin typeface="Times New Roman" panose="02020603050405020304" pitchFamily="18" charset="0"/>
                <a:cs typeface="Times New Roman" panose="02020603050405020304" pitchFamily="18" charset="0"/>
              </a:rPr>
              <a:t> (posts processed per second) on standard humanitarian-grade servers.</a:t>
            </a:r>
          </a:p>
          <a:p>
            <a:pPr algn="just"/>
            <a:endParaRPr lang="en-US" dirty="0">
              <a:latin typeface="Times New Roman" panose="02020603050405020304" pitchFamily="18" charset="0"/>
              <a:cs typeface="Times New Roman" panose="02020603050405020304" pitchFamily="18" charset="0"/>
            </a:endParaRPr>
          </a:p>
        </p:txBody>
      </p:sp>
      <p:sp>
        <p:nvSpPr>
          <p:cNvPr id="6" name="Footer Placeholder 5">
            <a:extLst>
              <a:ext uri="{FF2B5EF4-FFF2-40B4-BE49-F238E27FC236}">
                <a16:creationId xmlns:a16="http://schemas.microsoft.com/office/drawing/2014/main" id="{139401A6-C2A3-20F7-E137-450F2117D2C2}"/>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224174848"/>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down)">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down)">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wipe(down)">
                                      <p:cBhvr>
                                        <p:cTn id="1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228600" y="424424"/>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OBJECTIVES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228600" y="593237"/>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7764634" y="593237"/>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4" name="Oval 3">
            <a:extLst>
              <a:ext uri="{FF2B5EF4-FFF2-40B4-BE49-F238E27FC236}">
                <a16:creationId xmlns:a16="http://schemas.microsoft.com/office/drawing/2014/main" id="{53844B9E-EF77-0F55-1094-9C12FDB1FAD7}"/>
              </a:ext>
              <a:ext uri="{C183D7F6-B498-43B3-948B-1728B52AA6E4}">
                <adec:decorative xmlns:adec="http://schemas.microsoft.com/office/drawing/2017/decorative" val="1"/>
              </a:ext>
            </a:extLst>
          </p:cNvPr>
          <p:cNvSpPr/>
          <p:nvPr/>
        </p:nvSpPr>
        <p:spPr>
          <a:xfrm>
            <a:off x="1192246" y="1368834"/>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F2B5799E-4EAC-BD13-20EC-63089F4DB8B4}"/>
              </a:ext>
              <a:ext uri="{C183D7F6-B498-43B3-948B-1728B52AA6E4}">
                <adec:decorative xmlns:adec="http://schemas.microsoft.com/office/drawing/2017/decorative" val="1"/>
              </a:ext>
            </a:extLst>
          </p:cNvPr>
          <p:cNvSpPr/>
          <p:nvPr/>
        </p:nvSpPr>
        <p:spPr>
          <a:xfrm>
            <a:off x="1192246" y="2123244"/>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CFD4357-9C42-E6DD-EEF7-E11ACF1D1E2A}"/>
              </a:ext>
            </a:extLst>
          </p:cNvPr>
          <p:cNvSpPr txBox="1"/>
          <p:nvPr/>
        </p:nvSpPr>
        <p:spPr>
          <a:xfrm>
            <a:off x="1589987" y="1319081"/>
            <a:ext cx="10114448" cy="400110"/>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Informativeness:</a:t>
            </a:r>
            <a:r>
              <a:rPr lang="en-US" sz="2000" dirty="0">
                <a:latin typeface="Times New Roman" panose="02020603050405020304" pitchFamily="18" charset="0"/>
                <a:cs typeface="Times New Roman" panose="02020603050405020304" pitchFamily="18" charset="0"/>
              </a:rPr>
              <a:t> A binary filtering layer to distinguish informative from non-informative data</a:t>
            </a:r>
          </a:p>
        </p:txBody>
      </p:sp>
      <p:sp>
        <p:nvSpPr>
          <p:cNvPr id="8" name="TextBox 7">
            <a:extLst>
              <a:ext uri="{FF2B5EF4-FFF2-40B4-BE49-F238E27FC236}">
                <a16:creationId xmlns:a16="http://schemas.microsoft.com/office/drawing/2014/main" id="{24369383-2372-CE04-46DB-2CAA74D27B1F}"/>
              </a:ext>
            </a:extLst>
          </p:cNvPr>
          <p:cNvSpPr txBox="1"/>
          <p:nvPr/>
        </p:nvSpPr>
        <p:spPr>
          <a:xfrm>
            <a:off x="1589987" y="2003230"/>
            <a:ext cx="10624127" cy="923330"/>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To apply a </a:t>
            </a:r>
            <a:r>
              <a:rPr lang="en-US" b="1" dirty="0">
                <a:latin typeface="Times New Roman" panose="02020603050405020304" pitchFamily="18" charset="0"/>
                <a:cs typeface="Times New Roman" panose="02020603050405020304" pitchFamily="18" charset="0"/>
              </a:rPr>
              <a:t>"Deep Fusion"</a:t>
            </a:r>
            <a:r>
              <a:rPr lang="en-US" dirty="0">
                <a:latin typeface="Times New Roman" panose="02020603050405020304" pitchFamily="18" charset="0"/>
                <a:cs typeface="Times New Roman" panose="02020603050405020304" pitchFamily="18" charset="0"/>
              </a:rPr>
              <a:t> strategy that extracts joint feature embeddings, replacing traditional "Late Fusion" ensemble methods (e.g., </a:t>
            </a:r>
            <a:r>
              <a:rPr lang="en-US" dirty="0" err="1">
                <a:latin typeface="Times New Roman" panose="02020603050405020304" pitchFamily="18" charset="0"/>
                <a:cs typeface="Times New Roman" panose="02020603050405020304" pitchFamily="18" charset="0"/>
              </a:rPr>
              <a:t>ViT</a:t>
            </a:r>
            <a:r>
              <a:rPr lang="en-US" dirty="0">
                <a:latin typeface="Times New Roman" panose="02020603050405020304" pitchFamily="18" charset="0"/>
                <a:cs typeface="Times New Roman" panose="02020603050405020304" pitchFamily="18" charset="0"/>
              </a:rPr>
              <a:t> + GPT-2).</a:t>
            </a:r>
          </a:p>
          <a:p>
            <a:endParaRPr lang="en-US"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8012C260-6B1F-B4FD-D0EA-552FC4EDD9E2}"/>
              </a:ext>
              <a:ext uri="{C183D7F6-B498-43B3-948B-1728B52AA6E4}">
                <adec:decorative xmlns:adec="http://schemas.microsoft.com/office/drawing/2017/decorative" val="1"/>
              </a:ext>
            </a:extLst>
          </p:cNvPr>
          <p:cNvSpPr/>
          <p:nvPr/>
        </p:nvSpPr>
        <p:spPr>
          <a:xfrm>
            <a:off x="1192246" y="2759101"/>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2ABF6767-E185-1488-6C1D-7FE15A8C7509}"/>
              </a:ext>
            </a:extLst>
          </p:cNvPr>
          <p:cNvSpPr txBox="1"/>
          <p:nvPr/>
        </p:nvSpPr>
        <p:spPr>
          <a:xfrm>
            <a:off x="1589987" y="2693049"/>
            <a:ext cx="10261789" cy="923330"/>
          </a:xfrm>
          <a:prstGeom prst="rect">
            <a:avLst/>
          </a:prstGeom>
          <a:noFill/>
        </p:spPr>
        <p:txBody>
          <a:bodyPr wrap="square" rtlCol="0">
            <a:spAutoFit/>
          </a:bodyPr>
          <a:lstStyle/>
          <a:p>
            <a:r>
              <a:rPr lang="en-US" b="1" dirty="0"/>
              <a:t>Multimodal Fusion:</a:t>
            </a:r>
            <a:r>
              <a:rPr lang="en-US" dirty="0"/>
              <a:t> Develop a system that doesn't just read—it </a:t>
            </a:r>
            <a:r>
              <a:rPr lang="en-US" b="1" dirty="0"/>
              <a:t>"sees" and "comprehends."</a:t>
            </a:r>
            <a:r>
              <a:rPr lang="en-US" dirty="0"/>
              <a:t> By integrating text, images, and video, we eliminate the blind spots of single-source analysis.</a:t>
            </a:r>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8DC5F533-FCE1-1DBB-5838-6BDFBE32C06B}"/>
              </a:ext>
              <a:ext uri="{C183D7F6-B498-43B3-948B-1728B52AA6E4}">
                <adec:decorative xmlns:adec="http://schemas.microsoft.com/office/drawing/2017/decorative" val="1"/>
              </a:ext>
            </a:extLst>
          </p:cNvPr>
          <p:cNvSpPr/>
          <p:nvPr/>
        </p:nvSpPr>
        <p:spPr>
          <a:xfrm>
            <a:off x="1209840" y="3531144"/>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A18EE3E6-417F-0899-6D80-6C6179008D9B}"/>
              </a:ext>
              <a:ext uri="{C183D7F6-B498-43B3-948B-1728B52AA6E4}">
                <adec:decorative xmlns:adec="http://schemas.microsoft.com/office/drawing/2017/decorative" val="1"/>
              </a:ext>
            </a:extLst>
          </p:cNvPr>
          <p:cNvSpPr/>
          <p:nvPr/>
        </p:nvSpPr>
        <p:spPr>
          <a:xfrm>
            <a:off x="1192246" y="4928620"/>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D3664C98-2EF7-BD1C-3282-C32031768D5B}"/>
              </a:ext>
              <a:ext uri="{C183D7F6-B498-43B3-948B-1728B52AA6E4}">
                <adec:decorative xmlns:adec="http://schemas.microsoft.com/office/drawing/2017/decorative" val="1"/>
              </a:ext>
            </a:extLst>
          </p:cNvPr>
          <p:cNvSpPr/>
          <p:nvPr/>
        </p:nvSpPr>
        <p:spPr>
          <a:xfrm>
            <a:off x="1192246" y="4226482"/>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TextBox 13">
            <a:extLst>
              <a:ext uri="{FF2B5EF4-FFF2-40B4-BE49-F238E27FC236}">
                <a16:creationId xmlns:a16="http://schemas.microsoft.com/office/drawing/2014/main" id="{7C1D4468-A270-50D7-7E0F-A29E4F06185F}"/>
              </a:ext>
            </a:extLst>
          </p:cNvPr>
          <p:cNvSpPr txBox="1"/>
          <p:nvPr/>
        </p:nvSpPr>
        <p:spPr>
          <a:xfrm>
            <a:off x="1701611" y="4903172"/>
            <a:ext cx="9548448" cy="707886"/>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To investigate the performance of designed model in terms of accuracy and respond time and losses.</a:t>
            </a:r>
          </a:p>
        </p:txBody>
      </p:sp>
      <p:sp>
        <p:nvSpPr>
          <p:cNvPr id="15" name="TextBox 14">
            <a:extLst>
              <a:ext uri="{FF2B5EF4-FFF2-40B4-BE49-F238E27FC236}">
                <a16:creationId xmlns:a16="http://schemas.microsoft.com/office/drawing/2014/main" id="{BEF80CF3-8F18-D844-8DA1-1A357BCDC6F2}"/>
              </a:ext>
            </a:extLst>
          </p:cNvPr>
          <p:cNvSpPr txBox="1"/>
          <p:nvPr/>
        </p:nvSpPr>
        <p:spPr>
          <a:xfrm>
            <a:off x="1701611" y="5618511"/>
            <a:ext cx="7835705" cy="400110"/>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To overcome the limitations of current algorithms. </a:t>
            </a:r>
          </a:p>
        </p:txBody>
      </p:sp>
      <p:sp>
        <p:nvSpPr>
          <p:cNvPr id="16" name="TextBox 15">
            <a:extLst>
              <a:ext uri="{FF2B5EF4-FFF2-40B4-BE49-F238E27FC236}">
                <a16:creationId xmlns:a16="http://schemas.microsoft.com/office/drawing/2014/main" id="{0EEC2E38-19B0-621A-AC5A-85C6C90E7B11}"/>
              </a:ext>
            </a:extLst>
          </p:cNvPr>
          <p:cNvSpPr txBox="1"/>
          <p:nvPr/>
        </p:nvSpPr>
        <p:spPr>
          <a:xfrm>
            <a:off x="1556104" y="3424984"/>
            <a:ext cx="10073621" cy="954107"/>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To assess the computational efficiency of the VLM approach compared to complex deep learning ensembles.</a:t>
            </a:r>
          </a:p>
          <a:p>
            <a:endParaRPr lang="en-US" sz="2000" dirty="0">
              <a:latin typeface="Times New Roman" panose="02020603050405020304" pitchFamily="18" charset="0"/>
              <a:cs typeface="Times New Roman" panose="02020603050405020304" pitchFamily="18" charset="0"/>
            </a:endParaRPr>
          </a:p>
        </p:txBody>
      </p:sp>
      <p:sp>
        <p:nvSpPr>
          <p:cNvPr id="17" name="Date Placeholder 16">
            <a:extLst>
              <a:ext uri="{FF2B5EF4-FFF2-40B4-BE49-F238E27FC236}">
                <a16:creationId xmlns:a16="http://schemas.microsoft.com/office/drawing/2014/main" id="{91476731-2853-2E38-D77F-9110B7355F1D}"/>
              </a:ext>
            </a:extLst>
          </p:cNvPr>
          <p:cNvSpPr>
            <a:spLocks noGrp="1"/>
          </p:cNvSpPr>
          <p:nvPr>
            <p:ph type="dt" sz="half" idx="10"/>
          </p:nvPr>
        </p:nvSpPr>
        <p:spPr/>
        <p:txBody>
          <a:bodyPr/>
          <a:lstStyle/>
          <a:p>
            <a:fld id="{ED5A9576-5788-4315-9AD1-F82C6168233F}"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18" name="Slide Number Placeholder 17">
            <a:extLst>
              <a:ext uri="{FF2B5EF4-FFF2-40B4-BE49-F238E27FC236}">
                <a16:creationId xmlns:a16="http://schemas.microsoft.com/office/drawing/2014/main" id="{0FAEA424-3F4C-9548-D758-A5D65482C677}"/>
              </a:ext>
            </a:extLst>
          </p:cNvPr>
          <p:cNvSpPr>
            <a:spLocks noGrp="1"/>
          </p:cNvSpPr>
          <p:nvPr>
            <p:ph type="sldNum" sz="quarter" idx="12"/>
          </p:nvPr>
        </p:nvSpPr>
        <p:spPr/>
        <p:txBody>
          <a:bodyPr/>
          <a:lstStyle/>
          <a:p>
            <a:fld id="{06FEDF93-2BFD-41CA-ABC7-B039102F3792}" type="slidenum">
              <a:rPr lang="en-US" smtClean="0"/>
              <a:t>13</a:t>
            </a:fld>
            <a:endParaRPr lang="en-US" dirty="0"/>
          </a:p>
        </p:txBody>
      </p:sp>
      <p:sp>
        <p:nvSpPr>
          <p:cNvPr id="19" name="Oval 18">
            <a:extLst>
              <a:ext uri="{FF2B5EF4-FFF2-40B4-BE49-F238E27FC236}">
                <a16:creationId xmlns:a16="http://schemas.microsoft.com/office/drawing/2014/main" id="{F99F77A9-2905-A140-B5BD-3591D4BC525B}"/>
              </a:ext>
              <a:ext uri="{C183D7F6-B498-43B3-948B-1728B52AA6E4}">
                <adec:decorative xmlns:adec="http://schemas.microsoft.com/office/drawing/2017/decorative" val="1"/>
              </a:ext>
            </a:extLst>
          </p:cNvPr>
          <p:cNvSpPr/>
          <p:nvPr/>
        </p:nvSpPr>
        <p:spPr>
          <a:xfrm>
            <a:off x="1209840" y="5651786"/>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Box 19">
            <a:extLst>
              <a:ext uri="{FF2B5EF4-FFF2-40B4-BE49-F238E27FC236}">
                <a16:creationId xmlns:a16="http://schemas.microsoft.com/office/drawing/2014/main" id="{9AD0AB9D-6879-DAE8-F585-E6CEA89FF8B9}"/>
              </a:ext>
            </a:extLst>
          </p:cNvPr>
          <p:cNvSpPr txBox="1"/>
          <p:nvPr/>
        </p:nvSpPr>
        <p:spPr>
          <a:xfrm>
            <a:off x="1597870" y="4105701"/>
            <a:ext cx="9652189" cy="771814"/>
          </a:xfrm>
          <a:prstGeom prst="rect">
            <a:avLst/>
          </a:prstGeom>
          <a:noFill/>
        </p:spPr>
        <p:txBody>
          <a:bodyPr wrap="square" rtlCol="0">
            <a:spAutoFit/>
          </a:bodyPr>
          <a:lstStyle/>
          <a:p>
            <a:pPr marR="0" lvl="0" algn="just">
              <a:lnSpc>
                <a:spcPct val="115000"/>
              </a:lnSpc>
            </a:pPr>
            <a:r>
              <a:rPr lang="en-US" sz="2000" dirty="0">
                <a:effectLst/>
                <a:latin typeface="Times New Roman" panose="02020603050405020304" pitchFamily="18" charset="0"/>
                <a:ea typeface="Times New Roman" panose="02020603050405020304" pitchFamily="18" charset="0"/>
              </a:rPr>
              <a:t>To compare </a:t>
            </a:r>
            <a:r>
              <a:rPr lang="en-US" sz="2000" dirty="0">
                <a:solidFill>
                  <a:srgbClr val="0D0D0D"/>
                </a:solidFill>
                <a:effectLst/>
                <a:highlight>
                  <a:srgbClr val="FFFFFF"/>
                </a:highlight>
                <a:latin typeface="Times New Roman" panose="02020603050405020304" pitchFamily="18" charset="0"/>
                <a:ea typeface="Times New Roman" panose="02020603050405020304" pitchFamily="18" charset="0"/>
              </a:rPr>
              <a:t>VGG19, EfficientNetB0 and DenseNet121 with other models </a:t>
            </a:r>
            <a:r>
              <a:rPr lang="en-US" sz="2000" dirty="0">
                <a:effectLst/>
                <a:latin typeface="Times New Roman" panose="02020603050405020304" pitchFamily="18" charset="0"/>
                <a:ea typeface="Times New Roman" panose="02020603050405020304" pitchFamily="18" charset="0"/>
              </a:rPr>
              <a:t>that have more parameters.</a:t>
            </a:r>
          </a:p>
        </p:txBody>
      </p:sp>
      <p:sp>
        <p:nvSpPr>
          <p:cNvPr id="21" name="Footer Placeholder 20">
            <a:extLst>
              <a:ext uri="{FF2B5EF4-FFF2-40B4-BE49-F238E27FC236}">
                <a16:creationId xmlns:a16="http://schemas.microsoft.com/office/drawing/2014/main" id="{17006806-DD98-478E-0C64-A06D43AF67B7}"/>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1356362624"/>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down)">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down)">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down)">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down)">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wipe(down)">
                                      <p:cBhvr>
                                        <p:cTn id="32" dur="500"/>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4"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wipe(down)">
                                      <p:cBhvr>
                                        <p:cTn id="3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0" grpId="0"/>
      <p:bldP spid="14" grpId="0"/>
      <p:bldP spid="15" grpId="0"/>
      <p:bldP spid="16" grpId="0"/>
      <p:bldP spid="2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228600" y="424424"/>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DATASET</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411480" y="593237"/>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7511415" y="595631"/>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B823932-378A-32B7-8FB4-520A91A5CB50}"/>
              </a:ext>
            </a:extLst>
          </p:cNvPr>
          <p:cNvSpPr txBox="1"/>
          <p:nvPr/>
        </p:nvSpPr>
        <p:spPr>
          <a:xfrm>
            <a:off x="838200" y="1016050"/>
            <a:ext cx="8342142" cy="677108"/>
          </a:xfrm>
          <a:prstGeom prst="rect">
            <a:avLst/>
          </a:prstGeom>
          <a:noFill/>
        </p:spPr>
        <p:txBody>
          <a:bodyPr wrap="square" rtlCol="0">
            <a:spAutoFit/>
          </a:bodyPr>
          <a:lstStyle/>
          <a:p>
            <a:r>
              <a:rPr lang="en-US" sz="2000" i="0" dirty="0">
                <a:solidFill>
                  <a:srgbClr val="202124"/>
                </a:solidFill>
                <a:effectLst/>
                <a:latin typeface="Times New Roman" panose="02020603050405020304" pitchFamily="18" charset="0"/>
                <a:cs typeface="Times New Roman" panose="02020603050405020304" pitchFamily="18" charset="0"/>
              </a:rPr>
              <a:t>I </a:t>
            </a:r>
            <a:r>
              <a:rPr lang="en-US" sz="2000" dirty="0">
                <a:solidFill>
                  <a:srgbClr val="202124"/>
                </a:solidFill>
                <a:latin typeface="Times New Roman" panose="02020603050405020304" pitchFamily="18" charset="0"/>
                <a:cs typeface="Times New Roman" panose="02020603050405020304" pitchFamily="18" charset="0"/>
              </a:rPr>
              <a:t>have selected </a:t>
            </a:r>
            <a:r>
              <a:rPr lang="en-US" sz="2000" i="0" dirty="0">
                <a:solidFill>
                  <a:srgbClr val="202124"/>
                </a:solidFill>
                <a:effectLst/>
                <a:latin typeface="Times New Roman" panose="02020603050405020304" pitchFamily="18" charset="0"/>
                <a:cs typeface="Times New Roman" panose="02020603050405020304" pitchFamily="18" charset="0"/>
              </a:rPr>
              <a:t>The study utilizes the </a:t>
            </a:r>
            <a:r>
              <a:rPr lang="en-US" sz="2000" i="0" dirty="0" err="1">
                <a:solidFill>
                  <a:srgbClr val="202124"/>
                </a:solidFill>
                <a:effectLst/>
                <a:latin typeface="Times New Roman" panose="02020603050405020304" pitchFamily="18" charset="0"/>
                <a:cs typeface="Times New Roman" panose="02020603050405020304" pitchFamily="18" charset="0"/>
              </a:rPr>
              <a:t>CrisisMMD</a:t>
            </a:r>
            <a:r>
              <a:rPr lang="en-US" sz="2000" i="0" dirty="0">
                <a:solidFill>
                  <a:srgbClr val="202124"/>
                </a:solidFill>
                <a:effectLst/>
                <a:latin typeface="Times New Roman" panose="02020603050405020304" pitchFamily="18" charset="0"/>
                <a:cs typeface="Times New Roman" panose="02020603050405020304" pitchFamily="18" charset="0"/>
              </a:rPr>
              <a:t> dataset </a:t>
            </a:r>
          </a:p>
          <a:p>
            <a:endParaRPr lang="en-US" dirty="0"/>
          </a:p>
        </p:txBody>
      </p:sp>
      <p:sp>
        <p:nvSpPr>
          <p:cNvPr id="6" name="Oval 5">
            <a:extLst>
              <a:ext uri="{FF2B5EF4-FFF2-40B4-BE49-F238E27FC236}">
                <a16:creationId xmlns:a16="http://schemas.microsoft.com/office/drawing/2014/main" id="{BD5E3497-FDFA-9FA1-85E2-FEFE5FAC3FD4}"/>
              </a:ext>
              <a:ext uri="{C183D7F6-B498-43B3-948B-1728B52AA6E4}">
                <adec:decorative xmlns:adec="http://schemas.microsoft.com/office/drawing/2017/decorative" val="1"/>
              </a:ext>
            </a:extLst>
          </p:cNvPr>
          <p:cNvSpPr/>
          <p:nvPr/>
        </p:nvSpPr>
        <p:spPr>
          <a:xfrm>
            <a:off x="451014" y="1045978"/>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C50025E7-E2E4-7D86-CEF4-710EB775460E}"/>
              </a:ext>
              <a:ext uri="{C183D7F6-B498-43B3-948B-1728B52AA6E4}">
                <adec:decorative xmlns:adec="http://schemas.microsoft.com/office/drawing/2017/decorative" val="1"/>
              </a:ext>
            </a:extLst>
          </p:cNvPr>
          <p:cNvSpPr/>
          <p:nvPr/>
        </p:nvSpPr>
        <p:spPr>
          <a:xfrm>
            <a:off x="447848" y="1788562"/>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ED62880-90BB-2332-A24A-ED87ACFB8136}"/>
              </a:ext>
            </a:extLst>
          </p:cNvPr>
          <p:cNvSpPr txBox="1"/>
          <p:nvPr/>
        </p:nvSpPr>
        <p:spPr>
          <a:xfrm>
            <a:off x="838200" y="1640084"/>
            <a:ext cx="7772400" cy="1785104"/>
          </a:xfrm>
          <a:prstGeom prst="rect">
            <a:avLst/>
          </a:prstGeom>
          <a:noFill/>
        </p:spPr>
        <p:txBody>
          <a:bodyPr wrap="square" rtlCol="0">
            <a:spAutoFit/>
          </a:bodyPr>
          <a:lstStyle/>
          <a:p>
            <a:pPr algn="just"/>
            <a:r>
              <a:rPr lang="en-US" dirty="0">
                <a:latin typeface="Times New Roman" panose="02020603050405020304" pitchFamily="18" charset="0"/>
                <a:cs typeface="Times New Roman" panose="02020603050405020304" pitchFamily="18" charset="0"/>
              </a:rPr>
              <a:t>The </a:t>
            </a:r>
            <a:r>
              <a:rPr lang="en-US" dirty="0" err="1">
                <a:latin typeface="Times New Roman" panose="02020603050405020304" pitchFamily="18" charset="0"/>
                <a:cs typeface="Times New Roman" panose="02020603050405020304" pitchFamily="18" charset="0"/>
              </a:rPr>
              <a:t>CrisisMMD</a:t>
            </a:r>
            <a:r>
              <a:rPr lang="en-US" dirty="0">
                <a:latin typeface="Times New Roman" panose="02020603050405020304" pitchFamily="18" charset="0"/>
                <a:cs typeface="Times New Roman" panose="02020603050405020304" pitchFamily="18" charset="0"/>
              </a:rPr>
              <a:t> multimodal Twitter dataset consists of several thousands of manually annotated tweets and images collected during seven major natural disasters including earthquakes, hurricanes, wildfires, and floods that happened in the year 2017 across different parts of the World. The provided datasets include three types of annotations.</a:t>
            </a:r>
            <a:br>
              <a:rPr lang="en-US" sz="2000" dirty="0">
                <a:latin typeface="Times New Roman" panose="02020603050405020304" pitchFamily="18" charset="0"/>
                <a:cs typeface="Times New Roman" panose="02020603050405020304" pitchFamily="18" charset="0"/>
              </a:rPr>
            </a:br>
            <a:endParaRPr lang="en-US" sz="2000" dirty="0">
              <a:latin typeface="Times New Roman" panose="02020603050405020304" pitchFamily="18" charset="0"/>
              <a:cs typeface="Times New Roman" panose="02020603050405020304" pitchFamily="18" charset="0"/>
            </a:endParaRPr>
          </a:p>
        </p:txBody>
      </p:sp>
      <p:sp>
        <p:nvSpPr>
          <p:cNvPr id="11" name="Date Placeholder 10">
            <a:extLst>
              <a:ext uri="{FF2B5EF4-FFF2-40B4-BE49-F238E27FC236}">
                <a16:creationId xmlns:a16="http://schemas.microsoft.com/office/drawing/2014/main" id="{29B2A42D-9CD6-D0B4-E391-043CDEAE777D}"/>
              </a:ext>
            </a:extLst>
          </p:cNvPr>
          <p:cNvSpPr>
            <a:spLocks noGrp="1"/>
          </p:cNvSpPr>
          <p:nvPr>
            <p:ph type="dt" sz="half" idx="10"/>
          </p:nvPr>
        </p:nvSpPr>
        <p:spPr/>
        <p:txBody>
          <a:bodyPr/>
          <a:lstStyle/>
          <a:p>
            <a:fld id="{3C7A5153-801C-4A0D-B46B-E2CFC9EC2356}"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13" name="Slide Number Placeholder 12">
            <a:extLst>
              <a:ext uri="{FF2B5EF4-FFF2-40B4-BE49-F238E27FC236}">
                <a16:creationId xmlns:a16="http://schemas.microsoft.com/office/drawing/2014/main" id="{779EDA8C-EDA3-3AD0-B62A-4E4BE9ACF902}"/>
              </a:ext>
            </a:extLst>
          </p:cNvPr>
          <p:cNvSpPr>
            <a:spLocks noGrp="1"/>
          </p:cNvSpPr>
          <p:nvPr>
            <p:ph type="sldNum" sz="quarter" idx="12"/>
          </p:nvPr>
        </p:nvSpPr>
        <p:spPr/>
        <p:txBody>
          <a:bodyPr/>
          <a:lstStyle/>
          <a:p>
            <a:fld id="{06FEDF93-2BFD-41CA-ABC7-B039102F3792}" type="slidenum">
              <a:rPr lang="en-US" smtClean="0"/>
              <a:t>14</a:t>
            </a:fld>
            <a:endParaRPr lang="en-US" dirty="0"/>
          </a:p>
        </p:txBody>
      </p:sp>
      <p:pic>
        <p:nvPicPr>
          <p:cNvPr id="22" name="Picture 21">
            <a:extLst>
              <a:ext uri="{FF2B5EF4-FFF2-40B4-BE49-F238E27FC236}">
                <a16:creationId xmlns:a16="http://schemas.microsoft.com/office/drawing/2014/main" id="{CA74EB8C-3669-D4E0-1082-5F3D7568617C}"/>
              </a:ext>
            </a:extLst>
          </p:cNvPr>
          <p:cNvPicPr>
            <a:picLocks noChangeAspect="1"/>
          </p:cNvPicPr>
          <p:nvPr/>
        </p:nvPicPr>
        <p:blipFill>
          <a:blip r:embed="rId2"/>
          <a:stretch>
            <a:fillRect/>
          </a:stretch>
        </p:blipFill>
        <p:spPr>
          <a:xfrm>
            <a:off x="8249942" y="593238"/>
            <a:ext cx="3197063" cy="2664312"/>
          </a:xfrm>
          <a:prstGeom prst="rect">
            <a:avLst/>
          </a:prstGeom>
        </p:spPr>
      </p:pic>
      <p:sp>
        <p:nvSpPr>
          <p:cNvPr id="9" name="Footer Placeholder 8">
            <a:extLst>
              <a:ext uri="{FF2B5EF4-FFF2-40B4-BE49-F238E27FC236}">
                <a16:creationId xmlns:a16="http://schemas.microsoft.com/office/drawing/2014/main" id="{9AD1D07E-F709-1B07-0EFE-871A03A3E94A}"/>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graphicFrame>
        <p:nvGraphicFramePr>
          <p:cNvPr id="10" name="Table 9">
            <a:extLst>
              <a:ext uri="{FF2B5EF4-FFF2-40B4-BE49-F238E27FC236}">
                <a16:creationId xmlns:a16="http://schemas.microsoft.com/office/drawing/2014/main" id="{D6E1D3D6-02A9-B1A4-E402-C3B166DC4133}"/>
              </a:ext>
            </a:extLst>
          </p:cNvPr>
          <p:cNvGraphicFramePr>
            <a:graphicFrameLocks noGrp="1"/>
          </p:cNvGraphicFramePr>
          <p:nvPr>
            <p:extLst>
              <p:ext uri="{D42A27DB-BD31-4B8C-83A1-F6EECF244321}">
                <p14:modId xmlns:p14="http://schemas.microsoft.com/office/powerpoint/2010/main" val="2306026822"/>
              </p:ext>
            </p:extLst>
          </p:nvPr>
        </p:nvGraphicFramePr>
        <p:xfrm>
          <a:off x="979715" y="3257550"/>
          <a:ext cx="9414588" cy="2743200"/>
        </p:xfrm>
        <a:graphic>
          <a:graphicData uri="http://schemas.openxmlformats.org/drawingml/2006/table">
            <a:tbl>
              <a:tblPr/>
              <a:tblGrid>
                <a:gridCol w="3138196">
                  <a:extLst>
                    <a:ext uri="{9D8B030D-6E8A-4147-A177-3AD203B41FA5}">
                      <a16:colId xmlns:a16="http://schemas.microsoft.com/office/drawing/2014/main" val="2166876368"/>
                    </a:ext>
                  </a:extLst>
                </a:gridCol>
                <a:gridCol w="3138196">
                  <a:extLst>
                    <a:ext uri="{9D8B030D-6E8A-4147-A177-3AD203B41FA5}">
                      <a16:colId xmlns:a16="http://schemas.microsoft.com/office/drawing/2014/main" val="2014936169"/>
                    </a:ext>
                  </a:extLst>
                </a:gridCol>
                <a:gridCol w="3138196">
                  <a:extLst>
                    <a:ext uri="{9D8B030D-6E8A-4147-A177-3AD203B41FA5}">
                      <a16:colId xmlns:a16="http://schemas.microsoft.com/office/drawing/2014/main" val="705783082"/>
                    </a:ext>
                  </a:extLst>
                </a:gridCol>
              </a:tblGrid>
              <a:tr h="269381">
                <a:tc>
                  <a:txBody>
                    <a:bodyPr/>
                    <a:lstStyle/>
                    <a:p>
                      <a:pPr>
                        <a:buNone/>
                      </a:pPr>
                      <a:r>
                        <a:rPr lang="en-US" sz="1400" dirty="0">
                          <a:latin typeface="Times New Roman" panose="02020603050405020304" pitchFamily="18" charset="0"/>
                          <a:cs typeface="Times New Roman" panose="02020603050405020304" pitchFamily="18" charset="0"/>
                        </a:rPr>
                        <a:t>Crisis Event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buNone/>
                      </a:pPr>
                      <a:r>
                        <a:rPr lang="en-US" sz="1400">
                          <a:latin typeface="Times New Roman" panose="02020603050405020304" pitchFamily="18" charset="0"/>
                          <a:cs typeface="Times New Roman" panose="02020603050405020304" pitchFamily="18" charset="0"/>
                        </a:rPr>
                        <a:t>Sampled Tweets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buNone/>
                      </a:pPr>
                      <a:r>
                        <a:rPr lang="en-US" sz="1400" dirty="0">
                          <a:latin typeface="Times New Roman" panose="02020603050405020304" pitchFamily="18" charset="0"/>
                          <a:cs typeface="Times New Roman" panose="02020603050405020304" pitchFamily="18" charset="0"/>
                        </a:rPr>
                        <a:t>Sampled Images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3332404031"/>
                  </a:ext>
                </a:extLst>
              </a:tr>
              <a:tr h="269381">
                <a:tc>
                  <a:txBody>
                    <a:bodyPr/>
                    <a:lstStyle/>
                    <a:p>
                      <a:pPr>
                        <a:buNone/>
                      </a:pPr>
                      <a:r>
                        <a:rPr lang="en-US" sz="1300" dirty="0">
                          <a:latin typeface="Times New Roman" panose="02020603050405020304" pitchFamily="18" charset="0"/>
                          <a:cs typeface="Times New Roman" panose="02020603050405020304" pitchFamily="18" charset="0"/>
                        </a:rPr>
                        <a:t>Hurricane</a:t>
                      </a:r>
                      <a:r>
                        <a:rPr lang="en-US" sz="1400" dirty="0">
                          <a:latin typeface="Times New Roman" panose="02020603050405020304" pitchFamily="18" charset="0"/>
                          <a:cs typeface="Times New Roman" panose="02020603050405020304" pitchFamily="18" charset="0"/>
                        </a:rPr>
                        <a:t> Irma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Times New Roman" panose="02020603050405020304" pitchFamily="18" charset="0"/>
                          <a:cs typeface="Times New Roman" panose="02020603050405020304" pitchFamily="18" charset="0"/>
                        </a:rPr>
                        <a:t>4,041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latin typeface="Times New Roman" panose="02020603050405020304" pitchFamily="18" charset="0"/>
                          <a:cs typeface="Times New Roman" panose="02020603050405020304" pitchFamily="18" charset="0"/>
                        </a:rPr>
                        <a:t>4,525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90422422"/>
                  </a:ext>
                </a:extLst>
              </a:tr>
              <a:tr h="269381">
                <a:tc>
                  <a:txBody>
                    <a:bodyPr/>
                    <a:lstStyle/>
                    <a:p>
                      <a:pPr>
                        <a:buNone/>
                      </a:pPr>
                      <a:r>
                        <a:rPr lang="en-US" sz="1400" dirty="0">
                          <a:latin typeface="Times New Roman" panose="02020603050405020304" pitchFamily="18" charset="0"/>
                          <a:cs typeface="Times New Roman" panose="02020603050405020304" pitchFamily="18" charset="0"/>
                        </a:rPr>
                        <a:t>Hurricane Harvey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Times New Roman" panose="02020603050405020304" pitchFamily="18" charset="0"/>
                          <a:cs typeface="Times New Roman" panose="02020603050405020304" pitchFamily="18" charset="0"/>
                        </a:rPr>
                        <a:t>4,000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Times New Roman" panose="02020603050405020304" pitchFamily="18" charset="0"/>
                          <a:cs typeface="Times New Roman" panose="02020603050405020304" pitchFamily="18" charset="0"/>
                        </a:rPr>
                        <a:t>4,443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5474425"/>
                  </a:ext>
                </a:extLst>
              </a:tr>
              <a:tr h="269381">
                <a:tc>
                  <a:txBody>
                    <a:bodyPr/>
                    <a:lstStyle/>
                    <a:p>
                      <a:pPr>
                        <a:buNone/>
                      </a:pPr>
                      <a:r>
                        <a:rPr lang="en-US" sz="1400">
                          <a:latin typeface="Times New Roman" panose="02020603050405020304" pitchFamily="18" charset="0"/>
                          <a:cs typeface="Times New Roman" panose="02020603050405020304" pitchFamily="18" charset="0"/>
                        </a:rPr>
                        <a:t>Hurricane Maria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latin typeface="Times New Roman" panose="02020603050405020304" pitchFamily="18" charset="0"/>
                          <a:cs typeface="Times New Roman" panose="02020603050405020304" pitchFamily="18" charset="0"/>
                        </a:rPr>
                        <a:t>4,000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Times New Roman" panose="02020603050405020304" pitchFamily="18" charset="0"/>
                          <a:cs typeface="Times New Roman" panose="02020603050405020304" pitchFamily="18" charset="0"/>
                        </a:rPr>
                        <a:t>4,562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60390107"/>
                  </a:ext>
                </a:extLst>
              </a:tr>
              <a:tr h="269381">
                <a:tc>
                  <a:txBody>
                    <a:bodyPr/>
                    <a:lstStyle/>
                    <a:p>
                      <a:pPr>
                        <a:buNone/>
                      </a:pPr>
                      <a:r>
                        <a:rPr lang="en-US" sz="1400">
                          <a:latin typeface="Times New Roman" panose="02020603050405020304" pitchFamily="18" charset="0"/>
                          <a:cs typeface="Times New Roman" panose="02020603050405020304" pitchFamily="18" charset="0"/>
                        </a:rPr>
                        <a:t>California Wildfires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Times New Roman" panose="02020603050405020304" pitchFamily="18" charset="0"/>
                          <a:cs typeface="Times New Roman" panose="02020603050405020304" pitchFamily="18" charset="0"/>
                        </a:rPr>
                        <a:t>1,486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Times New Roman" panose="02020603050405020304" pitchFamily="18" charset="0"/>
                          <a:cs typeface="Times New Roman" panose="02020603050405020304" pitchFamily="18" charset="0"/>
                        </a:rPr>
                        <a:t>1,589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3797278"/>
                  </a:ext>
                </a:extLst>
              </a:tr>
              <a:tr h="269381">
                <a:tc>
                  <a:txBody>
                    <a:bodyPr/>
                    <a:lstStyle/>
                    <a:p>
                      <a:pPr>
                        <a:buNone/>
                      </a:pPr>
                      <a:r>
                        <a:rPr lang="en-US" sz="1400">
                          <a:latin typeface="Times New Roman" panose="02020603050405020304" pitchFamily="18" charset="0"/>
                          <a:cs typeface="Times New Roman" panose="02020603050405020304" pitchFamily="18" charset="0"/>
                        </a:rPr>
                        <a:t>Mexico Earthquake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Times New Roman" panose="02020603050405020304" pitchFamily="18" charset="0"/>
                          <a:cs typeface="Times New Roman" panose="02020603050405020304" pitchFamily="18" charset="0"/>
                        </a:rPr>
                        <a:t>1,239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Times New Roman" panose="02020603050405020304" pitchFamily="18" charset="0"/>
                          <a:cs typeface="Times New Roman" panose="02020603050405020304" pitchFamily="18" charset="0"/>
                        </a:rPr>
                        <a:t>1,382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6939589"/>
                  </a:ext>
                </a:extLst>
              </a:tr>
              <a:tr h="269381">
                <a:tc>
                  <a:txBody>
                    <a:bodyPr/>
                    <a:lstStyle/>
                    <a:p>
                      <a:pPr>
                        <a:buNone/>
                      </a:pPr>
                      <a:r>
                        <a:rPr lang="en-US" sz="1400">
                          <a:latin typeface="Times New Roman" panose="02020603050405020304" pitchFamily="18" charset="0"/>
                          <a:cs typeface="Times New Roman" panose="02020603050405020304" pitchFamily="18" charset="0"/>
                        </a:rPr>
                        <a:t>Iraq–Iran Earthquake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Times New Roman" panose="02020603050405020304" pitchFamily="18" charset="0"/>
                          <a:cs typeface="Times New Roman" panose="02020603050405020304" pitchFamily="18" charset="0"/>
                        </a:rPr>
                        <a:t>499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Times New Roman" panose="02020603050405020304" pitchFamily="18" charset="0"/>
                          <a:cs typeface="Times New Roman" panose="02020603050405020304" pitchFamily="18" charset="0"/>
                        </a:rPr>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23694083"/>
                  </a:ext>
                </a:extLst>
              </a:tr>
              <a:tr h="269381">
                <a:tc>
                  <a:txBody>
                    <a:bodyPr/>
                    <a:lstStyle/>
                    <a:p>
                      <a:pPr>
                        <a:buNone/>
                      </a:pPr>
                      <a:r>
                        <a:rPr lang="en-US" sz="1400">
                          <a:latin typeface="Times New Roman" panose="02020603050405020304" pitchFamily="18" charset="0"/>
                          <a:cs typeface="Times New Roman" panose="02020603050405020304" pitchFamily="18" charset="0"/>
                        </a:rPr>
                        <a:t>Sri Lanka Floods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Times New Roman" panose="02020603050405020304" pitchFamily="18" charset="0"/>
                          <a:cs typeface="Times New Roman" panose="02020603050405020304" pitchFamily="18" charset="0"/>
                        </a:rPr>
                        <a:t>832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Times New Roman" panose="02020603050405020304" pitchFamily="18" charset="0"/>
                          <a:cs typeface="Times New Roman" panose="02020603050405020304" pitchFamily="18" charset="0"/>
                        </a:rPr>
                        <a:t>1,025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644013"/>
                  </a:ext>
                </a:extLst>
              </a:tr>
              <a:tr h="269381">
                <a:tc>
                  <a:txBody>
                    <a:bodyPr/>
                    <a:lstStyle/>
                    <a:p>
                      <a:pPr>
                        <a:buNone/>
                      </a:pPr>
                      <a:r>
                        <a:rPr lang="en-US" sz="1400" b="1" dirty="0">
                          <a:latin typeface="Times New Roman" panose="02020603050405020304" pitchFamily="18" charset="0"/>
                          <a:cs typeface="Times New Roman" panose="02020603050405020304" pitchFamily="18" charset="0"/>
                        </a:rPr>
                        <a:t>Total</a:t>
                      </a:r>
                      <a:endParaRPr lang="en-US" sz="14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b="1">
                          <a:latin typeface="Times New Roman" panose="02020603050405020304" pitchFamily="18" charset="0"/>
                          <a:cs typeface="Times New Roman" panose="02020603050405020304" pitchFamily="18" charset="0"/>
                        </a:rPr>
                        <a:t>16,097</a:t>
                      </a:r>
                      <a:endParaRPr lang="en-US" sz="14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b="1" dirty="0">
                          <a:latin typeface="Times New Roman" panose="02020603050405020304" pitchFamily="18" charset="0"/>
                          <a:cs typeface="Times New Roman" panose="02020603050405020304" pitchFamily="18" charset="0"/>
                        </a:rPr>
                        <a:t>18,126</a:t>
                      </a:r>
                      <a:endParaRPr lang="en-US" sz="14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5682767"/>
                  </a:ext>
                </a:extLst>
              </a:tr>
            </a:tbl>
          </a:graphicData>
        </a:graphic>
      </p:graphicFrame>
    </p:spTree>
    <p:extLst>
      <p:ext uri="{BB962C8B-B14F-4D97-AF65-F5344CB8AC3E}">
        <p14:creationId xmlns:p14="http://schemas.microsoft.com/office/powerpoint/2010/main" val="3940625137"/>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B7B42-C208-4FFA-1262-B3204C3EFBF0}"/>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17C9C2B0-EFFB-6492-FFB8-DF65F80901C8}"/>
              </a:ext>
            </a:extLst>
          </p:cNvPr>
          <p:cNvSpPr>
            <a:spLocks noGrp="1"/>
          </p:cNvSpPr>
          <p:nvPr>
            <p:ph type="dt" sz="half" idx="10"/>
          </p:nvPr>
        </p:nvSpPr>
        <p:spPr/>
        <p:txBody>
          <a:bodyPr/>
          <a:lstStyle/>
          <a:p>
            <a:fld id="{BD9A7481-B318-4EA0-B11A-2AD89EFD13C3}" type="datetime1">
              <a:rPr lang="en-US" smtClean="0"/>
              <a:t>1/18/2026</a:t>
            </a:fld>
            <a:endParaRPr lang="en-US" dirty="0"/>
          </a:p>
        </p:txBody>
      </p:sp>
      <p:sp>
        <p:nvSpPr>
          <p:cNvPr id="3" name="Slide Number Placeholder 2">
            <a:extLst>
              <a:ext uri="{FF2B5EF4-FFF2-40B4-BE49-F238E27FC236}">
                <a16:creationId xmlns:a16="http://schemas.microsoft.com/office/drawing/2014/main" id="{FB51EB6F-9746-AE20-5E13-D6B0CEC05A05}"/>
              </a:ext>
            </a:extLst>
          </p:cNvPr>
          <p:cNvSpPr>
            <a:spLocks noGrp="1"/>
          </p:cNvSpPr>
          <p:nvPr>
            <p:ph type="sldNum" sz="quarter" idx="12"/>
          </p:nvPr>
        </p:nvSpPr>
        <p:spPr/>
        <p:txBody>
          <a:bodyPr/>
          <a:lstStyle/>
          <a:p>
            <a:fld id="{06FEDF93-2BFD-41CA-ABC7-B039102F3792}" type="slidenum">
              <a:rPr lang="en-US" smtClean="0"/>
              <a:t>15</a:t>
            </a:fld>
            <a:endParaRPr lang="en-US" dirty="0"/>
          </a:p>
        </p:txBody>
      </p:sp>
      <p:sp>
        <p:nvSpPr>
          <p:cNvPr id="4" name="Title 1">
            <a:extLst>
              <a:ext uri="{FF2B5EF4-FFF2-40B4-BE49-F238E27FC236}">
                <a16:creationId xmlns:a16="http://schemas.microsoft.com/office/drawing/2014/main" id="{335A3B5F-6594-5B9A-A001-B91A74DC73B2}"/>
              </a:ext>
            </a:extLst>
          </p:cNvPr>
          <p:cNvSpPr txBox="1">
            <a:spLocks/>
          </p:cNvSpPr>
          <p:nvPr/>
        </p:nvSpPr>
        <p:spPr>
          <a:xfrm>
            <a:off x="228600" y="424424"/>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PREPROCESSING</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5" name="Straight Connector 4">
            <a:extLst>
              <a:ext uri="{FF2B5EF4-FFF2-40B4-BE49-F238E27FC236}">
                <a16:creationId xmlns:a16="http://schemas.microsoft.com/office/drawing/2014/main" id="{814D681D-EAD4-9D80-2A73-B0BBC7F699A7}"/>
              </a:ext>
              <a:ext uri="{C183D7F6-B498-43B3-948B-1728B52AA6E4}">
                <adec:decorative xmlns:adec="http://schemas.microsoft.com/office/drawing/2017/decorative" val="1"/>
              </a:ext>
            </a:extLst>
          </p:cNvPr>
          <p:cNvCxnSpPr>
            <a:cxnSpLocks/>
          </p:cNvCxnSpPr>
          <p:nvPr/>
        </p:nvCxnSpPr>
        <p:spPr>
          <a:xfrm>
            <a:off x="87923" y="593237"/>
            <a:ext cx="3935437" cy="2394"/>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F1689731-3B9E-8302-60F8-87858E0D1A0F}"/>
              </a:ext>
              <a:ext uri="{C183D7F6-B498-43B3-948B-1728B52AA6E4}">
                <adec:decorative xmlns:adec="http://schemas.microsoft.com/office/drawing/2017/decorative" val="1"/>
              </a:ext>
            </a:extLst>
          </p:cNvPr>
          <p:cNvCxnSpPr>
            <a:cxnSpLocks/>
          </p:cNvCxnSpPr>
          <p:nvPr/>
        </p:nvCxnSpPr>
        <p:spPr>
          <a:xfrm>
            <a:off x="7939087" y="593237"/>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F91CAF86-EA54-0D8E-3456-DFDCF6F451C1}"/>
              </a:ext>
              <a:ext uri="{C183D7F6-B498-43B3-948B-1728B52AA6E4}">
                <adec:decorative xmlns:adec="http://schemas.microsoft.com/office/drawing/2017/decorative" val="1"/>
              </a:ext>
            </a:extLst>
          </p:cNvPr>
          <p:cNvSpPr/>
          <p:nvPr/>
        </p:nvSpPr>
        <p:spPr>
          <a:xfrm>
            <a:off x="1192433" y="1382859"/>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Box 22">
            <a:extLst>
              <a:ext uri="{FF2B5EF4-FFF2-40B4-BE49-F238E27FC236}">
                <a16:creationId xmlns:a16="http://schemas.microsoft.com/office/drawing/2014/main" id="{42341CE2-8F24-41DB-AA2E-CA137A4DBF95}"/>
              </a:ext>
            </a:extLst>
          </p:cNvPr>
          <p:cNvSpPr txBox="1"/>
          <p:nvPr/>
        </p:nvSpPr>
        <p:spPr>
          <a:xfrm>
            <a:off x="1856935" y="1350803"/>
            <a:ext cx="3819965" cy="1631216"/>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Dataset Splitting:</a:t>
            </a:r>
          </a:p>
          <a:p>
            <a:r>
              <a:rPr lang="en-US" sz="2000" dirty="0">
                <a:latin typeface="Times New Roman" panose="02020603050405020304" pitchFamily="18" charset="0"/>
                <a:cs typeface="Times New Roman" panose="02020603050405020304" pitchFamily="18" charset="0"/>
              </a:rPr>
              <a:t> </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Training Data (80%)</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Test Data (10%)</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Validation Data (10%)</a:t>
            </a:r>
          </a:p>
        </p:txBody>
      </p:sp>
      <p:graphicFrame>
        <p:nvGraphicFramePr>
          <p:cNvPr id="26" name="Chart 25">
            <a:extLst>
              <a:ext uri="{FF2B5EF4-FFF2-40B4-BE49-F238E27FC236}">
                <a16:creationId xmlns:a16="http://schemas.microsoft.com/office/drawing/2014/main" id="{3B0937B1-F252-B2CE-4B7C-FED1FAC23280}"/>
              </a:ext>
            </a:extLst>
          </p:cNvPr>
          <p:cNvGraphicFramePr/>
          <p:nvPr>
            <p:extLst>
              <p:ext uri="{D42A27DB-BD31-4B8C-83A1-F6EECF244321}">
                <p14:modId xmlns:p14="http://schemas.microsoft.com/office/powerpoint/2010/main" val="3603888627"/>
              </p:ext>
            </p:extLst>
          </p:nvPr>
        </p:nvGraphicFramePr>
        <p:xfrm>
          <a:off x="5457874" y="1544800"/>
          <a:ext cx="6305452" cy="3957841"/>
        </p:xfrm>
        <a:graphic>
          <a:graphicData uri="http://schemas.openxmlformats.org/drawingml/2006/chart">
            <c:chart xmlns:c="http://schemas.openxmlformats.org/drawingml/2006/chart" xmlns:r="http://schemas.openxmlformats.org/officeDocument/2006/relationships" r:id="rId2"/>
          </a:graphicData>
        </a:graphic>
      </p:graphicFrame>
      <p:sp>
        <p:nvSpPr>
          <p:cNvPr id="7" name="Footer Placeholder 6">
            <a:extLst>
              <a:ext uri="{FF2B5EF4-FFF2-40B4-BE49-F238E27FC236}">
                <a16:creationId xmlns:a16="http://schemas.microsoft.com/office/drawing/2014/main" id="{77217E7E-D80B-B11C-B1B0-3285234E5302}"/>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874109204"/>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2B1E31D-AF02-D05C-2A00-533087102C3B}"/>
              </a:ext>
            </a:extLst>
          </p:cNvPr>
          <p:cNvSpPr>
            <a:spLocks noGrp="1"/>
          </p:cNvSpPr>
          <p:nvPr>
            <p:ph type="dt" sz="half" idx="10"/>
          </p:nvPr>
        </p:nvSpPr>
        <p:spPr/>
        <p:txBody>
          <a:bodyPr/>
          <a:lstStyle/>
          <a:p>
            <a:fld id="{B3978834-ABF5-40C7-82A7-8B37E18E1394}" type="datetime1">
              <a:rPr lang="en-US" smtClean="0"/>
              <a:t>1/18/2026</a:t>
            </a:fld>
            <a:endParaRPr lang="en-US" dirty="0"/>
          </a:p>
        </p:txBody>
      </p:sp>
      <p:sp>
        <p:nvSpPr>
          <p:cNvPr id="3" name="Slide Number Placeholder 2">
            <a:extLst>
              <a:ext uri="{FF2B5EF4-FFF2-40B4-BE49-F238E27FC236}">
                <a16:creationId xmlns:a16="http://schemas.microsoft.com/office/drawing/2014/main" id="{FB66DBDC-EDF9-7659-2564-F7AF51AA3BDE}"/>
              </a:ext>
            </a:extLst>
          </p:cNvPr>
          <p:cNvSpPr>
            <a:spLocks noGrp="1"/>
          </p:cNvSpPr>
          <p:nvPr>
            <p:ph type="sldNum" sz="quarter" idx="12"/>
          </p:nvPr>
        </p:nvSpPr>
        <p:spPr/>
        <p:txBody>
          <a:bodyPr/>
          <a:lstStyle/>
          <a:p>
            <a:fld id="{06FEDF93-2BFD-41CA-ABC7-B039102F3792}" type="slidenum">
              <a:rPr lang="en-US" smtClean="0"/>
              <a:t>16</a:t>
            </a:fld>
            <a:endParaRPr lang="en-US" dirty="0"/>
          </a:p>
        </p:txBody>
      </p:sp>
      <p:sp>
        <p:nvSpPr>
          <p:cNvPr id="4" name="Title 1">
            <a:extLst>
              <a:ext uri="{FF2B5EF4-FFF2-40B4-BE49-F238E27FC236}">
                <a16:creationId xmlns:a16="http://schemas.microsoft.com/office/drawing/2014/main" id="{A4B6D644-21C0-18EC-BEC3-48E6F3BC4F53}"/>
              </a:ext>
            </a:extLst>
          </p:cNvPr>
          <p:cNvSpPr txBox="1">
            <a:spLocks/>
          </p:cNvSpPr>
          <p:nvPr/>
        </p:nvSpPr>
        <p:spPr>
          <a:xfrm>
            <a:off x="228600" y="424424"/>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Methodology</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5" name="Straight Connector 4">
            <a:extLst>
              <a:ext uri="{FF2B5EF4-FFF2-40B4-BE49-F238E27FC236}">
                <a16:creationId xmlns:a16="http://schemas.microsoft.com/office/drawing/2014/main" id="{0A4E20A0-2890-BD5F-25C5-784CE978D931}"/>
              </a:ext>
              <a:ext uri="{C183D7F6-B498-43B3-948B-1728B52AA6E4}">
                <adec:decorative xmlns:adec="http://schemas.microsoft.com/office/drawing/2017/decorative" val="1"/>
              </a:ext>
            </a:extLst>
          </p:cNvPr>
          <p:cNvCxnSpPr>
            <a:cxnSpLocks/>
          </p:cNvCxnSpPr>
          <p:nvPr/>
        </p:nvCxnSpPr>
        <p:spPr>
          <a:xfrm>
            <a:off x="87923" y="593237"/>
            <a:ext cx="3935437" cy="2394"/>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36B189D-85E8-F95A-4DF9-EA982F7093C5}"/>
              </a:ext>
              <a:ext uri="{C183D7F6-B498-43B3-948B-1728B52AA6E4}">
                <adec:decorative xmlns:adec="http://schemas.microsoft.com/office/drawing/2017/decorative" val="1"/>
              </a:ext>
            </a:extLst>
          </p:cNvPr>
          <p:cNvCxnSpPr>
            <a:cxnSpLocks/>
          </p:cNvCxnSpPr>
          <p:nvPr/>
        </p:nvCxnSpPr>
        <p:spPr>
          <a:xfrm>
            <a:off x="7939087" y="593237"/>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8" name="Footer Placeholder 7">
            <a:extLst>
              <a:ext uri="{FF2B5EF4-FFF2-40B4-BE49-F238E27FC236}">
                <a16:creationId xmlns:a16="http://schemas.microsoft.com/office/drawing/2014/main" id="{5048CE21-AC25-BFFD-3C03-7DAB6D0FABA4}"/>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pic>
        <p:nvPicPr>
          <p:cNvPr id="11" name="Picture 10">
            <a:extLst>
              <a:ext uri="{FF2B5EF4-FFF2-40B4-BE49-F238E27FC236}">
                <a16:creationId xmlns:a16="http://schemas.microsoft.com/office/drawing/2014/main" id="{5E70870D-D3B9-5920-61DA-A4AC64E84E9A}"/>
              </a:ext>
            </a:extLst>
          </p:cNvPr>
          <p:cNvPicPr>
            <a:picLocks noChangeAspect="1"/>
          </p:cNvPicPr>
          <p:nvPr/>
        </p:nvPicPr>
        <p:blipFill>
          <a:blip r:embed="rId2"/>
          <a:srcRect t="5646" b="4565"/>
          <a:stretch>
            <a:fillRect/>
          </a:stretch>
        </p:blipFill>
        <p:spPr>
          <a:xfrm>
            <a:off x="1219200" y="1144621"/>
            <a:ext cx="9753600" cy="4847781"/>
          </a:xfrm>
          <a:prstGeom prst="rect">
            <a:avLst/>
          </a:prstGeom>
        </p:spPr>
      </p:pic>
    </p:spTree>
    <p:extLst>
      <p:ext uri="{BB962C8B-B14F-4D97-AF65-F5344CB8AC3E}">
        <p14:creationId xmlns:p14="http://schemas.microsoft.com/office/powerpoint/2010/main" val="2962019064"/>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C9F52E-929D-6A4C-E6BF-8EBE0B2A6892}"/>
              </a:ext>
            </a:extLst>
          </p:cNvPr>
          <p:cNvSpPr>
            <a:spLocks noGrp="1"/>
          </p:cNvSpPr>
          <p:nvPr>
            <p:ph type="dt" sz="half" idx="10"/>
          </p:nvPr>
        </p:nvSpPr>
        <p:spPr/>
        <p:txBody>
          <a:bodyPr/>
          <a:lstStyle/>
          <a:p>
            <a:fld id="{2C60E54E-2251-4A13-9893-E5F4E64A3AAF}" type="datetime1">
              <a:rPr lang="en-US" smtClean="0"/>
              <a:t>1/18/2026</a:t>
            </a:fld>
            <a:endParaRPr lang="en-US" dirty="0"/>
          </a:p>
        </p:txBody>
      </p:sp>
      <p:sp>
        <p:nvSpPr>
          <p:cNvPr id="3" name="Slide Number Placeholder 2">
            <a:extLst>
              <a:ext uri="{FF2B5EF4-FFF2-40B4-BE49-F238E27FC236}">
                <a16:creationId xmlns:a16="http://schemas.microsoft.com/office/drawing/2014/main" id="{677B0DCC-2E1C-B276-39BE-75646C359503}"/>
              </a:ext>
            </a:extLst>
          </p:cNvPr>
          <p:cNvSpPr>
            <a:spLocks noGrp="1"/>
          </p:cNvSpPr>
          <p:nvPr>
            <p:ph type="sldNum" sz="quarter" idx="12"/>
          </p:nvPr>
        </p:nvSpPr>
        <p:spPr/>
        <p:txBody>
          <a:bodyPr/>
          <a:lstStyle/>
          <a:p>
            <a:fld id="{06FEDF93-2BFD-41CA-ABC7-B039102F3792}" type="slidenum">
              <a:rPr lang="en-US" smtClean="0"/>
              <a:t>17</a:t>
            </a:fld>
            <a:endParaRPr lang="en-US" dirty="0"/>
          </a:p>
        </p:txBody>
      </p:sp>
      <p:sp>
        <p:nvSpPr>
          <p:cNvPr id="4" name="Title 1">
            <a:extLst>
              <a:ext uri="{FF2B5EF4-FFF2-40B4-BE49-F238E27FC236}">
                <a16:creationId xmlns:a16="http://schemas.microsoft.com/office/drawing/2014/main" id="{5BCB43C7-3183-C749-93EF-CB74934951DF}"/>
              </a:ext>
            </a:extLst>
          </p:cNvPr>
          <p:cNvSpPr txBox="1">
            <a:spLocks/>
          </p:cNvSpPr>
          <p:nvPr/>
        </p:nvSpPr>
        <p:spPr>
          <a:xfrm>
            <a:off x="228600" y="287143"/>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RESULTS &amp; ANALYSIS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5" name="Straight Connector 4">
            <a:extLst>
              <a:ext uri="{FF2B5EF4-FFF2-40B4-BE49-F238E27FC236}">
                <a16:creationId xmlns:a16="http://schemas.microsoft.com/office/drawing/2014/main" id="{0F4AAFDF-BE1B-58FC-9822-5C0DFB33016E}"/>
              </a:ext>
              <a:ext uri="{C183D7F6-B498-43B3-948B-1728B52AA6E4}">
                <adec:decorative xmlns:adec="http://schemas.microsoft.com/office/drawing/2017/decorative" val="1"/>
              </a:ext>
            </a:extLst>
          </p:cNvPr>
          <p:cNvCxnSpPr>
            <a:cxnSpLocks/>
          </p:cNvCxnSpPr>
          <p:nvPr/>
        </p:nvCxnSpPr>
        <p:spPr>
          <a:xfrm>
            <a:off x="422031" y="454953"/>
            <a:ext cx="3840187"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0375CEC-922D-64B1-D728-69DF5EE46442}"/>
              </a:ext>
              <a:ext uri="{C183D7F6-B498-43B3-948B-1728B52AA6E4}">
                <adec:decorative xmlns:adec="http://schemas.microsoft.com/office/drawing/2017/decorative" val="1"/>
              </a:ext>
            </a:extLst>
          </p:cNvPr>
          <p:cNvCxnSpPr>
            <a:cxnSpLocks/>
          </p:cNvCxnSpPr>
          <p:nvPr/>
        </p:nvCxnSpPr>
        <p:spPr>
          <a:xfrm>
            <a:off x="7921282" y="454953"/>
            <a:ext cx="3812346"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EA3C4982-CA79-84EF-F3CD-132862A81179}"/>
              </a:ext>
              <a:ext uri="{C183D7F6-B498-43B3-948B-1728B52AA6E4}">
                <adec:decorative xmlns:adec="http://schemas.microsoft.com/office/drawing/2017/decorative" val="1"/>
              </a:ext>
            </a:extLst>
          </p:cNvPr>
          <p:cNvSpPr/>
          <p:nvPr/>
        </p:nvSpPr>
        <p:spPr>
          <a:xfrm>
            <a:off x="1055077" y="1527153"/>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2EA2DC08-89A9-846A-DC4F-69E9E233FE27}"/>
              </a:ext>
            </a:extLst>
          </p:cNvPr>
          <p:cNvSpPr txBox="1"/>
          <p:nvPr/>
        </p:nvSpPr>
        <p:spPr>
          <a:xfrm>
            <a:off x="1645626" y="1463040"/>
            <a:ext cx="7259223"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Accuracy Graph:  Accuracy graph for Training and Validation data</a:t>
            </a:r>
          </a:p>
        </p:txBody>
      </p:sp>
      <p:sp>
        <p:nvSpPr>
          <p:cNvPr id="16" name="TextBox 15">
            <a:extLst>
              <a:ext uri="{FF2B5EF4-FFF2-40B4-BE49-F238E27FC236}">
                <a16:creationId xmlns:a16="http://schemas.microsoft.com/office/drawing/2014/main" id="{634D9990-55A0-8CE9-CBA7-356A05446E13}"/>
              </a:ext>
            </a:extLst>
          </p:cNvPr>
          <p:cNvSpPr txBox="1"/>
          <p:nvPr/>
        </p:nvSpPr>
        <p:spPr>
          <a:xfrm>
            <a:off x="89830" y="5018587"/>
            <a:ext cx="3491570" cy="390684"/>
          </a:xfrm>
          <a:prstGeom prst="rect">
            <a:avLst/>
          </a:prstGeom>
          <a:noFill/>
        </p:spPr>
        <p:txBody>
          <a:bodyPr wrap="square">
            <a:spAutoFit/>
          </a:bodyPr>
          <a:lstStyle/>
          <a:p>
            <a:pPr marL="457200" marR="0" algn="ctr">
              <a:lnSpc>
                <a:spcPct val="115000"/>
              </a:lnSpc>
              <a:spcBef>
                <a:spcPts val="0"/>
              </a:spcBef>
              <a:spcAft>
                <a:spcPts val="800"/>
              </a:spcAft>
            </a:pPr>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Fig </a:t>
            </a:r>
            <a:endParaRPr lang="en-US" sz="16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TextBox 16">
            <a:extLst>
              <a:ext uri="{FF2B5EF4-FFF2-40B4-BE49-F238E27FC236}">
                <a16:creationId xmlns:a16="http://schemas.microsoft.com/office/drawing/2014/main" id="{FBADA866-1804-F3DE-D053-FA7DEF8ABB43}"/>
              </a:ext>
            </a:extLst>
          </p:cNvPr>
          <p:cNvSpPr txBox="1"/>
          <p:nvPr/>
        </p:nvSpPr>
        <p:spPr>
          <a:xfrm>
            <a:off x="3887960" y="5075033"/>
            <a:ext cx="3491570" cy="390684"/>
          </a:xfrm>
          <a:prstGeom prst="rect">
            <a:avLst/>
          </a:prstGeom>
          <a:noFill/>
        </p:spPr>
        <p:txBody>
          <a:bodyPr wrap="square">
            <a:spAutoFit/>
          </a:bodyPr>
          <a:lstStyle/>
          <a:p>
            <a:pPr marL="457200" marR="0" algn="ctr">
              <a:lnSpc>
                <a:spcPct val="115000"/>
              </a:lnSpc>
              <a:spcBef>
                <a:spcPts val="0"/>
              </a:spcBef>
              <a:spcAft>
                <a:spcPts val="800"/>
              </a:spcAft>
            </a:pPr>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Fig </a:t>
            </a:r>
            <a:r>
              <a:rPr lang="en-US" b="1" dirty="0">
                <a:latin typeface="Times New Roman" panose="02020603050405020304" pitchFamily="18" charset="0"/>
                <a:ea typeface="Calibri" panose="020F0502020204030204" pitchFamily="34" charset="0"/>
                <a:cs typeface="Times New Roman" panose="02020603050405020304" pitchFamily="18" charset="0"/>
              </a:rPr>
              <a:t>:</a:t>
            </a:r>
            <a:endParaRPr lang="en-US" sz="16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C22ABCFF-272C-6B2D-1F82-8F886987D84D}"/>
              </a:ext>
            </a:extLst>
          </p:cNvPr>
          <p:cNvSpPr txBox="1"/>
          <p:nvPr/>
        </p:nvSpPr>
        <p:spPr>
          <a:xfrm>
            <a:off x="7887946" y="5119868"/>
            <a:ext cx="3491570" cy="390684"/>
          </a:xfrm>
          <a:prstGeom prst="rect">
            <a:avLst/>
          </a:prstGeom>
          <a:noFill/>
        </p:spPr>
        <p:txBody>
          <a:bodyPr wrap="square">
            <a:spAutoFit/>
          </a:bodyPr>
          <a:lstStyle/>
          <a:p>
            <a:pPr marL="457200" marR="0" algn="ctr">
              <a:lnSpc>
                <a:spcPct val="115000"/>
              </a:lnSpc>
              <a:spcBef>
                <a:spcPts val="0"/>
              </a:spcBef>
              <a:spcAft>
                <a:spcPts val="800"/>
              </a:spcAft>
            </a:pPr>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Fig </a:t>
            </a:r>
            <a:r>
              <a:rPr lang="en-US" b="1" dirty="0">
                <a:latin typeface="Times New Roman" panose="02020603050405020304" pitchFamily="18" charset="0"/>
                <a:ea typeface="Calibri" panose="020F0502020204030204" pitchFamily="34" charset="0"/>
                <a:cs typeface="Times New Roman" panose="02020603050405020304" pitchFamily="18" charset="0"/>
              </a:rPr>
              <a:t>:</a:t>
            </a:r>
            <a:endParaRPr lang="en-US" sz="16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7" name="Picture 6">
            <a:extLst>
              <a:ext uri="{FF2B5EF4-FFF2-40B4-BE49-F238E27FC236}">
                <a16:creationId xmlns:a16="http://schemas.microsoft.com/office/drawing/2014/main" id="{3EDAC49B-4383-98E7-6DAE-3129A9815623}"/>
              </a:ext>
            </a:extLst>
          </p:cNvPr>
          <p:cNvPicPr>
            <a:picLocks noChangeAspect="1"/>
          </p:cNvPicPr>
          <p:nvPr/>
        </p:nvPicPr>
        <p:blipFill>
          <a:blip r:embed="rId2"/>
          <a:stretch>
            <a:fillRect/>
          </a:stretch>
        </p:blipFill>
        <p:spPr>
          <a:xfrm>
            <a:off x="325114" y="2288072"/>
            <a:ext cx="3332486" cy="2596680"/>
          </a:xfrm>
          <a:prstGeom prst="rect">
            <a:avLst/>
          </a:prstGeom>
        </p:spPr>
      </p:pic>
      <p:pic>
        <p:nvPicPr>
          <p:cNvPr id="8" name="Picture 7">
            <a:extLst>
              <a:ext uri="{FF2B5EF4-FFF2-40B4-BE49-F238E27FC236}">
                <a16:creationId xmlns:a16="http://schemas.microsoft.com/office/drawing/2014/main" id="{D4074B74-D42C-EA07-0EAE-71DCCFD418FD}"/>
              </a:ext>
            </a:extLst>
          </p:cNvPr>
          <p:cNvPicPr>
            <a:picLocks noChangeAspect="1"/>
          </p:cNvPicPr>
          <p:nvPr/>
        </p:nvPicPr>
        <p:blipFill>
          <a:blip r:embed="rId3"/>
          <a:stretch>
            <a:fillRect/>
          </a:stretch>
        </p:blipFill>
        <p:spPr>
          <a:xfrm>
            <a:off x="4340765" y="2372985"/>
            <a:ext cx="3491570" cy="2366965"/>
          </a:xfrm>
          <a:prstGeom prst="rect">
            <a:avLst/>
          </a:prstGeom>
        </p:spPr>
      </p:pic>
      <p:pic>
        <p:nvPicPr>
          <p:cNvPr id="11" name="Picture 10">
            <a:extLst>
              <a:ext uri="{FF2B5EF4-FFF2-40B4-BE49-F238E27FC236}">
                <a16:creationId xmlns:a16="http://schemas.microsoft.com/office/drawing/2014/main" id="{D2108C04-0557-6A94-ABD2-709BFEBF7BCB}"/>
              </a:ext>
            </a:extLst>
          </p:cNvPr>
          <p:cNvPicPr>
            <a:picLocks noChangeAspect="1"/>
          </p:cNvPicPr>
          <p:nvPr/>
        </p:nvPicPr>
        <p:blipFill>
          <a:blip r:embed="rId4"/>
          <a:stretch>
            <a:fillRect/>
          </a:stretch>
        </p:blipFill>
        <p:spPr>
          <a:xfrm>
            <a:off x="8534402" y="2372746"/>
            <a:ext cx="2867024" cy="2367204"/>
          </a:xfrm>
          <a:prstGeom prst="rect">
            <a:avLst/>
          </a:prstGeom>
        </p:spPr>
      </p:pic>
      <p:sp>
        <p:nvSpPr>
          <p:cNvPr id="12" name="Footer Placeholder 11">
            <a:extLst>
              <a:ext uri="{FF2B5EF4-FFF2-40B4-BE49-F238E27FC236}">
                <a16:creationId xmlns:a16="http://schemas.microsoft.com/office/drawing/2014/main" id="{CA114370-9A6C-1AD4-2E91-8A79A9CA0BF4}"/>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3744178071"/>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down)">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17">
                                            <p:txEl>
                                              <p:pRg st="0" end="0"/>
                                            </p:txEl>
                                          </p:spTgt>
                                        </p:tgtEl>
                                        <p:attrNameLst>
                                          <p:attrName>style.visibility</p:attrName>
                                        </p:attrNameLst>
                                      </p:cBhvr>
                                      <p:to>
                                        <p:strVal val="visible"/>
                                      </p:to>
                                    </p:set>
                                    <p:animEffect transition="in" filter="wipe(down)">
                                      <p:cBhvr>
                                        <p:cTn id="12" dur="500"/>
                                        <p:tgtEl>
                                          <p:spTgt spid="17">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18">
                                            <p:txEl>
                                              <p:pRg st="0" end="0"/>
                                            </p:txEl>
                                          </p:spTgt>
                                        </p:tgtEl>
                                        <p:attrNameLst>
                                          <p:attrName>style.visibility</p:attrName>
                                        </p:attrNameLst>
                                      </p:cBhvr>
                                      <p:to>
                                        <p:strVal val="visible"/>
                                      </p:to>
                                    </p:set>
                                    <p:animEffect transition="in" filter="wipe(down)">
                                      <p:cBhvr>
                                        <p:cTn id="17" dur="500"/>
                                        <p:tgtEl>
                                          <p:spTgt spid="1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C9F52E-929D-6A4C-E6BF-8EBE0B2A6892}"/>
              </a:ext>
            </a:extLst>
          </p:cNvPr>
          <p:cNvSpPr>
            <a:spLocks noGrp="1"/>
          </p:cNvSpPr>
          <p:nvPr>
            <p:ph type="dt" sz="half" idx="10"/>
          </p:nvPr>
        </p:nvSpPr>
        <p:spPr/>
        <p:txBody>
          <a:bodyPr/>
          <a:lstStyle/>
          <a:p>
            <a:fld id="{F40358BF-3708-419D-93C8-C0EBFEF88C84}" type="datetime1">
              <a:rPr lang="en-US" smtClean="0"/>
              <a:t>1/18/2026</a:t>
            </a:fld>
            <a:endParaRPr lang="en-US" dirty="0"/>
          </a:p>
        </p:txBody>
      </p:sp>
      <p:sp>
        <p:nvSpPr>
          <p:cNvPr id="3" name="Slide Number Placeholder 2">
            <a:extLst>
              <a:ext uri="{FF2B5EF4-FFF2-40B4-BE49-F238E27FC236}">
                <a16:creationId xmlns:a16="http://schemas.microsoft.com/office/drawing/2014/main" id="{677B0DCC-2E1C-B276-39BE-75646C359503}"/>
              </a:ext>
            </a:extLst>
          </p:cNvPr>
          <p:cNvSpPr>
            <a:spLocks noGrp="1"/>
          </p:cNvSpPr>
          <p:nvPr>
            <p:ph type="sldNum" sz="quarter" idx="12"/>
          </p:nvPr>
        </p:nvSpPr>
        <p:spPr/>
        <p:txBody>
          <a:bodyPr/>
          <a:lstStyle/>
          <a:p>
            <a:fld id="{06FEDF93-2BFD-41CA-ABC7-B039102F3792}" type="slidenum">
              <a:rPr lang="en-US" smtClean="0"/>
              <a:t>18</a:t>
            </a:fld>
            <a:endParaRPr lang="en-US" dirty="0"/>
          </a:p>
        </p:txBody>
      </p:sp>
      <p:sp>
        <p:nvSpPr>
          <p:cNvPr id="4" name="Title 1">
            <a:extLst>
              <a:ext uri="{FF2B5EF4-FFF2-40B4-BE49-F238E27FC236}">
                <a16:creationId xmlns:a16="http://schemas.microsoft.com/office/drawing/2014/main" id="{5BCB43C7-3183-C749-93EF-CB74934951DF}"/>
              </a:ext>
            </a:extLst>
          </p:cNvPr>
          <p:cNvSpPr txBox="1">
            <a:spLocks/>
          </p:cNvSpPr>
          <p:nvPr/>
        </p:nvSpPr>
        <p:spPr>
          <a:xfrm>
            <a:off x="228600" y="287143"/>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RESULTS &amp; ANALYSIS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5" name="Straight Connector 4">
            <a:extLst>
              <a:ext uri="{FF2B5EF4-FFF2-40B4-BE49-F238E27FC236}">
                <a16:creationId xmlns:a16="http://schemas.microsoft.com/office/drawing/2014/main" id="{0F4AAFDF-BE1B-58FC-9822-5C0DFB33016E}"/>
              </a:ext>
              <a:ext uri="{C183D7F6-B498-43B3-948B-1728B52AA6E4}">
                <adec:decorative xmlns:adec="http://schemas.microsoft.com/office/drawing/2017/decorative" val="1"/>
              </a:ext>
            </a:extLst>
          </p:cNvPr>
          <p:cNvCxnSpPr>
            <a:cxnSpLocks/>
          </p:cNvCxnSpPr>
          <p:nvPr/>
        </p:nvCxnSpPr>
        <p:spPr>
          <a:xfrm>
            <a:off x="228600" y="438492"/>
            <a:ext cx="3840187"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0375CEC-922D-64B1-D728-69DF5EE46442}"/>
              </a:ext>
              <a:ext uri="{C183D7F6-B498-43B3-948B-1728B52AA6E4}">
                <adec:decorative xmlns:adec="http://schemas.microsoft.com/office/drawing/2017/decorative" val="1"/>
              </a:ext>
            </a:extLst>
          </p:cNvPr>
          <p:cNvCxnSpPr>
            <a:cxnSpLocks/>
          </p:cNvCxnSpPr>
          <p:nvPr/>
        </p:nvCxnSpPr>
        <p:spPr>
          <a:xfrm>
            <a:off x="8151054" y="438492"/>
            <a:ext cx="3812346"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35B6CCC1-F376-EDCF-E83B-5F6495A7545B}"/>
              </a:ext>
              <a:ext uri="{C183D7F6-B498-43B3-948B-1728B52AA6E4}">
                <adec:decorative xmlns:adec="http://schemas.microsoft.com/office/drawing/2017/decorative" val="1"/>
              </a:ext>
            </a:extLst>
          </p:cNvPr>
          <p:cNvSpPr/>
          <p:nvPr/>
        </p:nvSpPr>
        <p:spPr>
          <a:xfrm>
            <a:off x="1093960" y="1463040"/>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2C7F977A-F66D-1022-E59B-73FC85FBD292}"/>
              </a:ext>
            </a:extLst>
          </p:cNvPr>
          <p:cNvSpPr txBox="1"/>
          <p:nvPr/>
        </p:nvSpPr>
        <p:spPr>
          <a:xfrm>
            <a:off x="1645626" y="1463040"/>
            <a:ext cx="7259223"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Loss Graph: Loss graph for Training and Validation data</a:t>
            </a:r>
          </a:p>
        </p:txBody>
      </p:sp>
      <p:sp>
        <p:nvSpPr>
          <p:cNvPr id="12" name="TextBox 11">
            <a:extLst>
              <a:ext uri="{FF2B5EF4-FFF2-40B4-BE49-F238E27FC236}">
                <a16:creationId xmlns:a16="http://schemas.microsoft.com/office/drawing/2014/main" id="{25A86945-07B2-5886-0934-DFBDE13C3360}"/>
              </a:ext>
            </a:extLst>
          </p:cNvPr>
          <p:cNvSpPr txBox="1"/>
          <p:nvPr/>
        </p:nvSpPr>
        <p:spPr>
          <a:xfrm>
            <a:off x="228600" y="5131328"/>
            <a:ext cx="3491570" cy="709233"/>
          </a:xfrm>
          <a:prstGeom prst="rect">
            <a:avLst/>
          </a:prstGeom>
          <a:noFill/>
        </p:spPr>
        <p:txBody>
          <a:bodyPr wrap="square">
            <a:spAutoFit/>
          </a:bodyPr>
          <a:lstStyle/>
          <a:p>
            <a:pPr marL="457200" marR="0" algn="ctr">
              <a:lnSpc>
                <a:spcPct val="115000"/>
              </a:lnSpc>
              <a:spcBef>
                <a:spcPts val="0"/>
              </a:spcBef>
              <a:spcAft>
                <a:spcPts val="800"/>
              </a:spcAft>
            </a:pPr>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Fig 1</a:t>
            </a:r>
            <a:r>
              <a:rPr lang="en-US" b="1" dirty="0">
                <a:latin typeface="Times New Roman" panose="02020603050405020304" pitchFamily="18" charset="0"/>
                <a:ea typeface="Calibri" panose="020F0502020204030204" pitchFamily="34" charset="0"/>
                <a:cs typeface="Times New Roman" panose="02020603050405020304" pitchFamily="18" charset="0"/>
              </a:rPr>
              <a:t>3</a:t>
            </a:r>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 Loss graph </a:t>
            </a:r>
            <a:r>
              <a:rPr lang="en-US" b="1" dirty="0">
                <a:latin typeface="Times New Roman" panose="02020603050405020304" pitchFamily="18" charset="0"/>
                <a:ea typeface="Calibri" panose="020F0502020204030204" pitchFamily="34" charset="0"/>
                <a:cs typeface="Times New Roman" panose="02020603050405020304" pitchFamily="18" charset="0"/>
              </a:rPr>
              <a:t>for VGG19</a:t>
            </a:r>
            <a:endParaRPr lang="en-US" sz="16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TextBox 12">
            <a:extLst>
              <a:ext uri="{FF2B5EF4-FFF2-40B4-BE49-F238E27FC236}">
                <a16:creationId xmlns:a16="http://schemas.microsoft.com/office/drawing/2014/main" id="{46135682-D67F-5740-0843-E53DF714E00F}"/>
              </a:ext>
            </a:extLst>
          </p:cNvPr>
          <p:cNvSpPr txBox="1"/>
          <p:nvPr/>
        </p:nvSpPr>
        <p:spPr>
          <a:xfrm>
            <a:off x="7887946" y="5119868"/>
            <a:ext cx="3491570" cy="709233"/>
          </a:xfrm>
          <a:prstGeom prst="rect">
            <a:avLst/>
          </a:prstGeom>
          <a:noFill/>
        </p:spPr>
        <p:txBody>
          <a:bodyPr wrap="square">
            <a:spAutoFit/>
          </a:bodyPr>
          <a:lstStyle/>
          <a:p>
            <a:pPr marL="457200" marR="0" algn="ctr">
              <a:lnSpc>
                <a:spcPct val="115000"/>
              </a:lnSpc>
              <a:spcBef>
                <a:spcPts val="0"/>
              </a:spcBef>
              <a:spcAft>
                <a:spcPts val="800"/>
              </a:spcAft>
            </a:pPr>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Fig 1</a:t>
            </a:r>
            <a:r>
              <a:rPr lang="en-US" b="1" dirty="0">
                <a:latin typeface="Times New Roman" panose="02020603050405020304" pitchFamily="18" charset="0"/>
                <a:ea typeface="Calibri" panose="020F0502020204030204" pitchFamily="34" charset="0"/>
                <a:cs typeface="Times New Roman" panose="02020603050405020304" pitchFamily="18" charset="0"/>
              </a:rPr>
              <a:t>5</a:t>
            </a:r>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 Loss graph </a:t>
            </a:r>
            <a:r>
              <a:rPr lang="en-US" b="1" dirty="0">
                <a:latin typeface="Times New Roman" panose="02020603050405020304" pitchFamily="18" charset="0"/>
                <a:ea typeface="Calibri" panose="020F0502020204030204" pitchFamily="34" charset="0"/>
                <a:cs typeface="Times New Roman" panose="02020603050405020304" pitchFamily="18" charset="0"/>
              </a:rPr>
              <a:t>for EfficientNetB0</a:t>
            </a:r>
            <a:endParaRPr lang="en-US" sz="16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4" name="TextBox 13">
            <a:extLst>
              <a:ext uri="{FF2B5EF4-FFF2-40B4-BE49-F238E27FC236}">
                <a16:creationId xmlns:a16="http://schemas.microsoft.com/office/drawing/2014/main" id="{4FBC00DC-690B-DAF1-A182-C53B4C3F21D2}"/>
              </a:ext>
            </a:extLst>
          </p:cNvPr>
          <p:cNvSpPr txBox="1"/>
          <p:nvPr/>
        </p:nvSpPr>
        <p:spPr>
          <a:xfrm>
            <a:off x="3879379" y="5131327"/>
            <a:ext cx="3407685" cy="709233"/>
          </a:xfrm>
          <a:prstGeom prst="rect">
            <a:avLst/>
          </a:prstGeom>
          <a:noFill/>
        </p:spPr>
        <p:txBody>
          <a:bodyPr wrap="square">
            <a:spAutoFit/>
          </a:bodyPr>
          <a:lstStyle/>
          <a:p>
            <a:pPr marL="457200" marR="0" algn="ctr">
              <a:lnSpc>
                <a:spcPct val="115000"/>
              </a:lnSpc>
              <a:spcBef>
                <a:spcPts val="0"/>
              </a:spcBef>
              <a:spcAft>
                <a:spcPts val="800"/>
              </a:spcAft>
            </a:pPr>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Fig 14: Loss graph </a:t>
            </a:r>
            <a:r>
              <a:rPr lang="en-US" b="1" dirty="0">
                <a:latin typeface="Times New Roman" panose="02020603050405020304" pitchFamily="18" charset="0"/>
                <a:ea typeface="Calibri" panose="020F0502020204030204" pitchFamily="34" charset="0"/>
                <a:cs typeface="Times New Roman" panose="02020603050405020304" pitchFamily="18" charset="0"/>
              </a:rPr>
              <a:t>for DenseNet121</a:t>
            </a:r>
            <a:endParaRPr lang="en-US" sz="16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Footer Placeholder 8">
            <a:extLst>
              <a:ext uri="{FF2B5EF4-FFF2-40B4-BE49-F238E27FC236}">
                <a16:creationId xmlns:a16="http://schemas.microsoft.com/office/drawing/2014/main" id="{A08EE71D-222B-E79E-048F-90E3B9D8CEA4}"/>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3108822180"/>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down)">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wipe(down)">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C9F52E-929D-6A4C-E6BF-8EBE0B2A6892}"/>
              </a:ext>
            </a:extLst>
          </p:cNvPr>
          <p:cNvSpPr>
            <a:spLocks noGrp="1"/>
          </p:cNvSpPr>
          <p:nvPr>
            <p:ph type="dt" sz="half" idx="10"/>
          </p:nvPr>
        </p:nvSpPr>
        <p:spPr/>
        <p:txBody>
          <a:bodyPr/>
          <a:lstStyle/>
          <a:p>
            <a:fld id="{15664732-DA16-47AF-8195-9B208EDD7747}" type="datetime1">
              <a:rPr lang="en-US" smtClean="0"/>
              <a:t>1/18/2026</a:t>
            </a:fld>
            <a:endParaRPr lang="en-US" dirty="0"/>
          </a:p>
        </p:txBody>
      </p:sp>
      <p:sp>
        <p:nvSpPr>
          <p:cNvPr id="3" name="Slide Number Placeholder 2">
            <a:extLst>
              <a:ext uri="{FF2B5EF4-FFF2-40B4-BE49-F238E27FC236}">
                <a16:creationId xmlns:a16="http://schemas.microsoft.com/office/drawing/2014/main" id="{677B0DCC-2E1C-B276-39BE-75646C359503}"/>
              </a:ext>
            </a:extLst>
          </p:cNvPr>
          <p:cNvSpPr>
            <a:spLocks noGrp="1"/>
          </p:cNvSpPr>
          <p:nvPr>
            <p:ph type="sldNum" sz="quarter" idx="12"/>
          </p:nvPr>
        </p:nvSpPr>
        <p:spPr/>
        <p:txBody>
          <a:bodyPr/>
          <a:lstStyle/>
          <a:p>
            <a:fld id="{06FEDF93-2BFD-41CA-ABC7-B039102F3792}" type="slidenum">
              <a:rPr lang="en-US" smtClean="0"/>
              <a:t>19</a:t>
            </a:fld>
            <a:endParaRPr lang="en-US" dirty="0"/>
          </a:p>
        </p:txBody>
      </p:sp>
      <p:sp>
        <p:nvSpPr>
          <p:cNvPr id="4" name="Title 1">
            <a:extLst>
              <a:ext uri="{FF2B5EF4-FFF2-40B4-BE49-F238E27FC236}">
                <a16:creationId xmlns:a16="http://schemas.microsoft.com/office/drawing/2014/main" id="{5BCB43C7-3183-C749-93EF-CB74934951DF}"/>
              </a:ext>
            </a:extLst>
          </p:cNvPr>
          <p:cNvSpPr txBox="1">
            <a:spLocks/>
          </p:cNvSpPr>
          <p:nvPr/>
        </p:nvSpPr>
        <p:spPr>
          <a:xfrm>
            <a:off x="228600" y="287143"/>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RESULTS &amp; ANALYSIS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5" name="Straight Connector 4">
            <a:extLst>
              <a:ext uri="{FF2B5EF4-FFF2-40B4-BE49-F238E27FC236}">
                <a16:creationId xmlns:a16="http://schemas.microsoft.com/office/drawing/2014/main" id="{0F4AAFDF-BE1B-58FC-9822-5C0DFB33016E}"/>
              </a:ext>
              <a:ext uri="{C183D7F6-B498-43B3-948B-1728B52AA6E4}">
                <adec:decorative xmlns:adec="http://schemas.microsoft.com/office/drawing/2017/decorative" val="1"/>
              </a:ext>
            </a:extLst>
          </p:cNvPr>
          <p:cNvCxnSpPr>
            <a:cxnSpLocks/>
          </p:cNvCxnSpPr>
          <p:nvPr/>
        </p:nvCxnSpPr>
        <p:spPr>
          <a:xfrm>
            <a:off x="261425" y="438492"/>
            <a:ext cx="3840187"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0375CEC-922D-64B1-D728-69DF5EE46442}"/>
              </a:ext>
              <a:ext uri="{C183D7F6-B498-43B3-948B-1728B52AA6E4}">
                <adec:decorative xmlns:adec="http://schemas.microsoft.com/office/drawing/2017/decorative" val="1"/>
              </a:ext>
            </a:extLst>
          </p:cNvPr>
          <p:cNvCxnSpPr>
            <a:cxnSpLocks/>
          </p:cNvCxnSpPr>
          <p:nvPr/>
        </p:nvCxnSpPr>
        <p:spPr>
          <a:xfrm>
            <a:off x="8151054" y="438492"/>
            <a:ext cx="3812346"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99A8D56C-4C38-DF79-0E18-52201F68472A}"/>
              </a:ext>
              <a:ext uri="{C183D7F6-B498-43B3-948B-1728B52AA6E4}">
                <adec:decorative xmlns:adec="http://schemas.microsoft.com/office/drawing/2017/decorative" val="1"/>
              </a:ext>
            </a:extLst>
          </p:cNvPr>
          <p:cNvSpPr/>
          <p:nvPr/>
        </p:nvSpPr>
        <p:spPr>
          <a:xfrm>
            <a:off x="1012874" y="1276002"/>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E18501B9-EA31-E05C-16F4-D8EA41E63BBA}"/>
              </a:ext>
            </a:extLst>
          </p:cNvPr>
          <p:cNvSpPr txBox="1"/>
          <p:nvPr/>
        </p:nvSpPr>
        <p:spPr>
          <a:xfrm>
            <a:off x="1436078" y="1243945"/>
            <a:ext cx="9917722"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Classification Report: </a:t>
            </a:r>
            <a:r>
              <a:rPr lang="en-US" kern="0" dirty="0">
                <a:latin typeface="Calibri" panose="020F0502020204030204" pitchFamily="34" charset="0"/>
                <a:cs typeface="Times New Roman" panose="02020603050405020304" pitchFamily="18" charset="0"/>
              </a:rPr>
              <a:t>C</a:t>
            </a:r>
            <a:r>
              <a:rPr lang="en-US" sz="1800" kern="0" dirty="0">
                <a:effectLst/>
                <a:latin typeface="Calibri" panose="020F0502020204030204" pitchFamily="34" charset="0"/>
                <a:ea typeface="Calibri" panose="020F0502020204030204" pitchFamily="34" charset="0"/>
                <a:cs typeface="Times New Roman" panose="02020603050405020304" pitchFamily="18" charset="0"/>
              </a:rPr>
              <a:t>lassification report for the proposed models</a:t>
            </a:r>
            <a:r>
              <a:rPr lang="en-US" dirty="0">
                <a:latin typeface="Times New Roman" panose="02020603050405020304" pitchFamily="18" charset="0"/>
                <a:cs typeface="Times New Roman" panose="02020603050405020304" pitchFamily="18" charset="0"/>
              </a:rPr>
              <a:t> </a:t>
            </a:r>
          </a:p>
        </p:txBody>
      </p:sp>
      <p:sp>
        <p:nvSpPr>
          <p:cNvPr id="12" name="TextBox 11">
            <a:extLst>
              <a:ext uri="{FF2B5EF4-FFF2-40B4-BE49-F238E27FC236}">
                <a16:creationId xmlns:a16="http://schemas.microsoft.com/office/drawing/2014/main" id="{9858D192-19D7-D9B3-7CA8-3E80883BAFEF}"/>
              </a:ext>
            </a:extLst>
          </p:cNvPr>
          <p:cNvSpPr txBox="1"/>
          <p:nvPr/>
        </p:nvSpPr>
        <p:spPr>
          <a:xfrm>
            <a:off x="-450167" y="2346653"/>
            <a:ext cx="4551779" cy="568041"/>
          </a:xfrm>
          <a:prstGeom prst="rect">
            <a:avLst/>
          </a:prstGeom>
          <a:noFill/>
        </p:spPr>
        <p:txBody>
          <a:bodyPr wrap="square">
            <a:spAutoFit/>
          </a:bodyPr>
          <a:lstStyle/>
          <a:p>
            <a:pPr marL="685800" marR="0" algn="ctr">
              <a:lnSpc>
                <a:spcPct val="115000"/>
              </a:lnSpc>
            </a:pPr>
            <a:r>
              <a:rPr lang="en-US" sz="1400" b="1" dirty="0">
                <a:effectLst/>
                <a:latin typeface="Times New Roman" panose="02020603050405020304" pitchFamily="18" charset="0"/>
                <a:ea typeface="Times New Roman" panose="02020603050405020304" pitchFamily="18" charset="0"/>
              </a:rPr>
              <a:t>TABLE </a:t>
            </a:r>
            <a:r>
              <a:rPr lang="en-US" sz="1400" b="1" dirty="0">
                <a:latin typeface="Times New Roman" panose="02020603050405020304" pitchFamily="18" charset="0"/>
                <a:ea typeface="Times New Roman" panose="02020603050405020304" pitchFamily="18" charset="0"/>
              </a:rPr>
              <a:t>1</a:t>
            </a:r>
            <a:r>
              <a:rPr lang="en-US" sz="1400" b="1" dirty="0">
                <a:effectLst/>
                <a:latin typeface="Times New Roman" panose="02020603050405020304" pitchFamily="18" charset="0"/>
                <a:ea typeface="Times New Roman" panose="02020603050405020304" pitchFamily="18" charset="0"/>
              </a:rPr>
              <a:t>.4 CLASSIFICATION REPORT FOR VGG19</a:t>
            </a:r>
            <a:endParaRPr lang="en-US" sz="1400" dirty="0">
              <a:effectLst/>
              <a:latin typeface="Times New Roman" panose="02020603050405020304" pitchFamily="18" charset="0"/>
              <a:ea typeface="Times New Roman" panose="02020603050405020304" pitchFamily="18" charset="0"/>
            </a:endParaRPr>
          </a:p>
        </p:txBody>
      </p:sp>
      <p:sp>
        <p:nvSpPr>
          <p:cNvPr id="13" name="TextBox 12">
            <a:extLst>
              <a:ext uri="{FF2B5EF4-FFF2-40B4-BE49-F238E27FC236}">
                <a16:creationId xmlns:a16="http://schemas.microsoft.com/office/drawing/2014/main" id="{F3261C61-4B57-6C5C-7A65-72299012C8A9}"/>
              </a:ext>
            </a:extLst>
          </p:cNvPr>
          <p:cNvSpPr txBox="1"/>
          <p:nvPr/>
        </p:nvSpPr>
        <p:spPr>
          <a:xfrm>
            <a:off x="3421822" y="2326560"/>
            <a:ext cx="4551779" cy="568041"/>
          </a:xfrm>
          <a:prstGeom prst="rect">
            <a:avLst/>
          </a:prstGeom>
          <a:noFill/>
        </p:spPr>
        <p:txBody>
          <a:bodyPr wrap="square">
            <a:spAutoFit/>
          </a:bodyPr>
          <a:lstStyle/>
          <a:p>
            <a:pPr marL="685800" marR="0" algn="ctr">
              <a:lnSpc>
                <a:spcPct val="115000"/>
              </a:lnSpc>
            </a:pPr>
            <a:r>
              <a:rPr lang="en-US" sz="1400" b="1" dirty="0">
                <a:effectLst/>
                <a:latin typeface="Times New Roman" panose="02020603050405020304" pitchFamily="18" charset="0"/>
                <a:ea typeface="Times New Roman" panose="02020603050405020304" pitchFamily="18" charset="0"/>
              </a:rPr>
              <a:t>TABLE </a:t>
            </a:r>
            <a:r>
              <a:rPr lang="en-US" sz="1400" b="1" dirty="0">
                <a:latin typeface="Times New Roman" panose="02020603050405020304" pitchFamily="18" charset="0"/>
                <a:ea typeface="Times New Roman" panose="02020603050405020304" pitchFamily="18" charset="0"/>
              </a:rPr>
              <a:t>1</a:t>
            </a:r>
            <a:r>
              <a:rPr lang="en-US" sz="1400" b="1" dirty="0">
                <a:effectLst/>
                <a:latin typeface="Times New Roman" panose="02020603050405020304" pitchFamily="18" charset="0"/>
                <a:ea typeface="Times New Roman" panose="02020603050405020304" pitchFamily="18" charset="0"/>
              </a:rPr>
              <a:t>.</a:t>
            </a:r>
            <a:r>
              <a:rPr lang="en-US" sz="1400" b="1" dirty="0">
                <a:latin typeface="Times New Roman" panose="02020603050405020304" pitchFamily="18" charset="0"/>
                <a:ea typeface="Times New Roman" panose="02020603050405020304" pitchFamily="18" charset="0"/>
              </a:rPr>
              <a:t>5</a:t>
            </a:r>
            <a:r>
              <a:rPr lang="en-US" sz="1400" b="1" dirty="0">
                <a:effectLst/>
                <a:latin typeface="Times New Roman" panose="02020603050405020304" pitchFamily="18" charset="0"/>
                <a:ea typeface="Times New Roman" panose="02020603050405020304" pitchFamily="18" charset="0"/>
              </a:rPr>
              <a:t> CLASSIFICATION REPORT FOR DENSENET121</a:t>
            </a:r>
            <a:endParaRPr lang="en-US" sz="1400" dirty="0">
              <a:effectLst/>
              <a:latin typeface="Times New Roman" panose="02020603050405020304" pitchFamily="18" charset="0"/>
              <a:ea typeface="Times New Roman" panose="02020603050405020304" pitchFamily="18" charset="0"/>
            </a:endParaRPr>
          </a:p>
        </p:txBody>
      </p:sp>
      <p:sp>
        <p:nvSpPr>
          <p:cNvPr id="14" name="TextBox 13">
            <a:extLst>
              <a:ext uri="{FF2B5EF4-FFF2-40B4-BE49-F238E27FC236}">
                <a16:creationId xmlns:a16="http://schemas.microsoft.com/office/drawing/2014/main" id="{577CB25F-F0DE-A95B-2C48-375B25ECC3AE}"/>
              </a:ext>
            </a:extLst>
          </p:cNvPr>
          <p:cNvSpPr txBox="1"/>
          <p:nvPr/>
        </p:nvSpPr>
        <p:spPr>
          <a:xfrm>
            <a:off x="7411621" y="2326560"/>
            <a:ext cx="4551779" cy="568041"/>
          </a:xfrm>
          <a:prstGeom prst="rect">
            <a:avLst/>
          </a:prstGeom>
          <a:noFill/>
        </p:spPr>
        <p:txBody>
          <a:bodyPr wrap="square">
            <a:spAutoFit/>
          </a:bodyPr>
          <a:lstStyle/>
          <a:p>
            <a:pPr marL="685800" marR="0" algn="ctr">
              <a:lnSpc>
                <a:spcPct val="115000"/>
              </a:lnSpc>
            </a:pPr>
            <a:r>
              <a:rPr lang="en-US" sz="1400" b="1" dirty="0">
                <a:effectLst/>
                <a:latin typeface="Times New Roman" panose="02020603050405020304" pitchFamily="18" charset="0"/>
                <a:ea typeface="Times New Roman" panose="02020603050405020304" pitchFamily="18" charset="0"/>
              </a:rPr>
              <a:t>TABLE </a:t>
            </a:r>
            <a:r>
              <a:rPr lang="en-US" sz="1400" b="1" dirty="0">
                <a:latin typeface="Times New Roman" panose="02020603050405020304" pitchFamily="18" charset="0"/>
                <a:ea typeface="Times New Roman" panose="02020603050405020304" pitchFamily="18" charset="0"/>
              </a:rPr>
              <a:t>1</a:t>
            </a:r>
            <a:r>
              <a:rPr lang="en-US" sz="1400" b="1" dirty="0">
                <a:effectLst/>
                <a:latin typeface="Times New Roman" panose="02020603050405020304" pitchFamily="18" charset="0"/>
                <a:ea typeface="Times New Roman" panose="02020603050405020304" pitchFamily="18" charset="0"/>
              </a:rPr>
              <a:t>.</a:t>
            </a:r>
            <a:r>
              <a:rPr lang="en-US" sz="1400" b="1" dirty="0">
                <a:latin typeface="Times New Roman" panose="02020603050405020304" pitchFamily="18" charset="0"/>
                <a:ea typeface="Times New Roman" panose="02020603050405020304" pitchFamily="18" charset="0"/>
              </a:rPr>
              <a:t>6</a:t>
            </a:r>
            <a:r>
              <a:rPr lang="en-US" sz="1400" b="1" dirty="0">
                <a:effectLst/>
                <a:latin typeface="Times New Roman" panose="02020603050405020304" pitchFamily="18" charset="0"/>
                <a:ea typeface="Times New Roman" panose="02020603050405020304" pitchFamily="18" charset="0"/>
              </a:rPr>
              <a:t> CLASSIFICATION REPORT FOR </a:t>
            </a:r>
            <a:r>
              <a:rPr lang="en-US" sz="1400" b="1" dirty="0">
                <a:latin typeface="Times New Roman" panose="02020603050405020304" pitchFamily="18" charset="0"/>
                <a:ea typeface="Times New Roman" panose="02020603050405020304" pitchFamily="18" charset="0"/>
              </a:rPr>
              <a:t>EFFICIENTNETB0</a:t>
            </a:r>
            <a:endParaRPr lang="en-US" sz="1400" dirty="0">
              <a:effectLst/>
              <a:latin typeface="Times New Roman" panose="02020603050405020304" pitchFamily="18" charset="0"/>
              <a:ea typeface="Times New Roman" panose="02020603050405020304" pitchFamily="18" charset="0"/>
            </a:endParaRPr>
          </a:p>
        </p:txBody>
      </p:sp>
      <p:sp>
        <p:nvSpPr>
          <p:cNvPr id="9" name="Footer Placeholder 8">
            <a:extLst>
              <a:ext uri="{FF2B5EF4-FFF2-40B4-BE49-F238E27FC236}">
                <a16:creationId xmlns:a16="http://schemas.microsoft.com/office/drawing/2014/main" id="{4D0C5B62-1B0A-9B92-B130-805F321FCC91}"/>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917845431"/>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down)">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14">
                                            <p:txEl>
                                              <p:pRg st="0" end="0"/>
                                            </p:txEl>
                                          </p:spTgt>
                                        </p:tgtEl>
                                        <p:attrNameLst>
                                          <p:attrName>style.visibility</p:attrName>
                                        </p:attrNameLst>
                                      </p:cBhvr>
                                      <p:to>
                                        <p:strVal val="visible"/>
                                      </p:to>
                                    </p:set>
                                    <p:animEffect transition="in" filter="wipe(down)">
                                      <p:cBhvr>
                                        <p:cTn id="17" dur="5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C9F52E-929D-6A4C-E6BF-8EBE0B2A6892}"/>
              </a:ext>
            </a:extLst>
          </p:cNvPr>
          <p:cNvSpPr>
            <a:spLocks noGrp="1"/>
          </p:cNvSpPr>
          <p:nvPr>
            <p:ph type="dt" sz="half" idx="10"/>
          </p:nvPr>
        </p:nvSpPr>
        <p:spPr/>
        <p:txBody>
          <a:bodyPr/>
          <a:lstStyle/>
          <a:p>
            <a:fld id="{FB9F9590-F019-4E0E-9229-088DD1574C93}" type="datetime1">
              <a:rPr lang="en-US" smtClean="0"/>
              <a:t>1/18/2026</a:t>
            </a:fld>
            <a:endParaRPr lang="en-US" dirty="0"/>
          </a:p>
        </p:txBody>
      </p:sp>
      <p:sp>
        <p:nvSpPr>
          <p:cNvPr id="3" name="Slide Number Placeholder 2">
            <a:extLst>
              <a:ext uri="{FF2B5EF4-FFF2-40B4-BE49-F238E27FC236}">
                <a16:creationId xmlns:a16="http://schemas.microsoft.com/office/drawing/2014/main" id="{677B0DCC-2E1C-B276-39BE-75646C359503}"/>
              </a:ext>
            </a:extLst>
          </p:cNvPr>
          <p:cNvSpPr>
            <a:spLocks noGrp="1"/>
          </p:cNvSpPr>
          <p:nvPr>
            <p:ph type="sldNum" sz="quarter" idx="12"/>
          </p:nvPr>
        </p:nvSpPr>
        <p:spPr/>
        <p:txBody>
          <a:bodyPr/>
          <a:lstStyle/>
          <a:p>
            <a:fld id="{06FEDF93-2BFD-41CA-ABC7-B039102F3792}" type="slidenum">
              <a:rPr lang="en-US" smtClean="0"/>
              <a:t>20</a:t>
            </a:fld>
            <a:endParaRPr lang="en-US" dirty="0"/>
          </a:p>
        </p:txBody>
      </p:sp>
      <p:sp>
        <p:nvSpPr>
          <p:cNvPr id="4" name="Title 1">
            <a:extLst>
              <a:ext uri="{FF2B5EF4-FFF2-40B4-BE49-F238E27FC236}">
                <a16:creationId xmlns:a16="http://schemas.microsoft.com/office/drawing/2014/main" id="{5BCB43C7-3183-C749-93EF-CB74934951DF}"/>
              </a:ext>
            </a:extLst>
          </p:cNvPr>
          <p:cNvSpPr txBox="1">
            <a:spLocks/>
          </p:cNvSpPr>
          <p:nvPr/>
        </p:nvSpPr>
        <p:spPr>
          <a:xfrm>
            <a:off x="228600" y="287143"/>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RESULTS &amp; ANALYSIS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5" name="Straight Connector 4">
            <a:extLst>
              <a:ext uri="{FF2B5EF4-FFF2-40B4-BE49-F238E27FC236}">
                <a16:creationId xmlns:a16="http://schemas.microsoft.com/office/drawing/2014/main" id="{0F4AAFDF-BE1B-58FC-9822-5C0DFB33016E}"/>
              </a:ext>
              <a:ext uri="{C183D7F6-B498-43B3-948B-1728B52AA6E4}">
                <adec:decorative xmlns:adec="http://schemas.microsoft.com/office/drawing/2017/decorative" val="1"/>
              </a:ext>
            </a:extLst>
          </p:cNvPr>
          <p:cNvCxnSpPr>
            <a:cxnSpLocks/>
          </p:cNvCxnSpPr>
          <p:nvPr/>
        </p:nvCxnSpPr>
        <p:spPr>
          <a:xfrm>
            <a:off x="261425" y="438492"/>
            <a:ext cx="3840187"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0375CEC-922D-64B1-D728-69DF5EE46442}"/>
              </a:ext>
              <a:ext uri="{C183D7F6-B498-43B3-948B-1728B52AA6E4}">
                <adec:decorative xmlns:adec="http://schemas.microsoft.com/office/drawing/2017/decorative" val="1"/>
              </a:ext>
            </a:extLst>
          </p:cNvPr>
          <p:cNvCxnSpPr>
            <a:cxnSpLocks/>
          </p:cNvCxnSpPr>
          <p:nvPr/>
        </p:nvCxnSpPr>
        <p:spPr>
          <a:xfrm>
            <a:off x="8151054" y="438492"/>
            <a:ext cx="3812346"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12C32C3-F875-CF6C-0743-3EE37E8C3825}"/>
              </a:ext>
            </a:extLst>
          </p:cNvPr>
          <p:cNvSpPr txBox="1"/>
          <p:nvPr/>
        </p:nvSpPr>
        <p:spPr>
          <a:xfrm>
            <a:off x="5217942" y="6025429"/>
            <a:ext cx="6098344" cy="369332"/>
          </a:xfrm>
          <a:prstGeom prst="rect">
            <a:avLst/>
          </a:prstGeom>
          <a:noFill/>
        </p:spPr>
        <p:txBody>
          <a:bodyPr wrap="square">
            <a:spAutoFit/>
          </a:bodyPr>
          <a:lstStyle/>
          <a:p>
            <a:r>
              <a:rPr lang="en-US" sz="1800" b="1" kern="0" dirty="0">
                <a:effectLst/>
                <a:latin typeface="Times New Roman" panose="02020603050405020304" pitchFamily="18" charset="0"/>
                <a:ea typeface="Calibri" panose="020F0502020204030204" pitchFamily="34" charset="0"/>
              </a:rPr>
              <a:t>Fig 16: Confusion Matrix </a:t>
            </a:r>
            <a:r>
              <a:rPr lang="en-US" b="1" kern="0" dirty="0">
                <a:latin typeface="Times New Roman" panose="02020603050405020304" pitchFamily="18" charset="0"/>
                <a:ea typeface="Calibri" panose="020F0502020204030204" pitchFamily="34" charset="0"/>
              </a:rPr>
              <a:t>for VGG19</a:t>
            </a:r>
            <a:endParaRPr lang="en-US" dirty="0"/>
          </a:p>
        </p:txBody>
      </p:sp>
      <p:sp>
        <p:nvSpPr>
          <p:cNvPr id="13" name="Oval 12">
            <a:extLst>
              <a:ext uri="{FF2B5EF4-FFF2-40B4-BE49-F238E27FC236}">
                <a16:creationId xmlns:a16="http://schemas.microsoft.com/office/drawing/2014/main" id="{629924C0-55F4-BB7E-73F2-E5FD3101AFDD}"/>
              </a:ext>
              <a:ext uri="{C183D7F6-B498-43B3-948B-1728B52AA6E4}">
                <adec:decorative xmlns:adec="http://schemas.microsoft.com/office/drawing/2017/decorative" val="1"/>
              </a:ext>
            </a:extLst>
          </p:cNvPr>
          <p:cNvSpPr/>
          <p:nvPr/>
        </p:nvSpPr>
        <p:spPr>
          <a:xfrm>
            <a:off x="838200" y="1007340"/>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TextBox 13">
            <a:extLst>
              <a:ext uri="{FF2B5EF4-FFF2-40B4-BE49-F238E27FC236}">
                <a16:creationId xmlns:a16="http://schemas.microsoft.com/office/drawing/2014/main" id="{7257009C-AD3D-F5B8-1BF4-619804CC3B90}"/>
              </a:ext>
            </a:extLst>
          </p:cNvPr>
          <p:cNvSpPr txBox="1"/>
          <p:nvPr/>
        </p:nvSpPr>
        <p:spPr>
          <a:xfrm>
            <a:off x="1308296" y="976405"/>
            <a:ext cx="2019886"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Confusion Matrix:</a:t>
            </a:r>
          </a:p>
        </p:txBody>
      </p:sp>
      <p:sp>
        <p:nvSpPr>
          <p:cNvPr id="7" name="Footer Placeholder 6">
            <a:extLst>
              <a:ext uri="{FF2B5EF4-FFF2-40B4-BE49-F238E27FC236}">
                <a16:creationId xmlns:a16="http://schemas.microsoft.com/office/drawing/2014/main" id="{A4F127E7-5ADA-3251-E8C5-87B6138C95E8}"/>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4137234092"/>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C9F52E-929D-6A4C-E6BF-8EBE0B2A6892}"/>
              </a:ext>
            </a:extLst>
          </p:cNvPr>
          <p:cNvSpPr>
            <a:spLocks noGrp="1"/>
          </p:cNvSpPr>
          <p:nvPr>
            <p:ph type="dt" sz="half" idx="10"/>
          </p:nvPr>
        </p:nvSpPr>
        <p:spPr/>
        <p:txBody>
          <a:bodyPr/>
          <a:lstStyle/>
          <a:p>
            <a:fld id="{15A52B3C-20FC-4B6B-B5DA-95EE05B49A91}" type="datetime1">
              <a:rPr lang="en-US" smtClean="0"/>
              <a:t>1/18/2026</a:t>
            </a:fld>
            <a:endParaRPr lang="en-US" dirty="0"/>
          </a:p>
        </p:txBody>
      </p:sp>
      <p:sp>
        <p:nvSpPr>
          <p:cNvPr id="3" name="Slide Number Placeholder 2">
            <a:extLst>
              <a:ext uri="{FF2B5EF4-FFF2-40B4-BE49-F238E27FC236}">
                <a16:creationId xmlns:a16="http://schemas.microsoft.com/office/drawing/2014/main" id="{677B0DCC-2E1C-B276-39BE-75646C359503}"/>
              </a:ext>
            </a:extLst>
          </p:cNvPr>
          <p:cNvSpPr>
            <a:spLocks noGrp="1"/>
          </p:cNvSpPr>
          <p:nvPr>
            <p:ph type="sldNum" sz="quarter" idx="12"/>
          </p:nvPr>
        </p:nvSpPr>
        <p:spPr/>
        <p:txBody>
          <a:bodyPr/>
          <a:lstStyle/>
          <a:p>
            <a:fld id="{06FEDF93-2BFD-41CA-ABC7-B039102F3792}" type="slidenum">
              <a:rPr lang="en-US" smtClean="0"/>
              <a:t>21</a:t>
            </a:fld>
            <a:endParaRPr lang="en-US" dirty="0"/>
          </a:p>
        </p:txBody>
      </p:sp>
      <p:sp>
        <p:nvSpPr>
          <p:cNvPr id="4" name="Title 1">
            <a:extLst>
              <a:ext uri="{FF2B5EF4-FFF2-40B4-BE49-F238E27FC236}">
                <a16:creationId xmlns:a16="http://schemas.microsoft.com/office/drawing/2014/main" id="{5BCB43C7-3183-C749-93EF-CB74934951DF}"/>
              </a:ext>
            </a:extLst>
          </p:cNvPr>
          <p:cNvSpPr txBox="1">
            <a:spLocks/>
          </p:cNvSpPr>
          <p:nvPr/>
        </p:nvSpPr>
        <p:spPr>
          <a:xfrm>
            <a:off x="228600" y="287143"/>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RESULTS &amp; ANALYSIS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5" name="Straight Connector 4">
            <a:extLst>
              <a:ext uri="{FF2B5EF4-FFF2-40B4-BE49-F238E27FC236}">
                <a16:creationId xmlns:a16="http://schemas.microsoft.com/office/drawing/2014/main" id="{0F4AAFDF-BE1B-58FC-9822-5C0DFB33016E}"/>
              </a:ext>
              <a:ext uri="{C183D7F6-B498-43B3-948B-1728B52AA6E4}">
                <adec:decorative xmlns:adec="http://schemas.microsoft.com/office/drawing/2017/decorative" val="1"/>
              </a:ext>
            </a:extLst>
          </p:cNvPr>
          <p:cNvCxnSpPr>
            <a:cxnSpLocks/>
          </p:cNvCxnSpPr>
          <p:nvPr/>
        </p:nvCxnSpPr>
        <p:spPr>
          <a:xfrm>
            <a:off x="439029" y="438492"/>
            <a:ext cx="2627728"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0375CEC-922D-64B1-D728-69DF5EE46442}"/>
              </a:ext>
              <a:ext uri="{C183D7F6-B498-43B3-948B-1728B52AA6E4}">
                <adec:decorative xmlns:adec="http://schemas.microsoft.com/office/drawing/2017/decorative" val="1"/>
              </a:ext>
            </a:extLst>
          </p:cNvPr>
          <p:cNvCxnSpPr>
            <a:cxnSpLocks/>
          </p:cNvCxnSpPr>
          <p:nvPr/>
        </p:nvCxnSpPr>
        <p:spPr>
          <a:xfrm>
            <a:off x="8947052" y="438492"/>
            <a:ext cx="2853177"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3295AB7-36C4-5D98-9284-FFE7BCCF4A1D}"/>
              </a:ext>
            </a:extLst>
          </p:cNvPr>
          <p:cNvSpPr txBox="1"/>
          <p:nvPr/>
        </p:nvSpPr>
        <p:spPr>
          <a:xfrm>
            <a:off x="5255456" y="5928461"/>
            <a:ext cx="6098344" cy="369332"/>
          </a:xfrm>
          <a:prstGeom prst="rect">
            <a:avLst/>
          </a:prstGeom>
          <a:noFill/>
        </p:spPr>
        <p:txBody>
          <a:bodyPr wrap="square">
            <a:spAutoFit/>
          </a:bodyPr>
          <a:lstStyle/>
          <a:p>
            <a:r>
              <a:rPr lang="en-US" sz="1800" b="1" kern="0" dirty="0">
                <a:effectLst/>
                <a:latin typeface="Times New Roman" panose="02020603050405020304" pitchFamily="18" charset="0"/>
                <a:ea typeface="Calibri" panose="020F0502020204030204" pitchFamily="34" charset="0"/>
              </a:rPr>
              <a:t>Fig 17: Confusion Matrix </a:t>
            </a:r>
            <a:r>
              <a:rPr lang="en-US" b="1" kern="0" dirty="0">
                <a:latin typeface="Times New Roman" panose="02020603050405020304" pitchFamily="18" charset="0"/>
                <a:ea typeface="Calibri" panose="020F0502020204030204" pitchFamily="34" charset="0"/>
              </a:rPr>
              <a:t>for DenseNet121</a:t>
            </a:r>
            <a:endParaRPr lang="en-US" dirty="0"/>
          </a:p>
        </p:txBody>
      </p:sp>
      <p:sp>
        <p:nvSpPr>
          <p:cNvPr id="9" name="TextBox 8">
            <a:extLst>
              <a:ext uri="{FF2B5EF4-FFF2-40B4-BE49-F238E27FC236}">
                <a16:creationId xmlns:a16="http://schemas.microsoft.com/office/drawing/2014/main" id="{EF3804D5-5509-6C62-3112-07AD10966E00}"/>
              </a:ext>
            </a:extLst>
          </p:cNvPr>
          <p:cNvSpPr txBox="1"/>
          <p:nvPr/>
        </p:nvSpPr>
        <p:spPr>
          <a:xfrm>
            <a:off x="1046871" y="1015874"/>
            <a:ext cx="2019886"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Confusion Matrix:</a:t>
            </a:r>
          </a:p>
        </p:txBody>
      </p:sp>
      <p:sp>
        <p:nvSpPr>
          <p:cNvPr id="10" name="Oval 9">
            <a:extLst>
              <a:ext uri="{FF2B5EF4-FFF2-40B4-BE49-F238E27FC236}">
                <a16:creationId xmlns:a16="http://schemas.microsoft.com/office/drawing/2014/main" id="{62D257F8-4B01-61F4-404B-F91DD0586E96}"/>
              </a:ext>
              <a:ext uri="{C183D7F6-B498-43B3-948B-1728B52AA6E4}">
                <adec:decorative xmlns:adec="http://schemas.microsoft.com/office/drawing/2017/decorative" val="1"/>
              </a:ext>
            </a:extLst>
          </p:cNvPr>
          <p:cNvSpPr/>
          <p:nvPr/>
        </p:nvSpPr>
        <p:spPr>
          <a:xfrm>
            <a:off x="690489" y="1022738"/>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ooter Placeholder 6">
            <a:extLst>
              <a:ext uri="{FF2B5EF4-FFF2-40B4-BE49-F238E27FC236}">
                <a16:creationId xmlns:a16="http://schemas.microsoft.com/office/drawing/2014/main" id="{130C0F41-4309-6828-22FF-D98D54A3E0B3}"/>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3088389294"/>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C9F52E-929D-6A4C-E6BF-8EBE0B2A6892}"/>
              </a:ext>
            </a:extLst>
          </p:cNvPr>
          <p:cNvSpPr>
            <a:spLocks noGrp="1"/>
          </p:cNvSpPr>
          <p:nvPr>
            <p:ph type="dt" sz="half" idx="10"/>
          </p:nvPr>
        </p:nvSpPr>
        <p:spPr>
          <a:xfrm>
            <a:off x="818271" y="6324684"/>
            <a:ext cx="2743200" cy="365125"/>
          </a:xfrm>
        </p:spPr>
        <p:txBody>
          <a:bodyPr/>
          <a:lstStyle/>
          <a:p>
            <a:fld id="{407B0C9B-8468-4B84-A15A-89D2E9B41B96}" type="datetime1">
              <a:rPr lang="en-US" smtClean="0"/>
              <a:t>1/18/2026</a:t>
            </a:fld>
            <a:endParaRPr lang="en-US" dirty="0"/>
          </a:p>
        </p:txBody>
      </p:sp>
      <p:sp>
        <p:nvSpPr>
          <p:cNvPr id="3" name="Slide Number Placeholder 2">
            <a:extLst>
              <a:ext uri="{FF2B5EF4-FFF2-40B4-BE49-F238E27FC236}">
                <a16:creationId xmlns:a16="http://schemas.microsoft.com/office/drawing/2014/main" id="{677B0DCC-2E1C-B276-39BE-75646C359503}"/>
              </a:ext>
            </a:extLst>
          </p:cNvPr>
          <p:cNvSpPr>
            <a:spLocks noGrp="1"/>
          </p:cNvSpPr>
          <p:nvPr>
            <p:ph type="sldNum" sz="quarter" idx="12"/>
          </p:nvPr>
        </p:nvSpPr>
        <p:spPr/>
        <p:txBody>
          <a:bodyPr/>
          <a:lstStyle/>
          <a:p>
            <a:fld id="{06FEDF93-2BFD-41CA-ABC7-B039102F3792}" type="slidenum">
              <a:rPr lang="en-US" smtClean="0"/>
              <a:t>22</a:t>
            </a:fld>
            <a:endParaRPr lang="en-US" dirty="0"/>
          </a:p>
        </p:txBody>
      </p:sp>
      <p:sp>
        <p:nvSpPr>
          <p:cNvPr id="4" name="Title 1">
            <a:extLst>
              <a:ext uri="{FF2B5EF4-FFF2-40B4-BE49-F238E27FC236}">
                <a16:creationId xmlns:a16="http://schemas.microsoft.com/office/drawing/2014/main" id="{5BCB43C7-3183-C749-93EF-CB74934951DF}"/>
              </a:ext>
            </a:extLst>
          </p:cNvPr>
          <p:cNvSpPr txBox="1">
            <a:spLocks/>
          </p:cNvSpPr>
          <p:nvPr/>
        </p:nvSpPr>
        <p:spPr>
          <a:xfrm>
            <a:off x="228600" y="287143"/>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RESULTS &amp; ANALYSIS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5" name="Straight Connector 4">
            <a:extLst>
              <a:ext uri="{FF2B5EF4-FFF2-40B4-BE49-F238E27FC236}">
                <a16:creationId xmlns:a16="http://schemas.microsoft.com/office/drawing/2014/main" id="{0F4AAFDF-BE1B-58FC-9822-5C0DFB33016E}"/>
              </a:ext>
              <a:ext uri="{C183D7F6-B498-43B3-948B-1728B52AA6E4}">
                <adec:decorative xmlns:adec="http://schemas.microsoft.com/office/drawing/2017/decorative" val="1"/>
              </a:ext>
            </a:extLst>
          </p:cNvPr>
          <p:cNvCxnSpPr>
            <a:cxnSpLocks/>
          </p:cNvCxnSpPr>
          <p:nvPr/>
        </p:nvCxnSpPr>
        <p:spPr>
          <a:xfrm>
            <a:off x="664112" y="438492"/>
            <a:ext cx="2627728"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0375CEC-922D-64B1-D728-69DF5EE46442}"/>
              </a:ext>
              <a:ext uri="{C183D7F6-B498-43B3-948B-1728B52AA6E4}">
                <adec:decorative xmlns:adec="http://schemas.microsoft.com/office/drawing/2017/decorative" val="1"/>
              </a:ext>
            </a:extLst>
          </p:cNvPr>
          <p:cNvCxnSpPr>
            <a:cxnSpLocks/>
          </p:cNvCxnSpPr>
          <p:nvPr/>
        </p:nvCxnSpPr>
        <p:spPr>
          <a:xfrm>
            <a:off x="8610600" y="454953"/>
            <a:ext cx="2853177"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3295AB7-36C4-5D98-9284-FFE7BCCF4A1D}"/>
              </a:ext>
            </a:extLst>
          </p:cNvPr>
          <p:cNvSpPr txBox="1"/>
          <p:nvPr/>
        </p:nvSpPr>
        <p:spPr>
          <a:xfrm>
            <a:off x="5684521" y="5887260"/>
            <a:ext cx="6098344" cy="369332"/>
          </a:xfrm>
          <a:prstGeom prst="rect">
            <a:avLst/>
          </a:prstGeom>
          <a:noFill/>
        </p:spPr>
        <p:txBody>
          <a:bodyPr wrap="square">
            <a:spAutoFit/>
          </a:bodyPr>
          <a:lstStyle/>
          <a:p>
            <a:r>
              <a:rPr lang="en-US" sz="1800" b="1" kern="0" dirty="0">
                <a:effectLst/>
                <a:latin typeface="Times New Roman" panose="02020603050405020304" pitchFamily="18" charset="0"/>
                <a:ea typeface="Calibri" panose="020F0502020204030204" pitchFamily="34" charset="0"/>
              </a:rPr>
              <a:t>Fig 18: Confusion Matrix </a:t>
            </a:r>
            <a:r>
              <a:rPr lang="en-US" b="1" kern="0" dirty="0">
                <a:latin typeface="Times New Roman" panose="02020603050405020304" pitchFamily="18" charset="0"/>
                <a:ea typeface="Calibri" panose="020F0502020204030204" pitchFamily="34" charset="0"/>
              </a:rPr>
              <a:t>for EfficientNetB0</a:t>
            </a:r>
            <a:endParaRPr lang="en-US" dirty="0"/>
          </a:p>
        </p:txBody>
      </p:sp>
      <p:sp>
        <p:nvSpPr>
          <p:cNvPr id="11" name="TextBox 10">
            <a:extLst>
              <a:ext uri="{FF2B5EF4-FFF2-40B4-BE49-F238E27FC236}">
                <a16:creationId xmlns:a16="http://schemas.microsoft.com/office/drawing/2014/main" id="{16C9853D-4739-E10B-7697-6F1278D962A3}"/>
              </a:ext>
            </a:extLst>
          </p:cNvPr>
          <p:cNvSpPr txBox="1"/>
          <p:nvPr/>
        </p:nvSpPr>
        <p:spPr>
          <a:xfrm>
            <a:off x="1308296" y="976405"/>
            <a:ext cx="2019886"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Confusion Matrix:</a:t>
            </a:r>
          </a:p>
        </p:txBody>
      </p:sp>
      <p:sp>
        <p:nvSpPr>
          <p:cNvPr id="12" name="Oval 11">
            <a:extLst>
              <a:ext uri="{FF2B5EF4-FFF2-40B4-BE49-F238E27FC236}">
                <a16:creationId xmlns:a16="http://schemas.microsoft.com/office/drawing/2014/main" id="{6924382C-BA12-E568-78F4-C76ADDDD0642}"/>
              </a:ext>
              <a:ext uri="{C183D7F6-B498-43B3-948B-1728B52AA6E4}">
                <adec:decorative xmlns:adec="http://schemas.microsoft.com/office/drawing/2017/decorative" val="1"/>
              </a:ext>
            </a:extLst>
          </p:cNvPr>
          <p:cNvSpPr/>
          <p:nvPr/>
        </p:nvSpPr>
        <p:spPr>
          <a:xfrm>
            <a:off x="838200" y="1007340"/>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ooter Placeholder 6">
            <a:extLst>
              <a:ext uri="{FF2B5EF4-FFF2-40B4-BE49-F238E27FC236}">
                <a16:creationId xmlns:a16="http://schemas.microsoft.com/office/drawing/2014/main" id="{39D94B00-EA04-0842-7564-EF39DCDDEE38}"/>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3742984038"/>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C9F52E-929D-6A4C-E6BF-8EBE0B2A6892}"/>
              </a:ext>
            </a:extLst>
          </p:cNvPr>
          <p:cNvSpPr>
            <a:spLocks noGrp="1"/>
          </p:cNvSpPr>
          <p:nvPr>
            <p:ph type="dt" sz="half" idx="10"/>
          </p:nvPr>
        </p:nvSpPr>
        <p:spPr/>
        <p:txBody>
          <a:bodyPr/>
          <a:lstStyle/>
          <a:p>
            <a:fld id="{D1D4AFC2-1797-4C98-A8EE-A73EC4E70513}" type="datetime1">
              <a:rPr lang="en-US" smtClean="0"/>
              <a:t>1/18/2026</a:t>
            </a:fld>
            <a:endParaRPr lang="en-US" dirty="0"/>
          </a:p>
        </p:txBody>
      </p:sp>
      <p:sp>
        <p:nvSpPr>
          <p:cNvPr id="3" name="Slide Number Placeholder 2">
            <a:extLst>
              <a:ext uri="{FF2B5EF4-FFF2-40B4-BE49-F238E27FC236}">
                <a16:creationId xmlns:a16="http://schemas.microsoft.com/office/drawing/2014/main" id="{677B0DCC-2E1C-B276-39BE-75646C359503}"/>
              </a:ext>
            </a:extLst>
          </p:cNvPr>
          <p:cNvSpPr>
            <a:spLocks noGrp="1"/>
          </p:cNvSpPr>
          <p:nvPr>
            <p:ph type="sldNum" sz="quarter" idx="12"/>
          </p:nvPr>
        </p:nvSpPr>
        <p:spPr/>
        <p:txBody>
          <a:bodyPr/>
          <a:lstStyle/>
          <a:p>
            <a:fld id="{06FEDF93-2BFD-41CA-ABC7-B039102F3792}" type="slidenum">
              <a:rPr lang="en-US" smtClean="0"/>
              <a:t>23</a:t>
            </a:fld>
            <a:endParaRPr lang="en-US" dirty="0"/>
          </a:p>
        </p:txBody>
      </p:sp>
      <p:sp>
        <p:nvSpPr>
          <p:cNvPr id="4" name="Title 1">
            <a:extLst>
              <a:ext uri="{FF2B5EF4-FFF2-40B4-BE49-F238E27FC236}">
                <a16:creationId xmlns:a16="http://schemas.microsoft.com/office/drawing/2014/main" id="{5BCB43C7-3183-C749-93EF-CB74934951DF}"/>
              </a:ext>
            </a:extLst>
          </p:cNvPr>
          <p:cNvSpPr txBox="1">
            <a:spLocks/>
          </p:cNvSpPr>
          <p:nvPr/>
        </p:nvSpPr>
        <p:spPr>
          <a:xfrm>
            <a:off x="228600" y="287143"/>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RESULTS &amp; ANALYSIS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5" name="Straight Connector 4">
            <a:extLst>
              <a:ext uri="{FF2B5EF4-FFF2-40B4-BE49-F238E27FC236}">
                <a16:creationId xmlns:a16="http://schemas.microsoft.com/office/drawing/2014/main" id="{0F4AAFDF-BE1B-58FC-9822-5C0DFB33016E}"/>
              </a:ext>
              <a:ext uri="{C183D7F6-B498-43B3-948B-1728B52AA6E4}">
                <adec:decorative xmlns:adec="http://schemas.microsoft.com/office/drawing/2017/decorative" val="1"/>
              </a:ext>
            </a:extLst>
          </p:cNvPr>
          <p:cNvCxnSpPr>
            <a:cxnSpLocks/>
          </p:cNvCxnSpPr>
          <p:nvPr/>
        </p:nvCxnSpPr>
        <p:spPr>
          <a:xfrm>
            <a:off x="664112" y="438492"/>
            <a:ext cx="2627728"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0375CEC-922D-64B1-D728-69DF5EE46442}"/>
              </a:ext>
              <a:ext uri="{C183D7F6-B498-43B3-948B-1728B52AA6E4}">
                <adec:decorative xmlns:adec="http://schemas.microsoft.com/office/drawing/2017/decorative" val="1"/>
              </a:ext>
            </a:extLst>
          </p:cNvPr>
          <p:cNvCxnSpPr>
            <a:cxnSpLocks/>
          </p:cNvCxnSpPr>
          <p:nvPr/>
        </p:nvCxnSpPr>
        <p:spPr>
          <a:xfrm>
            <a:off x="8610600" y="454953"/>
            <a:ext cx="2853177"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D5C8FBA9-BC64-28A4-09AC-FB80B3867C02}"/>
              </a:ext>
              <a:ext uri="{C183D7F6-B498-43B3-948B-1728B52AA6E4}">
                <adec:decorative xmlns:adec="http://schemas.microsoft.com/office/drawing/2017/decorative" val="1"/>
              </a:ext>
            </a:extLst>
          </p:cNvPr>
          <p:cNvSpPr/>
          <p:nvPr/>
        </p:nvSpPr>
        <p:spPr>
          <a:xfrm>
            <a:off x="838200" y="1158689"/>
            <a:ext cx="295422" cy="30521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4D7785A3-D1EE-5D2F-9E38-6E206D8DD6B7}"/>
              </a:ext>
            </a:extLst>
          </p:cNvPr>
          <p:cNvSpPr txBox="1"/>
          <p:nvPr/>
        </p:nvSpPr>
        <p:spPr>
          <a:xfrm>
            <a:off x="1406769" y="1158689"/>
            <a:ext cx="1589649"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ROC Curve:</a:t>
            </a:r>
          </a:p>
        </p:txBody>
      </p:sp>
      <p:sp>
        <p:nvSpPr>
          <p:cNvPr id="16" name="TextBox 15">
            <a:extLst>
              <a:ext uri="{FF2B5EF4-FFF2-40B4-BE49-F238E27FC236}">
                <a16:creationId xmlns:a16="http://schemas.microsoft.com/office/drawing/2014/main" id="{B9BCF79D-8D8E-819E-BFE6-DE6B0262919A}"/>
              </a:ext>
            </a:extLst>
          </p:cNvPr>
          <p:cNvSpPr txBox="1"/>
          <p:nvPr/>
        </p:nvSpPr>
        <p:spPr>
          <a:xfrm>
            <a:off x="409722" y="5514645"/>
            <a:ext cx="2890616" cy="369332"/>
          </a:xfrm>
          <a:prstGeom prst="rect">
            <a:avLst/>
          </a:prstGeom>
          <a:noFill/>
        </p:spPr>
        <p:txBody>
          <a:bodyPr wrap="square">
            <a:spAutoFit/>
          </a:bodyPr>
          <a:lstStyle/>
          <a:p>
            <a:r>
              <a:rPr lang="en-US" sz="1800" b="1" kern="0" dirty="0">
                <a:effectLst/>
                <a:latin typeface="Calibri" panose="020F0502020204030204" pitchFamily="34" charset="0"/>
                <a:ea typeface="Calibri" panose="020F0502020204030204" pitchFamily="34" charset="0"/>
                <a:cs typeface="Times New Roman" panose="02020603050405020304" pitchFamily="18" charset="0"/>
              </a:rPr>
              <a:t>Fig </a:t>
            </a:r>
            <a:r>
              <a:rPr lang="en-US" b="1" kern="0" dirty="0">
                <a:latin typeface="Calibri" panose="020F0502020204030204" pitchFamily="34" charset="0"/>
                <a:ea typeface="Calibri" panose="020F0502020204030204" pitchFamily="34" charset="0"/>
                <a:cs typeface="Times New Roman" panose="02020603050405020304" pitchFamily="18" charset="0"/>
              </a:rPr>
              <a:t>19</a:t>
            </a:r>
            <a:r>
              <a:rPr lang="en-US" sz="1800" b="1" kern="0" dirty="0">
                <a:effectLst/>
                <a:latin typeface="Calibri" panose="020F0502020204030204" pitchFamily="34" charset="0"/>
                <a:ea typeface="Calibri" panose="020F0502020204030204" pitchFamily="34" charset="0"/>
                <a:cs typeface="Times New Roman" panose="02020603050405020304" pitchFamily="18" charset="0"/>
              </a:rPr>
              <a:t>: ROC curve for VGG19 </a:t>
            </a:r>
            <a:endParaRPr lang="en-US" dirty="0"/>
          </a:p>
        </p:txBody>
      </p:sp>
      <p:sp>
        <p:nvSpPr>
          <p:cNvPr id="17" name="TextBox 16">
            <a:extLst>
              <a:ext uri="{FF2B5EF4-FFF2-40B4-BE49-F238E27FC236}">
                <a16:creationId xmlns:a16="http://schemas.microsoft.com/office/drawing/2014/main" id="{AEF3806D-A3EB-2F22-692C-6F3CA9172715}"/>
              </a:ext>
            </a:extLst>
          </p:cNvPr>
          <p:cNvSpPr txBox="1"/>
          <p:nvPr/>
        </p:nvSpPr>
        <p:spPr>
          <a:xfrm>
            <a:off x="3892795" y="5561837"/>
            <a:ext cx="3575244" cy="369332"/>
          </a:xfrm>
          <a:prstGeom prst="rect">
            <a:avLst/>
          </a:prstGeom>
          <a:noFill/>
        </p:spPr>
        <p:txBody>
          <a:bodyPr wrap="square">
            <a:spAutoFit/>
          </a:bodyPr>
          <a:lstStyle/>
          <a:p>
            <a:r>
              <a:rPr lang="en-US" sz="1800" b="1" kern="0" dirty="0">
                <a:effectLst/>
                <a:latin typeface="Calibri" panose="020F0502020204030204" pitchFamily="34" charset="0"/>
                <a:ea typeface="Calibri" panose="020F0502020204030204" pitchFamily="34" charset="0"/>
                <a:cs typeface="Times New Roman" panose="02020603050405020304" pitchFamily="18" charset="0"/>
              </a:rPr>
              <a:t>Fig 20: ROC curve for DenseNet121 </a:t>
            </a:r>
            <a:endParaRPr lang="en-US" dirty="0"/>
          </a:p>
        </p:txBody>
      </p:sp>
      <p:sp>
        <p:nvSpPr>
          <p:cNvPr id="18" name="TextBox 17">
            <a:extLst>
              <a:ext uri="{FF2B5EF4-FFF2-40B4-BE49-F238E27FC236}">
                <a16:creationId xmlns:a16="http://schemas.microsoft.com/office/drawing/2014/main" id="{5BE72ED6-8987-44F1-96F3-A3725F258400}"/>
              </a:ext>
            </a:extLst>
          </p:cNvPr>
          <p:cNvSpPr txBox="1"/>
          <p:nvPr/>
        </p:nvSpPr>
        <p:spPr>
          <a:xfrm>
            <a:off x="8241617" y="5552254"/>
            <a:ext cx="3721782" cy="369332"/>
          </a:xfrm>
          <a:prstGeom prst="rect">
            <a:avLst/>
          </a:prstGeom>
          <a:noFill/>
        </p:spPr>
        <p:txBody>
          <a:bodyPr wrap="square">
            <a:spAutoFit/>
          </a:bodyPr>
          <a:lstStyle/>
          <a:p>
            <a:r>
              <a:rPr lang="en-US" sz="1800" b="1" kern="0" dirty="0">
                <a:effectLst/>
                <a:latin typeface="Calibri" panose="020F0502020204030204" pitchFamily="34" charset="0"/>
                <a:ea typeface="Calibri" panose="020F0502020204030204" pitchFamily="34" charset="0"/>
                <a:cs typeface="Times New Roman" panose="02020603050405020304" pitchFamily="18" charset="0"/>
              </a:rPr>
              <a:t>Fig 21: ROC curve for EfficientNetB0 </a:t>
            </a:r>
            <a:endParaRPr lang="en-US" dirty="0"/>
          </a:p>
        </p:txBody>
      </p:sp>
      <p:sp>
        <p:nvSpPr>
          <p:cNvPr id="7" name="Footer Placeholder 6">
            <a:extLst>
              <a:ext uri="{FF2B5EF4-FFF2-40B4-BE49-F238E27FC236}">
                <a16:creationId xmlns:a16="http://schemas.microsoft.com/office/drawing/2014/main" id="{5A76BC6E-406A-D8B0-CB02-CE3C7530D7FB}"/>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1053138031"/>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down)">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wipe(down)">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18">
                                            <p:txEl>
                                              <p:pRg st="0" end="0"/>
                                            </p:txEl>
                                          </p:spTgt>
                                        </p:tgtEl>
                                        <p:attrNameLst>
                                          <p:attrName>style.visibility</p:attrName>
                                        </p:attrNameLst>
                                      </p:cBhvr>
                                      <p:to>
                                        <p:strVal val="visible"/>
                                      </p:to>
                                    </p:set>
                                    <p:animEffect transition="in" filter="wipe(down)">
                                      <p:cBhvr>
                                        <p:cTn id="17" dur="500"/>
                                        <p:tgtEl>
                                          <p:spTgt spid="1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C9F52E-929D-6A4C-E6BF-8EBE0B2A6892}"/>
              </a:ext>
            </a:extLst>
          </p:cNvPr>
          <p:cNvSpPr>
            <a:spLocks noGrp="1"/>
          </p:cNvSpPr>
          <p:nvPr>
            <p:ph type="dt" sz="half" idx="10"/>
          </p:nvPr>
        </p:nvSpPr>
        <p:spPr/>
        <p:txBody>
          <a:bodyPr/>
          <a:lstStyle/>
          <a:p>
            <a:fld id="{D7E4BE7A-C728-4486-A4E2-1A68B53E3A2A}" type="datetime1">
              <a:rPr lang="en-US" smtClean="0"/>
              <a:t>1/18/2026</a:t>
            </a:fld>
            <a:endParaRPr lang="en-US" dirty="0"/>
          </a:p>
        </p:txBody>
      </p:sp>
      <p:sp>
        <p:nvSpPr>
          <p:cNvPr id="3" name="Slide Number Placeholder 2">
            <a:extLst>
              <a:ext uri="{FF2B5EF4-FFF2-40B4-BE49-F238E27FC236}">
                <a16:creationId xmlns:a16="http://schemas.microsoft.com/office/drawing/2014/main" id="{677B0DCC-2E1C-B276-39BE-75646C359503}"/>
              </a:ext>
            </a:extLst>
          </p:cNvPr>
          <p:cNvSpPr>
            <a:spLocks noGrp="1"/>
          </p:cNvSpPr>
          <p:nvPr>
            <p:ph type="sldNum" sz="quarter" idx="12"/>
          </p:nvPr>
        </p:nvSpPr>
        <p:spPr/>
        <p:txBody>
          <a:bodyPr/>
          <a:lstStyle/>
          <a:p>
            <a:fld id="{06FEDF93-2BFD-41CA-ABC7-B039102F3792}" type="slidenum">
              <a:rPr lang="en-US" smtClean="0"/>
              <a:t>24</a:t>
            </a:fld>
            <a:endParaRPr lang="en-US" dirty="0"/>
          </a:p>
        </p:txBody>
      </p:sp>
      <p:sp>
        <p:nvSpPr>
          <p:cNvPr id="4" name="Title 1">
            <a:extLst>
              <a:ext uri="{FF2B5EF4-FFF2-40B4-BE49-F238E27FC236}">
                <a16:creationId xmlns:a16="http://schemas.microsoft.com/office/drawing/2014/main" id="{5BCB43C7-3183-C749-93EF-CB74934951DF}"/>
              </a:ext>
            </a:extLst>
          </p:cNvPr>
          <p:cNvSpPr txBox="1">
            <a:spLocks/>
          </p:cNvSpPr>
          <p:nvPr/>
        </p:nvSpPr>
        <p:spPr>
          <a:xfrm>
            <a:off x="228600" y="287143"/>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RESULTS &amp; ANALYSIS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5" name="Straight Connector 4">
            <a:extLst>
              <a:ext uri="{FF2B5EF4-FFF2-40B4-BE49-F238E27FC236}">
                <a16:creationId xmlns:a16="http://schemas.microsoft.com/office/drawing/2014/main" id="{0F4AAFDF-BE1B-58FC-9822-5C0DFB33016E}"/>
              </a:ext>
              <a:ext uri="{C183D7F6-B498-43B3-948B-1728B52AA6E4}">
                <adec:decorative xmlns:adec="http://schemas.microsoft.com/office/drawing/2017/decorative" val="1"/>
              </a:ext>
            </a:extLst>
          </p:cNvPr>
          <p:cNvCxnSpPr>
            <a:cxnSpLocks/>
          </p:cNvCxnSpPr>
          <p:nvPr/>
        </p:nvCxnSpPr>
        <p:spPr>
          <a:xfrm>
            <a:off x="664112" y="438492"/>
            <a:ext cx="2627728"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0375CEC-922D-64B1-D728-69DF5EE46442}"/>
              </a:ext>
              <a:ext uri="{C183D7F6-B498-43B3-948B-1728B52AA6E4}">
                <adec:decorative xmlns:adec="http://schemas.microsoft.com/office/drawing/2017/decorative" val="1"/>
              </a:ext>
            </a:extLst>
          </p:cNvPr>
          <p:cNvCxnSpPr>
            <a:cxnSpLocks/>
          </p:cNvCxnSpPr>
          <p:nvPr/>
        </p:nvCxnSpPr>
        <p:spPr>
          <a:xfrm>
            <a:off x="8610600" y="454953"/>
            <a:ext cx="2853177"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BE7E79EF-5010-3081-D516-1B9189E9B6D5}"/>
              </a:ext>
              <a:ext uri="{C183D7F6-B498-43B3-948B-1728B52AA6E4}">
                <adec:decorative xmlns:adec="http://schemas.microsoft.com/office/drawing/2017/decorative" val="1"/>
              </a:ext>
            </a:extLst>
          </p:cNvPr>
          <p:cNvSpPr/>
          <p:nvPr/>
        </p:nvSpPr>
        <p:spPr>
          <a:xfrm>
            <a:off x="838200" y="1067246"/>
            <a:ext cx="295422" cy="30521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698ADB56-CBE2-E5F3-6E43-2661D4121AC2}"/>
              </a:ext>
            </a:extLst>
          </p:cNvPr>
          <p:cNvSpPr txBox="1"/>
          <p:nvPr/>
        </p:nvSpPr>
        <p:spPr>
          <a:xfrm>
            <a:off x="1406769" y="1007340"/>
            <a:ext cx="2743200"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Performance Report:</a:t>
            </a:r>
          </a:p>
        </p:txBody>
      </p:sp>
      <p:sp>
        <p:nvSpPr>
          <p:cNvPr id="11" name="TextBox 10">
            <a:extLst>
              <a:ext uri="{FF2B5EF4-FFF2-40B4-BE49-F238E27FC236}">
                <a16:creationId xmlns:a16="http://schemas.microsoft.com/office/drawing/2014/main" id="{ADE3EAEC-578C-1824-D64C-0E97BB642077}"/>
              </a:ext>
            </a:extLst>
          </p:cNvPr>
          <p:cNvSpPr txBox="1"/>
          <p:nvPr/>
        </p:nvSpPr>
        <p:spPr>
          <a:xfrm>
            <a:off x="1977976" y="2062448"/>
            <a:ext cx="7484012" cy="369332"/>
          </a:xfrm>
          <a:prstGeom prst="rect">
            <a:avLst/>
          </a:prstGeom>
          <a:noFill/>
        </p:spPr>
        <p:txBody>
          <a:bodyPr wrap="square">
            <a:spAutoFit/>
          </a:bodyPr>
          <a:lstStyle/>
          <a:p>
            <a:r>
              <a:rPr lang="en-US" sz="1800" b="1" kern="0" dirty="0">
                <a:effectLst/>
                <a:latin typeface="Times New Roman" panose="02020603050405020304" pitchFamily="18" charset="0"/>
                <a:ea typeface="Calibri" panose="020F0502020204030204" pitchFamily="34" charset="0"/>
              </a:rPr>
              <a:t>TABLE </a:t>
            </a:r>
            <a:r>
              <a:rPr lang="en-US" b="1" kern="0" dirty="0">
                <a:latin typeface="Times New Roman" panose="02020603050405020304" pitchFamily="18" charset="0"/>
                <a:ea typeface="Calibri" panose="020F0502020204030204" pitchFamily="34" charset="0"/>
              </a:rPr>
              <a:t>1.7</a:t>
            </a:r>
            <a:r>
              <a:rPr lang="en-US" sz="1800" b="1" kern="0" dirty="0">
                <a:effectLst/>
                <a:latin typeface="Times New Roman" panose="02020603050405020304" pitchFamily="18" charset="0"/>
                <a:ea typeface="Calibri" panose="020F0502020204030204" pitchFamily="34" charset="0"/>
              </a:rPr>
              <a:t>: PERFORMANCE REPORT OF THE PROPOSED MODEL </a:t>
            </a:r>
            <a:endParaRPr lang="en-US" dirty="0"/>
          </a:p>
        </p:txBody>
      </p:sp>
      <p:sp>
        <p:nvSpPr>
          <p:cNvPr id="9" name="Footer Placeholder 8">
            <a:extLst>
              <a:ext uri="{FF2B5EF4-FFF2-40B4-BE49-F238E27FC236}">
                <a16:creationId xmlns:a16="http://schemas.microsoft.com/office/drawing/2014/main" id="{1BE10C84-7C55-3493-4F6F-8402B2CA02F1}"/>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2449916898"/>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228600" y="424424"/>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FUTURE WORK</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228600" y="593237"/>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7877175" y="593237"/>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E23E47F7-1E24-566B-702D-CAF91B6E2556}"/>
              </a:ext>
              <a:ext uri="{C183D7F6-B498-43B3-948B-1728B52AA6E4}">
                <adec:decorative xmlns:adec="http://schemas.microsoft.com/office/drawing/2017/decorative" val="1"/>
              </a:ext>
            </a:extLst>
          </p:cNvPr>
          <p:cNvSpPr/>
          <p:nvPr/>
        </p:nvSpPr>
        <p:spPr>
          <a:xfrm>
            <a:off x="1179723" y="1474403"/>
            <a:ext cx="288406" cy="296083"/>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7FBEC28C-B2C3-FCA7-4EE0-80D93F7BDF07}"/>
              </a:ext>
              <a:ext uri="{C183D7F6-B498-43B3-948B-1728B52AA6E4}">
                <adec:decorative xmlns:adec="http://schemas.microsoft.com/office/drawing/2017/decorative" val="1"/>
              </a:ext>
            </a:extLst>
          </p:cNvPr>
          <p:cNvSpPr/>
          <p:nvPr/>
        </p:nvSpPr>
        <p:spPr>
          <a:xfrm>
            <a:off x="1149577" y="2805873"/>
            <a:ext cx="288406" cy="296083"/>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50764576-2DDF-651B-7687-AFF7F562FFA9}"/>
              </a:ext>
              <a:ext uri="{C183D7F6-B498-43B3-948B-1728B52AA6E4}">
                <adec:decorative xmlns:adec="http://schemas.microsoft.com/office/drawing/2017/decorative" val="1"/>
              </a:ext>
            </a:extLst>
          </p:cNvPr>
          <p:cNvSpPr/>
          <p:nvPr/>
        </p:nvSpPr>
        <p:spPr>
          <a:xfrm>
            <a:off x="1035520" y="4728797"/>
            <a:ext cx="288406" cy="296083"/>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Date Placeholder 8">
            <a:extLst>
              <a:ext uri="{FF2B5EF4-FFF2-40B4-BE49-F238E27FC236}">
                <a16:creationId xmlns:a16="http://schemas.microsoft.com/office/drawing/2014/main" id="{5619FD55-9468-F3D0-091E-485CB6D98E07}"/>
              </a:ext>
            </a:extLst>
          </p:cNvPr>
          <p:cNvSpPr>
            <a:spLocks noGrp="1"/>
          </p:cNvSpPr>
          <p:nvPr>
            <p:ph type="dt" sz="half" idx="10"/>
          </p:nvPr>
        </p:nvSpPr>
        <p:spPr/>
        <p:txBody>
          <a:bodyPr/>
          <a:lstStyle/>
          <a:p>
            <a:fld id="{C7DB9A0C-6669-4973-92BA-628985CCD258}"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10" name="Slide Number Placeholder 9">
            <a:extLst>
              <a:ext uri="{FF2B5EF4-FFF2-40B4-BE49-F238E27FC236}">
                <a16:creationId xmlns:a16="http://schemas.microsoft.com/office/drawing/2014/main" id="{F0BCC969-DA83-BD2C-275C-6CB3CD2147DE}"/>
              </a:ext>
            </a:extLst>
          </p:cNvPr>
          <p:cNvSpPr>
            <a:spLocks noGrp="1"/>
          </p:cNvSpPr>
          <p:nvPr>
            <p:ph type="sldNum" sz="quarter" idx="12"/>
          </p:nvPr>
        </p:nvSpPr>
        <p:spPr/>
        <p:txBody>
          <a:bodyPr/>
          <a:lstStyle/>
          <a:p>
            <a:fld id="{06FEDF93-2BFD-41CA-ABC7-B039102F3792}" type="slidenum">
              <a:rPr lang="en-US" smtClean="0"/>
              <a:t>25</a:t>
            </a:fld>
            <a:endParaRPr lang="en-US" dirty="0"/>
          </a:p>
        </p:txBody>
      </p:sp>
      <p:sp>
        <p:nvSpPr>
          <p:cNvPr id="12" name="TextBox 11">
            <a:extLst>
              <a:ext uri="{FF2B5EF4-FFF2-40B4-BE49-F238E27FC236}">
                <a16:creationId xmlns:a16="http://schemas.microsoft.com/office/drawing/2014/main" id="{0E8A4B35-3F90-1FA1-64AD-6A7EB8D0DF3E}"/>
              </a:ext>
            </a:extLst>
          </p:cNvPr>
          <p:cNvSpPr txBox="1"/>
          <p:nvPr/>
        </p:nvSpPr>
        <p:spPr>
          <a:xfrm>
            <a:off x="1638694" y="1409904"/>
            <a:ext cx="10324706" cy="1015663"/>
          </a:xfrm>
          <a:prstGeom prst="rect">
            <a:avLst/>
          </a:prstGeom>
          <a:noFill/>
        </p:spPr>
        <p:txBody>
          <a:bodyPr wrap="square">
            <a:spAutoFit/>
          </a:bodyPr>
          <a:lstStyle/>
          <a:p>
            <a:pPr algn="just"/>
            <a:r>
              <a:rPr lang="en-US" sz="2000" b="1" dirty="0">
                <a:latin typeface="Times New Roman" panose="02020603050405020304" pitchFamily="18" charset="0"/>
                <a:cs typeface="Times New Roman" panose="02020603050405020304" pitchFamily="18" charset="0"/>
              </a:rPr>
              <a:t>Real-Time Edge Deployment &amp; Hardware Optimization:</a:t>
            </a:r>
            <a:r>
              <a:rPr lang="en-US" sz="2000" dirty="0">
                <a:latin typeface="Times New Roman" panose="02020603050405020304" pitchFamily="18" charset="0"/>
                <a:cs typeface="Times New Roman" panose="02020603050405020304" pitchFamily="18" charset="0"/>
              </a:rPr>
              <a:t> Transitioning from static dataset testing to live Twitter (X) API streaming to validate high-throughput processing in real-world conditions. </a:t>
            </a:r>
          </a:p>
        </p:txBody>
      </p:sp>
      <p:sp>
        <p:nvSpPr>
          <p:cNvPr id="14" name="TextBox 13">
            <a:extLst>
              <a:ext uri="{FF2B5EF4-FFF2-40B4-BE49-F238E27FC236}">
                <a16:creationId xmlns:a16="http://schemas.microsoft.com/office/drawing/2014/main" id="{D23C54B9-DD1F-FF3F-65BE-FD553C491D50}"/>
              </a:ext>
            </a:extLst>
          </p:cNvPr>
          <p:cNvSpPr txBox="1"/>
          <p:nvPr/>
        </p:nvSpPr>
        <p:spPr>
          <a:xfrm>
            <a:off x="1638694" y="2690850"/>
            <a:ext cx="10220514" cy="1631216"/>
          </a:xfrm>
          <a:prstGeom prst="rect">
            <a:avLst/>
          </a:prstGeom>
          <a:noFill/>
        </p:spPr>
        <p:txBody>
          <a:bodyPr wrap="square">
            <a:spAutoFit/>
          </a:bodyPr>
          <a:lstStyle/>
          <a:p>
            <a:pPr algn="just"/>
            <a:r>
              <a:rPr lang="en-US" sz="2000" b="1" dirty="0">
                <a:latin typeface="Times New Roman" panose="02020603050405020304" pitchFamily="18" charset="0"/>
                <a:cs typeface="Times New Roman" panose="02020603050405020304" pitchFamily="18" charset="0"/>
              </a:rPr>
              <a:t>Interactive XAI Dashboards for Responders:</a:t>
            </a:r>
            <a:r>
              <a:rPr lang="en-US" sz="2000" dirty="0">
                <a:latin typeface="Times New Roman" panose="02020603050405020304" pitchFamily="18" charset="0"/>
                <a:cs typeface="Times New Roman" panose="02020603050405020304" pitchFamily="18" charset="0"/>
              </a:rPr>
              <a:t> Moving beyond static SHAP and Grad-CAM plots to create an interactive dashboard for humanitarian responders. This would allow non-technical staff to see a "Reasoning Report" for every alert—showing exactly which visual pixel or textual word (e.g., "Help" or "Collapsed") triggered the triage score, building the operational trust necessary for field deployment.</a:t>
            </a:r>
          </a:p>
        </p:txBody>
      </p:sp>
      <p:sp>
        <p:nvSpPr>
          <p:cNvPr id="16" name="TextBox 15">
            <a:extLst>
              <a:ext uri="{FF2B5EF4-FFF2-40B4-BE49-F238E27FC236}">
                <a16:creationId xmlns:a16="http://schemas.microsoft.com/office/drawing/2014/main" id="{25818987-91C3-6EDC-5B3A-5AE98A69C8C2}"/>
              </a:ext>
            </a:extLst>
          </p:cNvPr>
          <p:cNvSpPr txBox="1"/>
          <p:nvPr/>
        </p:nvSpPr>
        <p:spPr>
          <a:xfrm>
            <a:off x="1468129" y="4633547"/>
            <a:ext cx="10304873" cy="1631216"/>
          </a:xfrm>
          <a:prstGeom prst="rect">
            <a:avLst/>
          </a:prstGeom>
          <a:noFill/>
        </p:spPr>
        <p:txBody>
          <a:bodyPr wrap="square">
            <a:spAutoFit/>
          </a:bodyPr>
          <a:lstStyle/>
          <a:p>
            <a:pPr algn="just"/>
            <a:r>
              <a:rPr lang="en-US" sz="2000" b="1" dirty="0">
                <a:latin typeface="Times New Roman" panose="02020603050405020304" pitchFamily="18" charset="0"/>
                <a:cs typeface="Times New Roman" panose="02020603050405020304" pitchFamily="18" charset="0"/>
              </a:rPr>
              <a:t>Linguistic Generalization for Regional Dialects:</a:t>
            </a:r>
            <a:r>
              <a:rPr lang="en-US" sz="2000" dirty="0">
                <a:latin typeface="Times New Roman" panose="02020603050405020304" pitchFamily="18" charset="0"/>
                <a:cs typeface="Times New Roman" panose="02020603050405020304" pitchFamily="18" charset="0"/>
              </a:rPr>
              <a:t> Expanding the text encoder to support low-resource languages and regional Bangla dialects through multilingual fine-tuning. This addresses the "Language Barrier" by improving the system's ability to interpret </a:t>
            </a:r>
            <a:r>
              <a:rPr lang="en-US" sz="2000" b="1" dirty="0">
                <a:latin typeface="Times New Roman" panose="02020603050405020304" pitchFamily="18" charset="0"/>
                <a:cs typeface="Times New Roman" panose="02020603050405020304" pitchFamily="18" charset="0"/>
              </a:rPr>
              <a:t>code-switching (</a:t>
            </a:r>
            <a:r>
              <a:rPr lang="en-US" sz="2000" b="1" dirty="0" err="1">
                <a:latin typeface="Times New Roman" panose="02020603050405020304" pitchFamily="18" charset="0"/>
                <a:cs typeface="Times New Roman" panose="02020603050405020304" pitchFamily="18" charset="0"/>
              </a:rPr>
              <a:t>Banglish</a:t>
            </a:r>
            <a:r>
              <a:rPr lang="en-US" sz="2000" b="1" dirty="0">
                <a:latin typeface="Times New Roman" panose="02020603050405020304" pitchFamily="18" charset="0"/>
                <a:cs typeface="Times New Roman" panose="02020603050405020304" pitchFamily="18" charset="0"/>
              </a:rPr>
              <a:t>)</a:t>
            </a:r>
            <a:r>
              <a:rPr lang="en-US" sz="2000" dirty="0">
                <a:latin typeface="Times New Roman" panose="02020603050405020304" pitchFamily="18" charset="0"/>
                <a:cs typeface="Times New Roman" panose="02020603050405020304" pitchFamily="18" charset="0"/>
              </a:rPr>
              <a:t> and evolving adolescent slang, which is critical for accurate mental health triage in the Bangladesh context.</a:t>
            </a:r>
          </a:p>
        </p:txBody>
      </p:sp>
      <p:sp>
        <p:nvSpPr>
          <p:cNvPr id="4" name="Footer Placeholder 3">
            <a:extLst>
              <a:ext uri="{FF2B5EF4-FFF2-40B4-BE49-F238E27FC236}">
                <a16:creationId xmlns:a16="http://schemas.microsoft.com/office/drawing/2014/main" id="{E82CEEB3-E628-D45C-E506-72ABA10497B7}"/>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4234399428"/>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228600" y="222342"/>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REFERENCES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407964" y="42681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7553619" y="42681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A9949CAB-4986-1720-BE50-05C8CF9591DF}"/>
              </a:ext>
            </a:extLst>
          </p:cNvPr>
          <p:cNvSpPr/>
          <p:nvPr/>
        </p:nvSpPr>
        <p:spPr>
          <a:xfrm>
            <a:off x="407964" y="942539"/>
            <a:ext cx="11555436" cy="502216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just"/>
            <a:r>
              <a:rPr lang="en-US" sz="2000" i="0" dirty="0">
                <a:solidFill>
                  <a:schemeClr val="tx1"/>
                </a:solidFill>
                <a:effectLst/>
                <a:latin typeface="Times New Roman" panose="02020603050405020304" pitchFamily="18" charset="0"/>
                <a:cs typeface="Times New Roman" panose="02020603050405020304" pitchFamily="18" charset="0"/>
              </a:rPr>
              <a:t>[1] </a:t>
            </a:r>
            <a:r>
              <a:rPr lang="en-US" sz="2000" dirty="0">
                <a:solidFill>
                  <a:schemeClr val="tx1"/>
                </a:solidFill>
                <a:latin typeface="Times New Roman" panose="02020603050405020304" pitchFamily="18" charset="0"/>
                <a:cs typeface="Times New Roman" panose="02020603050405020304" pitchFamily="18" charset="0"/>
              </a:rPr>
              <a:t>Milica M. </a:t>
            </a:r>
            <a:r>
              <a:rPr lang="en-US" sz="2000" dirty="0" err="1">
                <a:solidFill>
                  <a:schemeClr val="tx1"/>
                </a:solidFill>
                <a:latin typeface="Times New Roman" panose="02020603050405020304" pitchFamily="18" charset="0"/>
                <a:cs typeface="Times New Roman" panose="02020603050405020304" pitchFamily="18" charset="0"/>
              </a:rPr>
              <a:t>Badža</a:t>
            </a:r>
            <a:r>
              <a:rPr lang="en-US" sz="2000" dirty="0">
                <a:solidFill>
                  <a:schemeClr val="tx1"/>
                </a:solidFill>
                <a:latin typeface="Times New Roman" panose="02020603050405020304" pitchFamily="18" charset="0"/>
                <a:cs typeface="Times New Roman" panose="02020603050405020304" pitchFamily="18" charset="0"/>
              </a:rPr>
              <a:t> , Marko C. </a:t>
            </a:r>
            <a:r>
              <a:rPr lang="en-US" sz="2000" dirty="0" err="1">
                <a:solidFill>
                  <a:schemeClr val="tx1"/>
                </a:solidFill>
                <a:latin typeface="Times New Roman" panose="02020603050405020304" pitchFamily="18" charset="0"/>
                <a:cs typeface="Times New Roman" panose="02020603050405020304" pitchFamily="18" charset="0"/>
              </a:rPr>
              <a:t>Barjaktarovi´c</a:t>
            </a:r>
            <a:r>
              <a:rPr lang="en-US" sz="2000" dirty="0">
                <a:solidFill>
                  <a:schemeClr val="tx1"/>
                </a:solidFill>
                <a:latin typeface="Times New Roman" panose="02020603050405020304" pitchFamily="18" charset="0"/>
                <a:cs typeface="Times New Roman" panose="02020603050405020304" pitchFamily="18" charset="0"/>
              </a:rPr>
              <a:t>, “Classification of Brain Tumors from MRI Images Using a Convolutional Neural Network” </a:t>
            </a:r>
            <a:r>
              <a:rPr lang="en-US" sz="2000" i="1" dirty="0">
                <a:solidFill>
                  <a:schemeClr val="tx1"/>
                </a:solidFill>
                <a:latin typeface="Times New Roman" panose="02020603050405020304" pitchFamily="18" charset="0"/>
                <a:cs typeface="Times New Roman" panose="02020603050405020304" pitchFamily="18" charset="0"/>
              </a:rPr>
              <a:t>Innovation center, School of Electrical Engineering, University of Belgrade ,</a:t>
            </a:r>
            <a:r>
              <a:rPr lang="en-US" sz="2000" dirty="0">
                <a:solidFill>
                  <a:schemeClr val="tx1"/>
                </a:solidFill>
                <a:latin typeface="Times New Roman" panose="02020603050405020304" pitchFamily="18" charset="0"/>
                <a:cs typeface="Times New Roman" panose="02020603050405020304" pitchFamily="18" charset="0"/>
              </a:rPr>
              <a:t> 14 January 2020; Accepted: 12 March 2020; Published: 15 March 2020.</a:t>
            </a:r>
          </a:p>
          <a:p>
            <a:pPr algn="just"/>
            <a:endParaRPr lang="en-US" sz="2000" i="0" strike="noStrike" dirty="0">
              <a:solidFill>
                <a:schemeClr val="tx1"/>
              </a:solidFill>
              <a:effectLst/>
              <a:latin typeface="Times New Roman" panose="02020603050405020304" pitchFamily="18" charset="0"/>
              <a:cs typeface="Times New Roman" panose="02020603050405020304" pitchFamily="18" charset="0"/>
            </a:endParaRPr>
          </a:p>
          <a:p>
            <a:pPr algn="just"/>
            <a:r>
              <a:rPr lang="en-US" sz="2000" dirty="0">
                <a:solidFill>
                  <a:schemeClr val="tx1"/>
                </a:solidFill>
                <a:latin typeface="Times New Roman" panose="02020603050405020304" pitchFamily="18" charset="0"/>
                <a:cs typeface="Times New Roman" panose="02020603050405020304" pitchFamily="18" charset="0"/>
              </a:rPr>
              <a:t>[2]</a:t>
            </a:r>
            <a:r>
              <a:rPr lang="en-US" sz="1800" kern="0" dirty="0">
                <a:solidFill>
                  <a:srgbClr val="000000"/>
                </a:solidFill>
                <a:effectLst/>
                <a:highlight>
                  <a:srgbClr val="FFFFFF"/>
                </a:highlight>
                <a:latin typeface="Times New Roman" panose="02020603050405020304" pitchFamily="18" charset="0"/>
                <a:ea typeface="Calibri" panose="020F0502020204030204" pitchFamily="34" charset="0"/>
              </a:rPr>
              <a:t> </a:t>
            </a:r>
            <a:r>
              <a:rPr lang="en-US" sz="2000" kern="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Hamid, Marwan A. A. and </a:t>
            </a:r>
            <a:r>
              <a:rPr lang="en-US" sz="2000" kern="0" dirty="0" err="1">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Najeed</a:t>
            </a:r>
            <a:r>
              <a:rPr lang="en-US" sz="2000" kern="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Ahmed Khan. “Investigation and Classification of MRI Brain Tumors Using Feature Extraction Technique.” </a:t>
            </a:r>
            <a:r>
              <a:rPr lang="en-US" sz="2000" i="1" kern="0" dirty="0">
                <a:effectLst/>
                <a:latin typeface="Times New Roman" panose="02020603050405020304" pitchFamily="18" charset="0"/>
                <a:ea typeface="Calibri" panose="020F0502020204030204" pitchFamily="34" charset="0"/>
                <a:cs typeface="Times New Roman" panose="02020603050405020304" pitchFamily="18" charset="0"/>
              </a:rPr>
              <a:t>Journal of Medical and Biological Engineering</a:t>
            </a:r>
            <a:r>
              <a:rPr lang="en-US" sz="2000" kern="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40 (2020): 307-317.</a:t>
            </a:r>
          </a:p>
          <a:p>
            <a:pPr algn="just"/>
            <a:endParaRPr lang="en-US" sz="2000" dirty="0">
              <a:solidFill>
                <a:schemeClr val="tx1"/>
              </a:solidFill>
              <a:latin typeface="Times New Roman" panose="02020603050405020304" pitchFamily="18" charset="0"/>
              <a:cs typeface="Times New Roman" panose="02020603050405020304" pitchFamily="18" charset="0"/>
            </a:endParaRPr>
          </a:p>
          <a:p>
            <a:pPr algn="just"/>
            <a:r>
              <a:rPr lang="en-US" sz="2000" dirty="0">
                <a:solidFill>
                  <a:schemeClr val="tx1"/>
                </a:solidFill>
                <a:latin typeface="Times New Roman" panose="02020603050405020304" pitchFamily="18" charset="0"/>
                <a:cs typeface="Times New Roman" panose="02020603050405020304" pitchFamily="18" charset="0"/>
              </a:rPr>
              <a:t>[3] </a:t>
            </a:r>
            <a:r>
              <a:rPr lang="en-US" sz="2000" dirty="0">
                <a:latin typeface="Times New Roman" panose="02020603050405020304" pitchFamily="18" charset="0"/>
                <a:cs typeface="Times New Roman" panose="02020603050405020304" pitchFamily="18" charset="0"/>
              </a:rPr>
              <a:t>Ali </a:t>
            </a:r>
            <a:r>
              <a:rPr lang="en-US" sz="2000" dirty="0" err="1">
                <a:latin typeface="Times New Roman" panose="02020603050405020304" pitchFamily="18" charset="0"/>
                <a:cs typeface="Times New Roman" panose="02020603050405020304" pitchFamily="18" charset="0"/>
              </a:rPr>
              <a:t>pashaei</a:t>
            </a:r>
            <a:r>
              <a:rPr lang="en-US" sz="2000" dirty="0">
                <a:latin typeface="Times New Roman" panose="02020603050405020304" pitchFamily="18" charset="0"/>
                <a:cs typeface="Times New Roman" panose="02020603050405020304" pitchFamily="18" charset="0"/>
              </a:rPr>
              <a:t> , </a:t>
            </a:r>
            <a:r>
              <a:rPr lang="en-US" sz="2000" dirty="0" err="1">
                <a:latin typeface="Times New Roman" panose="02020603050405020304" pitchFamily="18" charset="0"/>
                <a:cs typeface="Times New Roman" panose="02020603050405020304" pitchFamily="18" charset="0"/>
              </a:rPr>
              <a:t>Hedieh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sajedi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Niloofar</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jazayeri</a:t>
            </a:r>
            <a:r>
              <a:rPr lang="en-US" sz="2000" dirty="0">
                <a:latin typeface="Times New Roman" panose="02020603050405020304" pitchFamily="18" charset="0"/>
                <a:cs typeface="Times New Roman" panose="02020603050405020304" pitchFamily="18" charset="0"/>
              </a:rPr>
              <a:t> , “Brain Tumor Classification via Convolutional Neural Network and Extreme Learning Machines” </a:t>
            </a:r>
            <a:r>
              <a:rPr lang="en-US" sz="2000" i="1" dirty="0">
                <a:latin typeface="Times New Roman" panose="02020603050405020304" pitchFamily="18" charset="0"/>
                <a:cs typeface="Times New Roman" panose="02020603050405020304" pitchFamily="18" charset="0"/>
              </a:rPr>
              <a:t>Computer and Knowledge Engineering (ICCKE 2018)</a:t>
            </a:r>
            <a:r>
              <a:rPr lang="en-US" sz="2000" dirty="0">
                <a:latin typeface="Times New Roman" panose="02020603050405020304" pitchFamily="18" charset="0"/>
                <a:cs typeface="Times New Roman" panose="02020603050405020304" pitchFamily="18" charset="0"/>
              </a:rPr>
              <a:t>, October 25-26 2018.</a:t>
            </a:r>
          </a:p>
          <a:p>
            <a:pPr algn="just"/>
            <a:endParaRPr lang="en-US" sz="2000" dirty="0">
              <a:latin typeface="Times New Roman" panose="02020603050405020304" pitchFamily="18" charset="0"/>
              <a:cs typeface="Times New Roman" panose="02020603050405020304" pitchFamily="18" charset="0"/>
            </a:endParaRPr>
          </a:p>
          <a:p>
            <a:pPr algn="just"/>
            <a:r>
              <a:rPr lang="en-US" sz="2000" dirty="0">
                <a:latin typeface="Times New Roman" panose="02020603050405020304" pitchFamily="18" charset="0"/>
                <a:cs typeface="Times New Roman" panose="02020603050405020304" pitchFamily="18" charset="0"/>
              </a:rPr>
              <a:t> </a:t>
            </a:r>
            <a:r>
              <a:rPr lang="en-US" sz="2000" dirty="0">
                <a:solidFill>
                  <a:schemeClr val="tx1"/>
                </a:solidFill>
                <a:latin typeface="Times New Roman" panose="02020603050405020304" pitchFamily="18" charset="0"/>
                <a:cs typeface="Times New Roman" panose="02020603050405020304" pitchFamily="18" charset="0"/>
              </a:rPr>
              <a:t>[4]</a:t>
            </a:r>
            <a:r>
              <a:rPr lang="en-US" sz="180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a:t>
            </a:r>
            <a:r>
              <a:rPr lang="en-US" sz="200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Swati, </a:t>
            </a:r>
            <a:r>
              <a:rPr lang="en-US" sz="2000" dirty="0" err="1">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Zar</a:t>
            </a:r>
            <a:r>
              <a:rPr lang="en-US" sz="200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Nawab Khan, </a:t>
            </a:r>
            <a:r>
              <a:rPr lang="en-US" sz="2000" dirty="0" err="1">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Qinghua</a:t>
            </a:r>
            <a:r>
              <a:rPr lang="en-US" sz="200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Zhao, Muhammad Kabir, Farman Ali, Zakir Ali, Saeed Ahmed, and </a:t>
            </a:r>
            <a:r>
              <a:rPr lang="en-US" sz="2000" dirty="0" err="1">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Jianfeng</a:t>
            </a:r>
            <a:r>
              <a:rPr lang="en-US" sz="200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Lu. “Brain tumor classification for MR images using transfer learning and fine-tuning.” </a:t>
            </a:r>
            <a:r>
              <a:rPr lang="en-US" sz="2000" i="1"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Computerized Medical Imaging and Graphics</a:t>
            </a:r>
            <a:r>
              <a:rPr lang="en-US" sz="200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75 (2019): 34-46.</a:t>
            </a:r>
            <a:endParaRPr lang="en-US" sz="2000" dirty="0">
              <a:latin typeface="Times New Roman" panose="02020603050405020304" pitchFamily="18" charset="0"/>
              <a:cs typeface="Times New Roman" panose="02020603050405020304" pitchFamily="18" charset="0"/>
            </a:endParaRPr>
          </a:p>
          <a:p>
            <a:pPr algn="just"/>
            <a:endParaRPr lang="en-US" sz="2000" dirty="0">
              <a:solidFill>
                <a:schemeClr val="tx1"/>
              </a:solidFill>
              <a:latin typeface="Times New Roman" panose="02020603050405020304" pitchFamily="18" charset="0"/>
              <a:cs typeface="Times New Roman" panose="02020603050405020304" pitchFamily="18" charset="0"/>
            </a:endParaRPr>
          </a:p>
          <a:p>
            <a:pPr algn="just"/>
            <a:endParaRPr lang="en-US" sz="2000" dirty="0">
              <a:solidFill>
                <a:schemeClr val="tx1"/>
              </a:solidFill>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9C38BA05-A3B1-4768-C893-16D1C3E1B9C5}"/>
              </a:ext>
            </a:extLst>
          </p:cNvPr>
          <p:cNvSpPr>
            <a:spLocks noGrp="1"/>
          </p:cNvSpPr>
          <p:nvPr>
            <p:ph type="dt" sz="half" idx="10"/>
          </p:nvPr>
        </p:nvSpPr>
        <p:spPr/>
        <p:txBody>
          <a:bodyPr/>
          <a:lstStyle/>
          <a:p>
            <a:fld id="{3532CA58-CF26-4279-BA94-D60BE06D7454}"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6" name="Slide Number Placeholder 5">
            <a:extLst>
              <a:ext uri="{FF2B5EF4-FFF2-40B4-BE49-F238E27FC236}">
                <a16:creationId xmlns:a16="http://schemas.microsoft.com/office/drawing/2014/main" id="{00BCF154-6E16-98CC-BE49-1D9BDE00DF13}"/>
              </a:ext>
            </a:extLst>
          </p:cNvPr>
          <p:cNvSpPr>
            <a:spLocks noGrp="1"/>
          </p:cNvSpPr>
          <p:nvPr>
            <p:ph type="sldNum" sz="quarter" idx="12"/>
          </p:nvPr>
        </p:nvSpPr>
        <p:spPr/>
        <p:txBody>
          <a:bodyPr/>
          <a:lstStyle/>
          <a:p>
            <a:fld id="{06FEDF93-2BFD-41CA-ABC7-B039102F3792}" type="slidenum">
              <a:rPr lang="en-US" smtClean="0">
                <a:latin typeface="Times New Roman" panose="02020603050405020304" pitchFamily="18" charset="0"/>
                <a:cs typeface="Times New Roman" panose="02020603050405020304" pitchFamily="18" charset="0"/>
              </a:rPr>
              <a:t>26</a:t>
            </a:fld>
            <a:endParaRPr lang="en-US" dirty="0">
              <a:latin typeface="Times New Roman" panose="02020603050405020304" pitchFamily="18" charset="0"/>
              <a:cs typeface="Times New Roman" panose="02020603050405020304" pitchFamily="18" charset="0"/>
            </a:endParaRPr>
          </a:p>
        </p:txBody>
      </p:sp>
      <p:sp>
        <p:nvSpPr>
          <p:cNvPr id="7" name="Footer Placeholder 6">
            <a:extLst>
              <a:ext uri="{FF2B5EF4-FFF2-40B4-BE49-F238E27FC236}">
                <a16:creationId xmlns:a16="http://schemas.microsoft.com/office/drawing/2014/main" id="{1B902337-8072-3F4E-8B7D-F350CFCDCF51}"/>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3117818364"/>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228600" y="342631"/>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REFERENCES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664698" y="46662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7578823" y="46662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A9949CAB-4986-1720-BE50-05C8CF9591DF}"/>
              </a:ext>
            </a:extLst>
          </p:cNvPr>
          <p:cNvSpPr/>
          <p:nvPr/>
        </p:nvSpPr>
        <p:spPr>
          <a:xfrm>
            <a:off x="526952" y="812220"/>
            <a:ext cx="11138096" cy="545253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just"/>
            <a:endParaRPr lang="en-US" sz="2000" dirty="0">
              <a:latin typeface="Times New Roman" panose="02020603050405020304" pitchFamily="18" charset="0"/>
              <a:cs typeface="Times New Roman" panose="02020603050405020304" pitchFamily="18" charset="0"/>
            </a:endParaRPr>
          </a:p>
          <a:p>
            <a:pPr algn="just"/>
            <a:r>
              <a:rPr lang="en-US" sz="2000" dirty="0">
                <a:latin typeface="Times New Roman" panose="02020603050405020304" pitchFamily="18" charset="0"/>
                <a:cs typeface="Times New Roman" panose="02020603050405020304" pitchFamily="18" charset="0"/>
              </a:rPr>
              <a:t>[5] Hossam H. Sultan , Nancy M. Salem , And Walid Al-</a:t>
            </a:r>
            <a:r>
              <a:rPr lang="en-US" sz="2000" dirty="0" err="1">
                <a:latin typeface="Times New Roman" panose="02020603050405020304" pitchFamily="18" charset="0"/>
                <a:cs typeface="Times New Roman" panose="02020603050405020304" pitchFamily="18" charset="0"/>
              </a:rPr>
              <a:t>atabany</a:t>
            </a:r>
            <a:r>
              <a:rPr lang="en-US" sz="2000" dirty="0">
                <a:latin typeface="Times New Roman" panose="02020603050405020304" pitchFamily="18" charset="0"/>
                <a:cs typeface="Times New Roman" panose="02020603050405020304" pitchFamily="18" charset="0"/>
              </a:rPr>
              <a:t>, “Multi-Classification of Brain Tumor Images Using Deep Neural Network”, </a:t>
            </a:r>
            <a:r>
              <a:rPr lang="en-US" sz="2000" i="1" dirty="0">
                <a:latin typeface="Times New Roman" panose="02020603050405020304" pitchFamily="18" charset="0"/>
                <a:cs typeface="Times New Roman" panose="02020603050405020304" pitchFamily="18" charset="0"/>
              </a:rPr>
              <a:t>Digital Object Identifier </a:t>
            </a:r>
            <a:r>
              <a:rPr lang="en-US" sz="2000" dirty="0">
                <a:latin typeface="Times New Roman" panose="02020603050405020304" pitchFamily="18" charset="0"/>
                <a:cs typeface="Times New Roman" panose="02020603050405020304" pitchFamily="18" charset="0"/>
              </a:rPr>
              <a:t>10.1109/ACCESS.2019.2919122</a:t>
            </a:r>
          </a:p>
          <a:p>
            <a:pPr algn="just"/>
            <a:endParaRPr lang="en-US" sz="2000" dirty="0">
              <a:latin typeface="Times New Roman" panose="02020603050405020304" pitchFamily="18" charset="0"/>
              <a:cs typeface="Times New Roman" panose="02020603050405020304" pitchFamily="18" charset="0"/>
            </a:endParaRPr>
          </a:p>
          <a:p>
            <a:pPr algn="just"/>
            <a:r>
              <a:rPr lang="en-US" sz="2000" dirty="0">
                <a:latin typeface="Times New Roman" panose="02020603050405020304" pitchFamily="18" charset="0"/>
                <a:cs typeface="Times New Roman" panose="02020603050405020304" pitchFamily="18" charset="0"/>
              </a:rPr>
              <a:t>[6] </a:t>
            </a:r>
            <a:r>
              <a:rPr lang="en-US" sz="2000" kern="0" dirty="0">
                <a:solidFill>
                  <a:srgbClr val="000000"/>
                </a:solidFill>
                <a:effectLst/>
                <a:highlight>
                  <a:srgbClr val="FFFFFF"/>
                </a:highlight>
                <a:latin typeface="Times New Roman" panose="02020603050405020304" pitchFamily="18" charset="0"/>
                <a:ea typeface="Calibri" panose="020F0502020204030204" pitchFamily="34" charset="0"/>
              </a:rPr>
              <a:t>Available from: https://blog.techcraft.org/vgg-19-convolutional-neural-network/ [accessed 24 Apr, 2024]  </a:t>
            </a:r>
          </a:p>
          <a:p>
            <a:pPr algn="just"/>
            <a:endParaRPr lang="en-US" sz="2000" dirty="0">
              <a:latin typeface="Times New Roman" panose="02020603050405020304" pitchFamily="18" charset="0"/>
              <a:cs typeface="Times New Roman" panose="02020603050405020304" pitchFamily="18" charset="0"/>
            </a:endParaRPr>
          </a:p>
          <a:p>
            <a:pPr algn="just"/>
            <a:r>
              <a:rPr lang="en-US" sz="2000" dirty="0">
                <a:latin typeface="Times New Roman" panose="02020603050405020304" pitchFamily="18" charset="0"/>
                <a:cs typeface="Times New Roman" panose="02020603050405020304" pitchFamily="18" charset="0"/>
              </a:rPr>
              <a:t>[7] </a:t>
            </a:r>
            <a:r>
              <a:rPr lang="en-US" sz="2000" kern="0" dirty="0">
                <a:solidFill>
                  <a:srgbClr val="000000"/>
                </a:solidFill>
                <a:effectLst/>
                <a:highlight>
                  <a:srgbClr val="FFFFFF"/>
                </a:highlight>
                <a:latin typeface="Times New Roman" panose="02020603050405020304" pitchFamily="18" charset="0"/>
                <a:ea typeface="Calibri" panose="020F0502020204030204" pitchFamily="34" charset="0"/>
              </a:rPr>
              <a:t>Aditya Chatterjee, </a:t>
            </a:r>
            <a:r>
              <a:rPr lang="en-US" sz="2000" kern="0" dirty="0" err="1">
                <a:solidFill>
                  <a:srgbClr val="000000"/>
                </a:solidFill>
                <a:effectLst/>
                <a:highlight>
                  <a:srgbClr val="FFFFFF"/>
                </a:highlight>
                <a:latin typeface="Times New Roman" panose="02020603050405020304" pitchFamily="18" charset="0"/>
                <a:ea typeface="Calibri" panose="020F0502020204030204" pitchFamily="34" charset="0"/>
              </a:rPr>
              <a:t>Ue</a:t>
            </a:r>
            <a:r>
              <a:rPr lang="en-US" sz="2000" kern="0" dirty="0">
                <a:solidFill>
                  <a:srgbClr val="000000"/>
                </a:solidFill>
                <a:effectLst/>
                <a:highlight>
                  <a:srgbClr val="FFFFFF"/>
                </a:highlight>
                <a:latin typeface="Times New Roman" panose="02020603050405020304" pitchFamily="18" charset="0"/>
                <a:ea typeface="Calibri" panose="020F0502020204030204" pitchFamily="34" charset="0"/>
              </a:rPr>
              <a:t> </a:t>
            </a:r>
            <a:r>
              <a:rPr lang="en-US" sz="2000" kern="0" dirty="0" err="1">
                <a:solidFill>
                  <a:srgbClr val="000000"/>
                </a:solidFill>
                <a:effectLst/>
                <a:highlight>
                  <a:srgbClr val="FFFFFF"/>
                </a:highlight>
                <a:latin typeface="Times New Roman" panose="02020603050405020304" pitchFamily="18" charset="0"/>
                <a:ea typeface="Calibri" panose="020F0502020204030204" pitchFamily="34" charset="0"/>
              </a:rPr>
              <a:t>Kiao</a:t>
            </a:r>
            <a:r>
              <a:rPr lang="en-US" sz="2000" kern="0" dirty="0">
                <a:solidFill>
                  <a:srgbClr val="000000"/>
                </a:solidFill>
                <a:effectLst/>
                <a:highlight>
                  <a:srgbClr val="FFFFFF"/>
                </a:highlight>
                <a:latin typeface="Times New Roman" panose="02020603050405020304" pitchFamily="18" charset="0"/>
                <a:ea typeface="Calibri" panose="020F0502020204030204" pitchFamily="34" charset="0"/>
              </a:rPr>
              <a:t>, Geoffrey Z. "Architecture of DenseNet-121" </a:t>
            </a:r>
            <a:r>
              <a:rPr lang="en-US" sz="2000" i="1" kern="0" dirty="0">
                <a:solidFill>
                  <a:srgbClr val="000000"/>
                </a:solidFill>
                <a:effectLst/>
                <a:highlight>
                  <a:srgbClr val="FFFFFF"/>
                </a:highlight>
                <a:latin typeface="Times New Roman" panose="02020603050405020304" pitchFamily="18" charset="0"/>
                <a:ea typeface="Calibri" panose="020F0502020204030204" pitchFamily="34" charset="0"/>
              </a:rPr>
              <a:t>Tokyo-Japan</a:t>
            </a:r>
            <a:r>
              <a:rPr lang="en-US" sz="2000" kern="0" dirty="0">
                <a:solidFill>
                  <a:srgbClr val="000000"/>
                </a:solidFill>
                <a:effectLst/>
                <a:highlight>
                  <a:srgbClr val="FFFFFF"/>
                </a:highlight>
                <a:latin typeface="Times New Roman" panose="02020603050405020304" pitchFamily="18" charset="0"/>
                <a:ea typeface="Calibri" panose="020F0502020204030204" pitchFamily="34" charset="0"/>
              </a:rPr>
              <a:t>, September 2017</a:t>
            </a:r>
            <a:endParaRPr lang="en-US" sz="2000" dirty="0">
              <a:latin typeface="Times New Roman" panose="02020603050405020304" pitchFamily="18" charset="0"/>
              <a:cs typeface="Times New Roman" panose="02020603050405020304" pitchFamily="18" charset="0"/>
            </a:endParaRPr>
          </a:p>
          <a:p>
            <a:pPr algn="just"/>
            <a:endParaRPr lang="en-US" sz="2000" dirty="0">
              <a:latin typeface="Times New Roman" panose="02020603050405020304" pitchFamily="18" charset="0"/>
              <a:cs typeface="Times New Roman" panose="02020603050405020304" pitchFamily="18" charset="0"/>
            </a:endParaRPr>
          </a:p>
          <a:p>
            <a:pPr algn="just"/>
            <a:r>
              <a:rPr lang="en-US" sz="2000" dirty="0">
                <a:latin typeface="Times New Roman" panose="02020603050405020304" pitchFamily="18" charset="0"/>
                <a:cs typeface="Times New Roman" panose="02020603050405020304" pitchFamily="18" charset="0"/>
              </a:rPr>
              <a:t>[8] Classification and understanding of cloud structures via satellite images with </a:t>
            </a:r>
            <a:r>
              <a:rPr lang="en-US" sz="2000" dirty="0" err="1">
                <a:latin typeface="Times New Roman" panose="02020603050405020304" pitchFamily="18" charset="0"/>
                <a:cs typeface="Times New Roman" panose="02020603050405020304" pitchFamily="18" charset="0"/>
              </a:rPr>
              <a:t>EfficientUNet</a:t>
            </a:r>
            <a:r>
              <a:rPr lang="en-US" sz="2000" dirty="0">
                <a:latin typeface="Times New Roman" panose="02020603050405020304" pitchFamily="18" charset="0"/>
                <a:cs typeface="Times New Roman" panose="02020603050405020304" pitchFamily="18" charset="0"/>
              </a:rPr>
              <a:t> - Scientific Figure on ResearchGate. Available from: https://www.researchgate.net/figure/Architecture-of-EfficientNet-B0-with-MBConv-as-Basic-building-blocks_fig4_344410350 [accessed 27 Apr, 2024]</a:t>
            </a:r>
          </a:p>
          <a:p>
            <a:pPr algn="just"/>
            <a:endParaRPr lang="en-US" sz="2000" dirty="0">
              <a:latin typeface="Times New Roman" panose="02020603050405020304" pitchFamily="18" charset="0"/>
              <a:cs typeface="Times New Roman" panose="02020603050405020304" pitchFamily="18" charset="0"/>
            </a:endParaRPr>
          </a:p>
          <a:p>
            <a:pPr marL="0" marR="0" algn="just">
              <a:lnSpc>
                <a:spcPct val="107000"/>
              </a:lnSpc>
              <a:spcBef>
                <a:spcPts val="0"/>
              </a:spcBef>
              <a:spcAft>
                <a:spcPts val="70"/>
              </a:spcAft>
            </a:pPr>
            <a:r>
              <a:rPr lang="en-US" sz="2000" dirty="0">
                <a:latin typeface="Times New Roman" panose="02020603050405020304" pitchFamily="18" charset="0"/>
                <a:cs typeface="Times New Roman" panose="02020603050405020304" pitchFamily="18" charset="0"/>
              </a:rPr>
              <a:t>[9] </a:t>
            </a:r>
            <a:r>
              <a:rPr lang="en-US" sz="200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Musa, Usman Ibrahim, Queen Emmanuella Mensah, and Rasheed </a:t>
            </a:r>
            <a:r>
              <a:rPr lang="en-US" sz="2000" dirty="0" err="1">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Falowo</a:t>
            </a:r>
            <a:r>
              <a:rPr lang="en-US" sz="200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“Intracranial-Tumor Detection and Classification System using Convnet and Transfer Learning.” </a:t>
            </a:r>
            <a:r>
              <a:rPr lang="en-US" sz="20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International Research Journal of Engineering and Technology (IRJET)</a:t>
            </a:r>
            <a:r>
              <a:rPr lang="en-US" sz="20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(Jan2023) e-ISSN: 2395-0056 p-ISSN: 2395-0072.</a:t>
            </a:r>
            <a:endParaRPr lang="en-US" sz="20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70"/>
              </a:spcAft>
            </a:pPr>
            <a:r>
              <a:rPr lang="en-US"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algn="just"/>
            <a:endParaRPr lang="en-US" sz="2000"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1A2C387A-F678-F8DD-E30A-AF9DFB212FE3}"/>
              </a:ext>
            </a:extLst>
          </p:cNvPr>
          <p:cNvSpPr>
            <a:spLocks noGrp="1"/>
          </p:cNvSpPr>
          <p:nvPr>
            <p:ph type="dt" sz="half" idx="10"/>
          </p:nvPr>
        </p:nvSpPr>
        <p:spPr/>
        <p:txBody>
          <a:bodyPr/>
          <a:lstStyle/>
          <a:p>
            <a:fld id="{9253FDDE-8D02-4099-B6E0-2366E3D799B6}"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6" name="Slide Number Placeholder 5">
            <a:extLst>
              <a:ext uri="{FF2B5EF4-FFF2-40B4-BE49-F238E27FC236}">
                <a16:creationId xmlns:a16="http://schemas.microsoft.com/office/drawing/2014/main" id="{A11EEFEE-AE30-528E-DD43-652759B4319C}"/>
              </a:ext>
            </a:extLst>
          </p:cNvPr>
          <p:cNvSpPr>
            <a:spLocks noGrp="1"/>
          </p:cNvSpPr>
          <p:nvPr>
            <p:ph type="sldNum" sz="quarter" idx="12"/>
          </p:nvPr>
        </p:nvSpPr>
        <p:spPr>
          <a:xfrm>
            <a:off x="8610600" y="6356350"/>
            <a:ext cx="2657622" cy="365125"/>
          </a:xfrm>
        </p:spPr>
        <p:txBody>
          <a:bodyPr/>
          <a:lstStyle/>
          <a:p>
            <a:fld id="{06FEDF93-2BFD-41CA-ABC7-B039102F3792}" type="slidenum">
              <a:rPr lang="en-US" smtClean="0">
                <a:latin typeface="Times New Roman" panose="02020603050405020304" pitchFamily="18" charset="0"/>
                <a:cs typeface="Times New Roman" panose="02020603050405020304" pitchFamily="18" charset="0"/>
              </a:rPr>
              <a:t>27</a:t>
            </a:fld>
            <a:endParaRPr lang="en-US" dirty="0">
              <a:latin typeface="Times New Roman" panose="02020603050405020304" pitchFamily="18" charset="0"/>
              <a:cs typeface="Times New Roman" panose="02020603050405020304" pitchFamily="18" charset="0"/>
            </a:endParaRPr>
          </a:p>
        </p:txBody>
      </p:sp>
      <p:sp>
        <p:nvSpPr>
          <p:cNvPr id="7" name="Footer Placeholder 6">
            <a:extLst>
              <a:ext uri="{FF2B5EF4-FFF2-40B4-BE49-F238E27FC236}">
                <a16:creationId xmlns:a16="http://schemas.microsoft.com/office/drawing/2014/main" id="{0C9E8F60-C2B4-996E-62E4-81E52FC1891B}"/>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3528413425"/>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4A5B2-1805-FF60-4115-317E2A972095}"/>
              </a:ext>
            </a:extLst>
          </p:cNvPr>
          <p:cNvSpPr txBox="1">
            <a:spLocks/>
          </p:cNvSpPr>
          <p:nvPr/>
        </p:nvSpPr>
        <p:spPr>
          <a:xfrm>
            <a:off x="228600" y="222342"/>
            <a:ext cx="11734800" cy="7201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chemeClr val="tx1">
                    <a:lumMod val="75000"/>
                    <a:lumOff val="25000"/>
                  </a:schemeClr>
                </a:solidFill>
                <a:latin typeface="Times New Roman" panose="02020603050405020304" pitchFamily="18" charset="0"/>
                <a:cs typeface="Times New Roman" panose="02020603050405020304" pitchFamily="18" charset="0"/>
              </a:rPr>
              <a:t>REFERENCES</a:t>
            </a:r>
            <a:br>
              <a:rPr lang="en-US" sz="2800" dirty="0">
                <a:solidFill>
                  <a:schemeClr val="tx1">
                    <a:lumMod val="75000"/>
                    <a:lumOff val="25000"/>
                  </a:schemeClr>
                </a:solidFill>
              </a:rPr>
            </a:br>
            <a:endParaRPr lang="en-US" sz="2800" dirty="0">
              <a:solidFill>
                <a:schemeClr val="tx1">
                  <a:lumMod val="75000"/>
                  <a:lumOff val="25000"/>
                </a:schemeClr>
              </a:solidFill>
            </a:endParaRPr>
          </a:p>
        </p:txBody>
      </p:sp>
      <p:cxnSp>
        <p:nvCxnSpPr>
          <p:cNvPr id="3" name="Straight Connector 2">
            <a:extLst>
              <a:ext uri="{FF2B5EF4-FFF2-40B4-BE49-F238E27FC236}">
                <a16:creationId xmlns:a16="http://schemas.microsoft.com/office/drawing/2014/main" id="{60A7270A-0411-EA02-8EC4-E56F30A4F49F}"/>
              </a:ext>
              <a:ext uri="{C183D7F6-B498-43B3-948B-1728B52AA6E4}">
                <adec:decorative xmlns:adec="http://schemas.microsoft.com/office/drawing/2017/decorative" val="1"/>
              </a:ext>
            </a:extLst>
          </p:cNvPr>
          <p:cNvCxnSpPr>
            <a:cxnSpLocks/>
          </p:cNvCxnSpPr>
          <p:nvPr/>
        </p:nvCxnSpPr>
        <p:spPr>
          <a:xfrm>
            <a:off x="407964" y="42681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469D114-61FD-DCE5-C7BE-7567B9C05C22}"/>
              </a:ext>
              <a:ext uri="{C183D7F6-B498-43B3-948B-1728B52AA6E4}">
                <adec:decorative xmlns:adec="http://schemas.microsoft.com/office/drawing/2017/decorative" val="1"/>
              </a:ext>
            </a:extLst>
          </p:cNvPr>
          <p:cNvCxnSpPr>
            <a:cxnSpLocks/>
          </p:cNvCxnSpPr>
          <p:nvPr/>
        </p:nvCxnSpPr>
        <p:spPr>
          <a:xfrm>
            <a:off x="7553619" y="42681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A9949CAB-4986-1720-BE50-05C8CF9591DF}"/>
              </a:ext>
            </a:extLst>
          </p:cNvPr>
          <p:cNvSpPr/>
          <p:nvPr/>
        </p:nvSpPr>
        <p:spPr>
          <a:xfrm>
            <a:off x="407964" y="942539"/>
            <a:ext cx="11555436" cy="502216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just"/>
            <a:r>
              <a:rPr lang="en-US" sz="2000" i="0" dirty="0">
                <a:solidFill>
                  <a:schemeClr val="tx1"/>
                </a:solidFill>
                <a:effectLst/>
                <a:latin typeface="Times New Roman" panose="02020603050405020304" pitchFamily="18" charset="0"/>
                <a:cs typeface="Times New Roman" panose="02020603050405020304" pitchFamily="18" charset="0"/>
              </a:rPr>
              <a:t>[10]</a:t>
            </a:r>
            <a:r>
              <a:rPr lang="en-US" sz="200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Polepaka</a:t>
            </a:r>
            <a:r>
              <a:rPr lang="en-US" sz="200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Sanjeeva</a:t>
            </a:r>
            <a:r>
              <a:rPr lang="en-US" sz="200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Ch Srinivasa Rao, and M. Chandra Mohan. “IDSS-based two stage classification of brain tumor using SVM.” </a:t>
            </a:r>
            <a:r>
              <a:rPr lang="en-US" sz="2000" i="1"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Health and Technology</a:t>
            </a:r>
            <a:r>
              <a:rPr lang="en-US" sz="200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10, no. 1 (2020): 249-258.</a:t>
            </a:r>
            <a:endParaRPr lang="en-US" sz="2000" dirty="0">
              <a:effectLst/>
              <a:latin typeface="Times New Roman" panose="02020603050405020304" pitchFamily="18" charset="0"/>
              <a:ea typeface="Calibri" panose="020F0502020204030204" pitchFamily="34" charset="0"/>
              <a:cs typeface="Times New Roman" panose="02020603050405020304" pitchFamily="18" charset="0"/>
            </a:endParaRPr>
          </a:p>
          <a:p>
            <a:pPr algn="just"/>
            <a:endParaRPr lang="en-US" sz="2000" i="0" strike="noStrike" dirty="0">
              <a:solidFill>
                <a:schemeClr val="tx1"/>
              </a:solidFill>
              <a:effectLst/>
              <a:latin typeface="Times New Roman" panose="02020603050405020304" pitchFamily="18" charset="0"/>
              <a:cs typeface="Times New Roman" panose="02020603050405020304" pitchFamily="18" charset="0"/>
            </a:endParaRPr>
          </a:p>
          <a:p>
            <a:pPr algn="just"/>
            <a:r>
              <a:rPr lang="en-US" sz="2000" dirty="0">
                <a:solidFill>
                  <a:schemeClr val="tx1"/>
                </a:solidFill>
                <a:latin typeface="Times New Roman" panose="02020603050405020304" pitchFamily="18" charset="0"/>
                <a:cs typeface="Times New Roman" panose="02020603050405020304" pitchFamily="18" charset="0"/>
              </a:rPr>
              <a:t>[11]</a:t>
            </a:r>
            <a:r>
              <a:rPr lang="en-US" sz="2000" kern="0" dirty="0">
                <a:solidFill>
                  <a:srgbClr val="000000"/>
                </a:solidFill>
                <a:effectLst/>
                <a:highlight>
                  <a:srgbClr val="FFFFFF"/>
                </a:highlight>
                <a:latin typeface="Times New Roman" panose="02020603050405020304" pitchFamily="18" charset="0"/>
                <a:ea typeface="Calibri" panose="020F0502020204030204" pitchFamily="34" charset="0"/>
              </a:rPr>
              <a:t> </a:t>
            </a:r>
            <a:r>
              <a:rPr lang="en-US" sz="2000" kern="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Hamid, Marwan A. A. and </a:t>
            </a:r>
            <a:r>
              <a:rPr lang="en-US" sz="2000" kern="0" dirty="0" err="1">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Najeed</a:t>
            </a:r>
            <a:r>
              <a:rPr lang="en-US" sz="2000" kern="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Ahmed Khan. “Investigation and Classification of MRI Brain Tumors Using Feature Extraction Technique.” </a:t>
            </a:r>
            <a:r>
              <a:rPr lang="en-US" sz="2000" i="1" kern="0" dirty="0">
                <a:effectLst/>
                <a:latin typeface="Times New Roman" panose="02020603050405020304" pitchFamily="18" charset="0"/>
                <a:ea typeface="Calibri" panose="020F0502020204030204" pitchFamily="34" charset="0"/>
                <a:cs typeface="Times New Roman" panose="02020603050405020304" pitchFamily="18" charset="0"/>
              </a:rPr>
              <a:t>Journal of Medical and Biological Engineering</a:t>
            </a:r>
            <a:r>
              <a:rPr lang="en-US" sz="2000" kern="0" dirty="0">
                <a:solidFill>
                  <a:srgbClr val="000000"/>
                </a:solidFill>
                <a:effectLst/>
                <a:highlight>
                  <a:srgbClr val="FFFFFF"/>
                </a:highlight>
                <a:latin typeface="Times New Roman" panose="02020603050405020304" pitchFamily="18" charset="0"/>
                <a:ea typeface="Calibri" panose="020F0502020204030204" pitchFamily="34" charset="0"/>
                <a:cs typeface="Times New Roman" panose="02020603050405020304" pitchFamily="18" charset="0"/>
              </a:rPr>
              <a:t> 40 (2020): 307-317.</a:t>
            </a:r>
          </a:p>
          <a:p>
            <a:pPr algn="just"/>
            <a:endParaRPr lang="en-US" sz="2000" dirty="0">
              <a:solidFill>
                <a:schemeClr val="tx1"/>
              </a:solidFill>
              <a:latin typeface="Times New Roman" panose="02020603050405020304" pitchFamily="18" charset="0"/>
              <a:cs typeface="Times New Roman" panose="02020603050405020304" pitchFamily="18" charset="0"/>
            </a:endParaRPr>
          </a:p>
          <a:p>
            <a:pPr algn="just"/>
            <a:r>
              <a:rPr lang="en-US" sz="2000" dirty="0">
                <a:solidFill>
                  <a:schemeClr val="tx1"/>
                </a:solidFill>
                <a:latin typeface="Times New Roman" panose="02020603050405020304" pitchFamily="18" charset="0"/>
                <a:cs typeface="Times New Roman" panose="02020603050405020304" pitchFamily="18" charset="0"/>
              </a:rPr>
              <a:t>[12]</a:t>
            </a:r>
            <a:r>
              <a:rPr lang="en-US" sz="2000" kern="0" dirty="0">
                <a:effectLst/>
                <a:latin typeface="Times New Roman" panose="02020603050405020304" pitchFamily="18" charset="0"/>
                <a:ea typeface="Calibri" panose="020F0502020204030204" pitchFamily="34" charset="0"/>
              </a:rPr>
              <a:t> M. Y. B. Murthy, A. </a:t>
            </a:r>
            <a:r>
              <a:rPr lang="en-US" sz="2000" kern="0" dirty="0" err="1">
                <a:effectLst/>
                <a:latin typeface="Times New Roman" panose="02020603050405020304" pitchFamily="18" charset="0"/>
                <a:ea typeface="Calibri" panose="020F0502020204030204" pitchFamily="34" charset="0"/>
              </a:rPr>
              <a:t>Koteswararao</a:t>
            </a:r>
            <a:r>
              <a:rPr lang="en-US" sz="2000" kern="0" dirty="0">
                <a:effectLst/>
                <a:latin typeface="Times New Roman" panose="02020603050405020304" pitchFamily="18" charset="0"/>
                <a:ea typeface="Calibri" panose="020F0502020204030204" pitchFamily="34" charset="0"/>
              </a:rPr>
              <a:t>, and M. S. Babu, “Adaptive fuzzy deformable fusion and optimized CNN with ensemble classification for automated brain tumor diagnosis,” </a:t>
            </a:r>
            <a:r>
              <a:rPr lang="en-US" sz="2000" i="1" kern="0" dirty="0">
                <a:effectLst/>
                <a:latin typeface="Times New Roman" panose="02020603050405020304" pitchFamily="18" charset="0"/>
                <a:ea typeface="Calibri" panose="020F0502020204030204" pitchFamily="34" charset="0"/>
              </a:rPr>
              <a:t>Biomed. Eng. Lett.,</a:t>
            </a:r>
            <a:r>
              <a:rPr lang="en-US" sz="2000" kern="0" dirty="0">
                <a:effectLst/>
                <a:latin typeface="Times New Roman" panose="02020603050405020304" pitchFamily="18" charset="0"/>
                <a:ea typeface="Calibri" panose="020F0502020204030204" pitchFamily="34" charset="0"/>
              </a:rPr>
              <a:t> vol. 12, no. 1,pp. 37_58, Feb.2.</a:t>
            </a:r>
          </a:p>
          <a:p>
            <a:pPr algn="just"/>
            <a:endParaRPr lang="en-US" sz="2000" dirty="0">
              <a:latin typeface="Times New Roman" panose="02020603050405020304" pitchFamily="18" charset="0"/>
              <a:cs typeface="Times New Roman" panose="02020603050405020304" pitchFamily="18" charset="0"/>
            </a:endParaRPr>
          </a:p>
          <a:p>
            <a:pPr algn="just"/>
            <a:endParaRPr lang="en-US" sz="2000" dirty="0">
              <a:solidFill>
                <a:schemeClr val="tx1"/>
              </a:solidFill>
              <a:latin typeface="Times New Roman" panose="02020603050405020304" pitchFamily="18" charset="0"/>
              <a:cs typeface="Times New Roman" panose="02020603050405020304" pitchFamily="18" charset="0"/>
            </a:endParaRPr>
          </a:p>
          <a:p>
            <a:pPr algn="just"/>
            <a:endParaRPr lang="en-US" sz="2000" dirty="0">
              <a:solidFill>
                <a:schemeClr val="tx1"/>
              </a:solidFill>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9C38BA05-A3B1-4768-C893-16D1C3E1B9C5}"/>
              </a:ext>
            </a:extLst>
          </p:cNvPr>
          <p:cNvSpPr>
            <a:spLocks noGrp="1"/>
          </p:cNvSpPr>
          <p:nvPr>
            <p:ph type="dt" sz="half" idx="10"/>
          </p:nvPr>
        </p:nvSpPr>
        <p:spPr/>
        <p:txBody>
          <a:bodyPr/>
          <a:lstStyle/>
          <a:p>
            <a:fld id="{FFC9EAAA-F368-4C79-8248-CD348B24CF57}"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6" name="Slide Number Placeholder 5">
            <a:extLst>
              <a:ext uri="{FF2B5EF4-FFF2-40B4-BE49-F238E27FC236}">
                <a16:creationId xmlns:a16="http://schemas.microsoft.com/office/drawing/2014/main" id="{00BCF154-6E16-98CC-BE49-1D9BDE00DF13}"/>
              </a:ext>
            </a:extLst>
          </p:cNvPr>
          <p:cNvSpPr>
            <a:spLocks noGrp="1"/>
          </p:cNvSpPr>
          <p:nvPr>
            <p:ph type="sldNum" sz="quarter" idx="12"/>
          </p:nvPr>
        </p:nvSpPr>
        <p:spPr/>
        <p:txBody>
          <a:bodyPr/>
          <a:lstStyle/>
          <a:p>
            <a:fld id="{06FEDF93-2BFD-41CA-ABC7-B039102F3792}" type="slidenum">
              <a:rPr lang="en-US" smtClean="0">
                <a:latin typeface="Times New Roman" panose="02020603050405020304" pitchFamily="18" charset="0"/>
                <a:cs typeface="Times New Roman" panose="02020603050405020304" pitchFamily="18" charset="0"/>
              </a:rPr>
              <a:t>28</a:t>
            </a:fld>
            <a:endParaRPr lang="en-US" dirty="0">
              <a:latin typeface="Times New Roman" panose="02020603050405020304" pitchFamily="18" charset="0"/>
              <a:cs typeface="Times New Roman" panose="02020603050405020304" pitchFamily="18" charset="0"/>
            </a:endParaRPr>
          </a:p>
        </p:txBody>
      </p:sp>
      <p:sp>
        <p:nvSpPr>
          <p:cNvPr id="7" name="Footer Placeholder 6">
            <a:extLst>
              <a:ext uri="{FF2B5EF4-FFF2-40B4-BE49-F238E27FC236}">
                <a16:creationId xmlns:a16="http://schemas.microsoft.com/office/drawing/2014/main" id="{3B45675A-B2BF-A1F5-FA91-7C86DE2B6901}"/>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908487395"/>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F54FB8-36A0-3498-1FD0-1377ED3EF1C1}"/>
              </a:ext>
            </a:extLst>
          </p:cNvPr>
          <p:cNvSpPr txBox="1"/>
          <p:nvPr/>
        </p:nvSpPr>
        <p:spPr>
          <a:xfrm>
            <a:off x="3249637" y="2764246"/>
            <a:ext cx="4572000" cy="923330"/>
          </a:xfrm>
          <a:prstGeom prst="rect">
            <a:avLst/>
          </a:prstGeom>
          <a:noFill/>
        </p:spPr>
        <p:txBody>
          <a:bodyPr wrap="square" rtlCol="0">
            <a:spAutoFit/>
          </a:bodyPr>
          <a:lstStyle/>
          <a:p>
            <a:r>
              <a:rPr lang="en-US" sz="5400" b="1" dirty="0">
                <a:latin typeface="Times New Roman" panose="02020603050405020304" pitchFamily="18" charset="0"/>
                <a:cs typeface="Times New Roman" panose="02020603050405020304" pitchFamily="18" charset="0"/>
              </a:rPr>
              <a:t>THANK YOU</a:t>
            </a:r>
          </a:p>
        </p:txBody>
      </p:sp>
      <p:sp>
        <p:nvSpPr>
          <p:cNvPr id="2" name="Date Placeholder 1">
            <a:extLst>
              <a:ext uri="{FF2B5EF4-FFF2-40B4-BE49-F238E27FC236}">
                <a16:creationId xmlns:a16="http://schemas.microsoft.com/office/drawing/2014/main" id="{C691C868-FA3C-53A0-EABF-1F7B3BE33D19}"/>
              </a:ext>
            </a:extLst>
          </p:cNvPr>
          <p:cNvSpPr>
            <a:spLocks noGrp="1"/>
          </p:cNvSpPr>
          <p:nvPr>
            <p:ph type="dt" sz="half" idx="10"/>
          </p:nvPr>
        </p:nvSpPr>
        <p:spPr/>
        <p:txBody>
          <a:bodyPr/>
          <a:lstStyle/>
          <a:p>
            <a:fld id="{E07CC0D8-AC75-45EE-8CEB-4CD53CF5AB23}" type="datetime1">
              <a:rPr lang="en-US" smtClean="0">
                <a:latin typeface="Times New Roman" panose="02020603050405020304" pitchFamily="18" charset="0"/>
                <a:cs typeface="Times New Roman" panose="02020603050405020304" pitchFamily="18" charset="0"/>
              </a:rPr>
              <a:t>1/18/2026</a:t>
            </a:fld>
            <a:endParaRPr lang="en-US"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D0835BA-EE7D-4993-C55D-EDBB17F71CEA}"/>
              </a:ext>
            </a:extLst>
          </p:cNvPr>
          <p:cNvSpPr>
            <a:spLocks noGrp="1"/>
          </p:cNvSpPr>
          <p:nvPr>
            <p:ph type="sldNum" sz="quarter" idx="12"/>
          </p:nvPr>
        </p:nvSpPr>
        <p:spPr/>
        <p:txBody>
          <a:bodyPr/>
          <a:lstStyle/>
          <a:p>
            <a:fld id="{06FEDF93-2BFD-41CA-ABC7-B039102F3792}" type="slidenum">
              <a:rPr lang="en-US" smtClean="0">
                <a:latin typeface="Times New Roman" panose="02020603050405020304" pitchFamily="18" charset="0"/>
                <a:cs typeface="Times New Roman" panose="02020603050405020304" pitchFamily="18" charset="0"/>
              </a:rPr>
              <a:t>29</a:t>
            </a:fld>
            <a:endParaRPr lang="en-US" dirty="0">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D75ECE3E-374C-5DC3-DC55-FDB7FF123F21}"/>
              </a:ext>
            </a:extLst>
          </p:cNvPr>
          <p:cNvSpPr>
            <a:spLocks noGrp="1"/>
          </p:cNvSpPr>
          <p:nvPr>
            <p:ph type="ftr" sz="quarter" idx="11"/>
          </p:nvPr>
        </p:nvSpPr>
        <p:spPr/>
        <p:txBody>
          <a:bodyPr/>
          <a:lstStyle/>
          <a:p>
            <a:r>
              <a:rPr lang="en-US"/>
              <a:t>MULTIMODAL   SOCIAL MEDIA CLASSIFICATION FOR DISASTER RESPONSE UTILIZING CLIP-BASED DEEP  FUSION    Nabila Ferdous ID:2010035</a:t>
            </a:r>
            <a:endParaRPr lang="en-US" dirty="0"/>
          </a:p>
        </p:txBody>
      </p:sp>
    </p:spTree>
    <p:extLst>
      <p:ext uri="{BB962C8B-B14F-4D97-AF65-F5344CB8AC3E}">
        <p14:creationId xmlns:p14="http://schemas.microsoft.com/office/powerpoint/2010/main" val="4259545081"/>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Office Theme">
  <a:themeElements>
    <a:clrScheme name="Custom 73">
      <a:dk1>
        <a:srgbClr val="000000"/>
      </a:dk1>
      <a:lt1>
        <a:sysClr val="window" lastClr="FFFFFF"/>
      </a:lt1>
      <a:dk2>
        <a:srgbClr val="585858"/>
      </a:dk2>
      <a:lt2>
        <a:srgbClr val="E3E3E3"/>
      </a:lt2>
      <a:accent1>
        <a:srgbClr val="E20613"/>
      </a:accent1>
      <a:accent2>
        <a:srgbClr val="A9C038"/>
      </a:accent2>
      <a:accent3>
        <a:srgbClr val="11AEC7"/>
      </a:accent3>
      <a:accent4>
        <a:srgbClr val="F59F26"/>
      </a:accent4>
      <a:accent5>
        <a:srgbClr val="0062A9"/>
      </a:accent5>
      <a:accent6>
        <a:srgbClr val="EB6047"/>
      </a:accent6>
      <a:hlink>
        <a:srgbClr val="8ED9F6"/>
      </a:hlink>
      <a:folHlink>
        <a:srgbClr val="C00000"/>
      </a:folHlink>
    </a:clrScheme>
    <a:fontScheme name="Modern 01">
      <a:majorFont>
        <a:latin typeface="Century Gothic"/>
        <a:ea typeface=""/>
        <a:cs typeface=""/>
      </a:majorFont>
      <a:minorFont>
        <a:latin typeface="Segoe U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78455520_Project analysis, from 24Slides_SL_V1.potx" id="{55E7247F-78B2-40DB-9AFE-D4DD42FA8F09}" vid="{22E2FD65-A32D-4798-AF43-CE42F250BDD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F609EDA-869E-4BE5-AE5D-B898C584B6FF}">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2FD05317-60D6-4B3A-8545-888496D1A8EC}">
  <ds:schemaRefs>
    <ds:schemaRef ds:uri="http://schemas.microsoft.com/sharepoint/v3/contenttype/forms"/>
  </ds:schemaRefs>
</ds:datastoreItem>
</file>

<file path=customXml/itemProps3.xml><?xml version="1.0" encoding="utf-8"?>
<ds:datastoreItem xmlns:ds="http://schemas.openxmlformats.org/officeDocument/2006/customXml" ds:itemID="{61A00BBF-EEBB-4E18-B8CB-F926EAAC48F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Project analysis, from 24Slides</Template>
  <TotalTime>4595</TotalTime>
  <Words>3228</Words>
  <Application>Microsoft Office PowerPoint</Application>
  <PresentationFormat>Widescreen</PresentationFormat>
  <Paragraphs>317</Paragraphs>
  <Slides>29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29</vt:i4>
      </vt:variant>
    </vt:vector>
  </HeadingPairs>
  <TitlesOfParts>
    <vt:vector size="37" baseType="lpstr">
      <vt:lpstr>Arial</vt:lpstr>
      <vt:lpstr>Calibri</vt:lpstr>
      <vt:lpstr>Century Gothic</vt:lpstr>
      <vt:lpstr>Palatino Linotype</vt:lpstr>
      <vt:lpstr>Segoe UI Light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HP</dc:creator>
  <cp:lastModifiedBy>Nabila Ferdous</cp:lastModifiedBy>
  <cp:revision>216</cp:revision>
  <dcterms:created xsi:type="dcterms:W3CDTF">2023-10-12T15:11:08Z</dcterms:created>
  <dcterms:modified xsi:type="dcterms:W3CDTF">2026-01-18T13:07:23Z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