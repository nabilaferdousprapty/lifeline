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88" r:id="rId5"/>
    <p:sldId id="289" r:id="rId6"/>
    <p:sldId id="299" r:id="rId7"/>
    <p:sldId id="337" r:id="rId8"/>
    <p:sldId id="292" r:id="rId9"/>
    <p:sldId id="314" r:id="rId10"/>
    <p:sldId id="338" r:id="rId11"/>
    <p:sldId id="291" r:id="rId12"/>
    <p:sldId id="307" r:id="rId13"/>
    <p:sldId id="308" r:id="rId14"/>
    <p:sldId id="310" r:id="rId15"/>
    <p:sldId id="312" r:id="rId16"/>
    <p:sldId id="303" r:id="rId17"/>
    <p:sldId id="293" r:id="rId18"/>
    <p:sldId id="294" r:id="rId19"/>
    <p:sldId id="315" r:id="rId20"/>
    <p:sldId id="316" r:id="rId21"/>
    <p:sldId id="295" r:id="rId22"/>
    <p:sldId id="317" r:id="rId23"/>
    <p:sldId id="319" r:id="rId24"/>
    <p:sldId id="320" r:id="rId25"/>
    <p:sldId id="321" r:id="rId26"/>
    <p:sldId id="323" r:id="rId27"/>
    <p:sldId id="327" r:id="rId28"/>
    <p:sldId id="328" r:id="rId29"/>
    <p:sldId id="329" r:id="rId30"/>
    <p:sldId id="325" r:id="rId31"/>
    <p:sldId id="331" r:id="rId32"/>
    <p:sldId id="333" r:id="rId33"/>
    <p:sldId id="334" r:id="rId34"/>
    <p:sldId id="332" r:id="rId35"/>
    <p:sldId id="296" r:id="rId36"/>
    <p:sldId id="298" r:id="rId37"/>
    <p:sldId id="302" r:id="rId38"/>
    <p:sldId id="336" r:id="rId39"/>
    <p:sldId id="31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0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splitting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AF1-4495-91AF-4C26260ECAC8}"/>
              </c:ext>
            </c:extLst>
          </c:dPt>
          <c:dPt>
            <c:idx val="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AF1-4495-91AF-4C26260ECAC8}"/>
              </c:ext>
            </c:extLst>
          </c:dPt>
          <c:dLbls>
            <c:dLbl>
              <c:idx val="0"/>
              <c:layout>
                <c:manualLayout>
                  <c:x val="-0.2298832819598024"/>
                  <c:y val="-0.2170324679541194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b="1" dirty="0"/>
                      <a:t>80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992223237921723"/>
                      <c:h val="0.14734902185307597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FAF1-4495-91AF-4C26260ECAC8}"/>
                </c:ext>
              </c:extLst>
            </c:dLbl>
            <c:dLbl>
              <c:idx val="1"/>
              <c:layout>
                <c:manualLayout>
                  <c:x val="0.10124508124080557"/>
                  <c:y val="0.1521175307446661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7F1A9B2-660C-4683-B336-87C6BF3067F1}" type="VALUE">
                      <a:rPr lang="en-US" sz="18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/>
                      </a:pPr>
                      <a:t>[VALUE]</a:t>
                    </a:fld>
                    <a:r>
                      <a: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1300512635731745E-2"/>
                      <c:h val="6.071087747082310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AF1-4495-91AF-4C26260ECA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Training Data</c:v>
                </c:pt>
                <c:pt idx="1">
                  <c:v>Testing Data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F1-4495-91AF-4C26260EC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DDACAA-A588-4D1C-5DCC-E5561B19AC7C}"/>
              </a:ext>
            </a:extLst>
          </p:cNvPr>
          <p:cNvSpPr/>
          <p:nvPr/>
        </p:nvSpPr>
        <p:spPr>
          <a:xfrm>
            <a:off x="1168031" y="992626"/>
            <a:ext cx="94449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algn="ctr"/>
            <a:r>
              <a:rPr lang="en-US" sz="2400" b="1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MULTIMODAL   SOCIAL MEDIA CLASSIFICATION FOR DISASTER RESPONSE UTILIZING CLIP-BASED DEEP  FUSION</a:t>
            </a:r>
            <a:endParaRPr lang="en-US" sz="240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sz="2400" dirty="0"/>
          </a:p>
        </p:txBody>
      </p:sp>
      <p:sp>
        <p:nvSpPr>
          <p:cNvPr id="6" name="Google Shape;93;p1">
            <a:extLst>
              <a:ext uri="{FF2B5EF4-FFF2-40B4-BE49-F238E27FC236}">
                <a16:creationId xmlns:a16="http://schemas.microsoft.com/office/drawing/2014/main" id="{9885751C-8CD1-A7BB-1683-464F3EF4B4A9}"/>
              </a:ext>
            </a:extLst>
          </p:cNvPr>
          <p:cNvSpPr txBox="1"/>
          <p:nvPr/>
        </p:nvSpPr>
        <p:spPr>
          <a:xfrm>
            <a:off x="1168031" y="3088974"/>
            <a:ext cx="574232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Nabila Ferdous </a:t>
            </a:r>
            <a:endParaRPr lang="en-US" sz="20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2010035</a:t>
            </a:r>
          </a:p>
          <a:p>
            <a:pPr marL="0" lvl="1"/>
            <a:r>
              <a:rPr lang="en-US" sz="2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Dept. Of ECE, RUET</a:t>
            </a:r>
            <a:endParaRPr lang="en-US" sz="2000" b="0" i="0" u="none" strike="noStrike" cap="none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F95DC-90B2-171C-55BA-ADD306FF6A16}"/>
              </a:ext>
            </a:extLst>
          </p:cNvPr>
          <p:cNvSpPr/>
          <p:nvPr/>
        </p:nvSpPr>
        <p:spPr>
          <a:xfrm>
            <a:off x="3361705" y="2116704"/>
            <a:ext cx="50576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Thesis/Project-I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ECE 4000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F7EE16BB-2F0D-FE3A-5840-222CD6EBEF02}"/>
              </a:ext>
            </a:extLst>
          </p:cNvPr>
          <p:cNvSpPr txBox="1"/>
          <p:nvPr/>
        </p:nvSpPr>
        <p:spPr>
          <a:xfrm>
            <a:off x="8244192" y="3008195"/>
            <a:ext cx="263857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Supervised by:</a:t>
            </a:r>
            <a:endParaRPr lang="en-US" sz="2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Moloy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Kumar Ghosh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Lecturer</a:t>
            </a:r>
            <a:r>
              <a:rPr lang="en-US" sz="2000" b="0" i="0" u="none" strike="noStrike" cap="none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Dept. Of ECE, RUET</a:t>
            </a:r>
            <a:endParaRPr lang="en-US" sz="2000" b="0" i="0" u="none" strike="noStrike" cap="none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9A7B7-4939-DB96-D69D-BE9C8DED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10C2E-49EC-8EE6-BEE5-BA6A62CC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Google Shape;89;p1" descr="Rajshahi University of Engineering &amp;amp; Technology - Wikipedia">
            <a:extLst>
              <a:ext uri="{FF2B5EF4-FFF2-40B4-BE49-F238E27FC236}">
                <a16:creationId xmlns:a16="http://schemas.microsoft.com/office/drawing/2014/main" id="{A615E6E3-1C15-C615-9BB9-8B7409829D9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34561" y="4813954"/>
            <a:ext cx="864033" cy="100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8D95A4-FD6F-A6C6-358A-FC592764AD48}"/>
              </a:ext>
            </a:extLst>
          </p:cNvPr>
          <p:cNvSpPr txBox="1"/>
          <p:nvPr/>
        </p:nvSpPr>
        <p:spPr>
          <a:xfrm>
            <a:off x="3957243" y="5865333"/>
            <a:ext cx="44620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Palatino Linotype" panose="020405020505050303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</a:t>
            </a:r>
            <a:r>
              <a:rPr lang="en-US" sz="1200" b="1" u="none" strike="noStrike" cap="none" dirty="0">
                <a:latin typeface="Palatino Linotype" panose="020405020505050303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Electrical &amp; Computer Engineering</a:t>
            </a:r>
          </a:p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 cap="none" dirty="0" err="1">
                <a:latin typeface="Palatino Linotype" panose="020405020505050303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Rajshahi</a:t>
            </a:r>
            <a:r>
              <a:rPr lang="en-US" sz="1200" b="1" u="none" strike="noStrike" cap="none" dirty="0">
                <a:latin typeface="Palatino Linotype" panose="020405020505050303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University of Engineering &amp; Technology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6B431-A8E5-883B-1A06-780A4B250DE4}"/>
              </a:ext>
            </a:extLst>
          </p:cNvPr>
          <p:cNvSpPr txBox="1"/>
          <p:nvPr/>
        </p:nvSpPr>
        <p:spPr>
          <a:xfrm>
            <a:off x="5304430" y="4561342"/>
            <a:ext cx="16464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latin typeface="Palatino Linotype" panose="020405020505050303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Heavens Light is our Guide</a:t>
            </a:r>
          </a:p>
        </p:txBody>
      </p:sp>
    </p:spTree>
    <p:extLst>
      <p:ext uri="{BB962C8B-B14F-4D97-AF65-F5344CB8AC3E}">
        <p14:creationId xmlns:p14="http://schemas.microsoft.com/office/powerpoint/2010/main" val="201988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EB33B9-BBD0-C835-00B1-7D1AF7075852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7EC21D-0D53-8BBF-9665-B4B1E3C0C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396289"/>
            <a:ext cx="417458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7EB276-E0F3-485A-8AEA-3E5E57486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7175" y="39628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E491771-0A60-4000-EC9B-A15A952B4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3409" y="1368961"/>
            <a:ext cx="605815" cy="55128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D6CA85-35E7-4945-CAED-40727C5C6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8356" y="2295764"/>
            <a:ext cx="605814" cy="55128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BF8CA6-3FA0-8E5C-691A-B9D3BBA4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8357" y="4942233"/>
            <a:ext cx="605815" cy="55128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74416D-987D-02A2-0381-3CE2001C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8356" y="4042779"/>
            <a:ext cx="605815" cy="55128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079A31-0F44-8561-CC96-13D44ABF6E4F}"/>
              </a:ext>
            </a:extLst>
          </p:cNvPr>
          <p:cNvSpPr/>
          <p:nvPr/>
        </p:nvSpPr>
        <p:spPr>
          <a:xfrm>
            <a:off x="1941342" y="1347283"/>
            <a:ext cx="2039816" cy="623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CFC5CA-F4F7-DD84-76B9-C36BB6AD818C}"/>
              </a:ext>
            </a:extLst>
          </p:cNvPr>
          <p:cNvSpPr/>
          <p:nvPr/>
        </p:nvSpPr>
        <p:spPr>
          <a:xfrm>
            <a:off x="1914379" y="3105679"/>
            <a:ext cx="2658793" cy="785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AA688F-D2E0-93CA-B607-A7DB8E6DBF94}"/>
              </a:ext>
            </a:extLst>
          </p:cNvPr>
          <p:cNvSpPr/>
          <p:nvPr/>
        </p:nvSpPr>
        <p:spPr>
          <a:xfrm>
            <a:off x="1704171" y="4886928"/>
            <a:ext cx="1561514" cy="661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1918C-C797-B9D6-C7F3-D574568B0DE8}"/>
              </a:ext>
            </a:extLst>
          </p:cNvPr>
          <p:cNvSpPr/>
          <p:nvPr/>
        </p:nvSpPr>
        <p:spPr>
          <a:xfrm>
            <a:off x="6475106" y="2231814"/>
            <a:ext cx="2954216" cy="801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2C9689-9108-3B5E-BA6D-3C303E556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8479" y="2333182"/>
            <a:ext cx="589593" cy="53238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073999-E186-0541-2F2C-D309B2C31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4042" y="3222568"/>
            <a:ext cx="597618" cy="5512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65B0CF-53D5-9C27-3B48-87F9712A0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689" y="4042778"/>
            <a:ext cx="641174" cy="55128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480CCB-4A1D-BD62-0B5B-F1E1CB37D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3932" y="1409815"/>
            <a:ext cx="641174" cy="55128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7BC987-AA26-29C2-875B-2E1C7414F564}"/>
              </a:ext>
            </a:extLst>
          </p:cNvPr>
          <p:cNvSpPr/>
          <p:nvPr/>
        </p:nvSpPr>
        <p:spPr>
          <a:xfrm>
            <a:off x="6539854" y="1505741"/>
            <a:ext cx="1105937" cy="359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823AE-018D-AF20-2182-4BB3E25BF285}"/>
              </a:ext>
            </a:extLst>
          </p:cNvPr>
          <p:cNvSpPr/>
          <p:nvPr/>
        </p:nvSpPr>
        <p:spPr>
          <a:xfrm>
            <a:off x="6598689" y="3910792"/>
            <a:ext cx="1730326" cy="775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681C66-A656-5796-C14E-CF6470A6141A}"/>
              </a:ext>
            </a:extLst>
          </p:cNvPr>
          <p:cNvSpPr/>
          <p:nvPr/>
        </p:nvSpPr>
        <p:spPr>
          <a:xfrm>
            <a:off x="6718265" y="4897472"/>
            <a:ext cx="1491174" cy="669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774A9A-22D9-6705-FCA2-BFBDB6CCA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8356" y="3222568"/>
            <a:ext cx="605815" cy="55128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D716F5-E320-B5A2-4B78-6F9030E5BF99}"/>
              </a:ext>
            </a:extLst>
          </p:cNvPr>
          <p:cNvSpPr txBox="1"/>
          <p:nvPr/>
        </p:nvSpPr>
        <p:spPr>
          <a:xfrm>
            <a:off x="1914379" y="4151604"/>
            <a:ext cx="2349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B070D03-282A-4A0F-6EE8-1A62DC05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0F32316-7903-EDBA-2AAB-8A4DE4E5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BEBDD6-B02D-3D93-52B4-B01F1317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689" y="4966145"/>
            <a:ext cx="605815" cy="5318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1A9D8-6FD3-92FF-E971-63377EB3226D}"/>
              </a:ext>
            </a:extLst>
          </p:cNvPr>
          <p:cNvSpPr/>
          <p:nvPr/>
        </p:nvSpPr>
        <p:spPr>
          <a:xfrm>
            <a:off x="6613341" y="3137117"/>
            <a:ext cx="2375913" cy="801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F602D7-10A4-B898-984E-BA5C63FB6BA8}"/>
              </a:ext>
            </a:extLst>
          </p:cNvPr>
          <p:cNvSpPr txBox="1"/>
          <p:nvPr/>
        </p:nvSpPr>
        <p:spPr>
          <a:xfrm>
            <a:off x="1962606" y="2337907"/>
            <a:ext cx="175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89699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6" grpId="0" animBg="1"/>
      <p:bldP spid="7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" grpId="0" animBg="1"/>
      <p:bldP spid="22" grpId="0"/>
      <p:bldP spid="23" grpId="0" animBg="1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38222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7175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019681-6EFF-BF8C-1016-3C55FADF54A9}"/>
              </a:ext>
            </a:extLst>
          </p:cNvPr>
          <p:cNvSpPr txBox="1"/>
          <p:nvPr/>
        </p:nvSpPr>
        <p:spPr>
          <a:xfrm>
            <a:off x="4614203" y="342411"/>
            <a:ext cx="3137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F18A0D-BB9A-BBDD-C7E8-CC8B846B6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1327347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84B639-FC09-317F-9832-8E4781EEE89E}"/>
              </a:ext>
            </a:extLst>
          </p:cNvPr>
          <p:cNvSpPr txBox="1"/>
          <p:nvPr/>
        </p:nvSpPr>
        <p:spPr>
          <a:xfrm>
            <a:off x="1298917" y="1204918"/>
            <a:ext cx="10306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Impact of Disasters</a:t>
            </a:r>
            <a:r>
              <a:rPr lang="en-US" sz="2000" dirty="0"/>
              <a:t>: Natural catastrophes such as floods, earthquakes, and hurricanes result in widespread destruction of infrastructure and significant loss of human life.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5E9D70-9D0A-AC28-6024-A11A75D54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2226908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BF7909-CDB2-7A59-0A4F-973A491F5DE5}"/>
              </a:ext>
            </a:extLst>
          </p:cNvPr>
          <p:cNvSpPr txBox="1"/>
          <p:nvPr/>
        </p:nvSpPr>
        <p:spPr>
          <a:xfrm flipH="1">
            <a:off x="1272883" y="2183474"/>
            <a:ext cx="8900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Need for Rapid Assessment</a:t>
            </a:r>
            <a:r>
              <a:rPr lang="en-US" sz="2000" dirty="0"/>
              <a:t>: Following a disaster, immediate damage evaluation is critical for the effective coordination of search and rescue operations and the strategic allocation of emergency resources.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214026-6177-F636-59B3-50BB6473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3474971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76FD9-415A-D25C-276D-3C791DBEA443}"/>
              </a:ext>
            </a:extLst>
          </p:cNvPr>
          <p:cNvSpPr txBox="1"/>
          <p:nvPr/>
        </p:nvSpPr>
        <p:spPr>
          <a:xfrm>
            <a:off x="1298914" y="3350777"/>
            <a:ext cx="9711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Limitations of Manual Methods</a:t>
            </a:r>
            <a:r>
              <a:rPr lang="en-US" dirty="0"/>
              <a:t>: Traditional, manual procedures for assessing damage are frequently time-consuming, inefficient, and often impossible to implement safely in a crisis.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B693D-70A5-6387-9B19-5B27AC2E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9959B5-6F0B-9F75-2419-53630DDD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05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18A83-A5FE-1D69-81E2-9FE495D28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C3F2-BE97-E248-6DC3-3B5586C9AFAF}"/>
              </a:ext>
            </a:extLst>
          </p:cNvPr>
          <p:cNvSpPr txBox="1">
            <a:spLocks/>
          </p:cNvSpPr>
          <p:nvPr/>
        </p:nvSpPr>
        <p:spPr>
          <a:xfrm>
            <a:off x="228600" y="38222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F6E99F-034D-6D5E-D39F-CAED5A425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28600" y="573244"/>
            <a:ext cx="3998167" cy="19993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C74EA8-2A4C-1664-107A-A476E441C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968343" y="573244"/>
            <a:ext cx="3995057" cy="19993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40FAE4-B290-EA70-AB78-7D1C5AD97105}"/>
              </a:ext>
            </a:extLst>
          </p:cNvPr>
          <p:cNvSpPr txBox="1"/>
          <p:nvPr/>
        </p:nvSpPr>
        <p:spPr>
          <a:xfrm>
            <a:off x="4226767" y="342411"/>
            <a:ext cx="3741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INTRODUCTION(cont’d)</a:t>
            </a:r>
            <a:endParaRPr lang="en-US" sz="2400" b="1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84B89E-3622-B364-D64A-EA95EA3E3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1327347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A0572-E1D7-B784-FCF0-8BFCADDA4F11}"/>
              </a:ext>
            </a:extLst>
          </p:cNvPr>
          <p:cNvSpPr txBox="1"/>
          <p:nvPr/>
        </p:nvSpPr>
        <p:spPr>
          <a:xfrm>
            <a:off x="1298917" y="1204918"/>
            <a:ext cx="10306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Role of Social Media</a:t>
            </a:r>
            <a:r>
              <a:rPr lang="en-US" sz="2000" dirty="0"/>
              <a:t>: Digital platforms like Twitter have become essential sources for gathering real-time, ground-level information during emergencies.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B884BD-AC54-7C1F-4DF6-0B8DEDA0C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2226908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BBD04-EB8E-260D-C9E9-C297FB923A5E}"/>
              </a:ext>
            </a:extLst>
          </p:cNvPr>
          <p:cNvSpPr txBox="1"/>
          <p:nvPr/>
        </p:nvSpPr>
        <p:spPr>
          <a:xfrm flipH="1">
            <a:off x="1272883" y="2183474"/>
            <a:ext cx="8900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Complexity</a:t>
            </a:r>
            <a:r>
              <a:rPr lang="en-US" sz="2000" dirty="0"/>
              <a:t>: Information from social media is inherently heterogeneous, comprising a mix of text, images, and video content that requires sophisticated processing.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0718BD-5A96-EF6A-4C42-4C2C7BADB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3474971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AD0A1-B3F4-1BBF-1C72-963535C69907}"/>
              </a:ext>
            </a:extLst>
          </p:cNvPr>
          <p:cNvSpPr txBox="1"/>
          <p:nvPr/>
        </p:nvSpPr>
        <p:spPr>
          <a:xfrm>
            <a:off x="1298914" y="3350777"/>
            <a:ext cx="9711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Requirement for Automation</a:t>
            </a:r>
            <a:r>
              <a:rPr lang="en-US" dirty="0"/>
              <a:t>: To effectively process and utilize these diverse data streams, there is an urgent need for advanced, automated multimodal classification systems.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32C07-47D4-C2E3-83B0-AB110EF1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E934F0-B7C2-56F6-438C-0E748D5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1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7175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3331FD7-EFC6-F9C7-30D6-D2D9D4C4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6A28165-9100-1C11-7EED-EE41CDB7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99;p14" descr="image.png">
            <a:extLst>
              <a:ext uri="{FF2B5EF4-FFF2-40B4-BE49-F238E27FC236}">
                <a16:creationId xmlns:a16="http://schemas.microsoft.com/office/drawing/2014/main" id="{A99A4093-8B25-1CE6-0FF6-9E28A4F510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400175"/>
            <a:ext cx="5286375" cy="3300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0;p14">
            <a:extLst>
              <a:ext uri="{FF2B5EF4-FFF2-40B4-BE49-F238E27FC236}">
                <a16:creationId xmlns:a16="http://schemas.microsoft.com/office/drawing/2014/main" id="{A282FD78-8820-97DF-57ED-538F63FDB79B}"/>
              </a:ext>
            </a:extLst>
          </p:cNvPr>
          <p:cNvSpPr txBox="1"/>
          <p:nvPr/>
        </p:nvSpPr>
        <p:spPr>
          <a:xfrm>
            <a:off x="581025" y="1187988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Modern disaster informatics relies on real-time situational awareness. Social media platforms like X act as </a:t>
            </a: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ubiquitous sensor networks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1" name="Google Shape;101;p14" descr="image.png">
            <a:extLst>
              <a:ext uri="{FF2B5EF4-FFF2-40B4-BE49-F238E27FC236}">
                <a16:creationId xmlns:a16="http://schemas.microsoft.com/office/drawing/2014/main" id="{398FEBE6-9D3E-5652-DA72-F2E9376CF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3650" y="1409700"/>
            <a:ext cx="5267325" cy="3281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2;p14">
            <a:extLst>
              <a:ext uri="{FF2B5EF4-FFF2-40B4-BE49-F238E27FC236}">
                <a16:creationId xmlns:a16="http://schemas.microsoft.com/office/drawing/2014/main" id="{CC3FA49F-1A39-9EBC-24B3-ECAC38B78B21}"/>
              </a:ext>
            </a:extLst>
          </p:cNvPr>
          <p:cNvSpPr txBox="1"/>
          <p:nvPr/>
        </p:nvSpPr>
        <p:spPr>
          <a:xfrm>
            <a:off x="904875" y="2633662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Signal-to-Noise Ratio: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Millions of posts, but only a minute fraction contains "Actionable Information."</a:t>
            </a:r>
            <a:endParaRPr dirty="0"/>
          </a:p>
        </p:txBody>
      </p:sp>
      <p:sp>
        <p:nvSpPr>
          <p:cNvPr id="18" name="Google Shape;103;p14">
            <a:extLst>
              <a:ext uri="{FF2B5EF4-FFF2-40B4-BE49-F238E27FC236}">
                <a16:creationId xmlns:a16="http://schemas.microsoft.com/office/drawing/2014/main" id="{B34B75F7-BC47-735C-9212-D4533F78612E}"/>
              </a:ext>
            </a:extLst>
          </p:cNvPr>
          <p:cNvSpPr txBox="1"/>
          <p:nvPr/>
        </p:nvSpPr>
        <p:spPr>
          <a:xfrm>
            <a:off x="904875" y="3319462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Manual Monitoring: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Humanly impossible due to sheer velocity and volume of Big Data.</a:t>
            </a:r>
            <a:endParaRPr dirty="0"/>
          </a:p>
        </p:txBody>
      </p:sp>
      <p:sp>
        <p:nvSpPr>
          <p:cNvPr id="19" name="Google Shape;104;p14">
            <a:extLst>
              <a:ext uri="{FF2B5EF4-FFF2-40B4-BE49-F238E27FC236}">
                <a16:creationId xmlns:a16="http://schemas.microsoft.com/office/drawing/2014/main" id="{92CCCE3B-C9F5-452E-36B4-F2528CC2DF5F}"/>
              </a:ext>
            </a:extLst>
          </p:cNvPr>
          <p:cNvSpPr txBox="1"/>
          <p:nvPr/>
        </p:nvSpPr>
        <p:spPr>
          <a:xfrm>
            <a:off x="904875" y="4005262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Research Focus: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Developing an advanced AI framework for automatic "Informative" classification.</a:t>
            </a:r>
            <a:endParaRPr dirty="0"/>
          </a:p>
        </p:txBody>
      </p:sp>
      <p:sp>
        <p:nvSpPr>
          <p:cNvPr id="21" name="Google Shape;106;p14">
            <a:extLst>
              <a:ext uri="{FF2B5EF4-FFF2-40B4-BE49-F238E27FC236}">
                <a16:creationId xmlns:a16="http://schemas.microsoft.com/office/drawing/2014/main" id="{22F2C0DB-0C5F-50F5-C433-6A370414385D}"/>
              </a:ext>
            </a:extLst>
          </p:cNvPr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1F6270-8CC7-6120-D39C-9D8C861CE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522" y="2698599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DD49-2CC4-3D7C-8333-4F93175A3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980" y="3319462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F09240-A62B-DB97-D0C3-DFABA77AD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625" y="4013863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99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AAF55-A850-D42C-CFC7-99705ED5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04/28/2024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145C61-E1F7-6AE5-A7B0-9BF674E4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B13E7C-74DE-5E0C-D1CC-4A757F9FCB35}"/>
              </a:ext>
            </a:extLst>
          </p:cNvPr>
          <p:cNvSpPr txBox="1">
            <a:spLocks/>
          </p:cNvSpPr>
          <p:nvPr/>
        </p:nvSpPr>
        <p:spPr>
          <a:xfrm>
            <a:off x="228600" y="38222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B1AC-93DD-0A15-2126-DEC243EC4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59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E68278-92F1-B890-ECDF-D0BC5B472B31}"/>
              </a:ext>
            </a:extLst>
          </p:cNvPr>
          <p:cNvSpPr txBox="1"/>
          <p:nvPr/>
        </p:nvSpPr>
        <p:spPr>
          <a:xfrm>
            <a:off x="4933803" y="382221"/>
            <a:ext cx="2645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24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B8C433-8CD8-BD46-13E5-1BCF8B74F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64634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45BA764-0533-EC5F-F26D-673CC193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266" y="2983528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4CDCE5-7D9F-3E7F-2C9C-F514CFA23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3647437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BD25149-3338-997C-EFF8-F2C8316B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719" y="2884141"/>
            <a:ext cx="92682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Synergy:</a:t>
            </a:r>
            <a:r>
              <a:rPr lang="en-US" sz="2000" dirty="0"/>
              <a:t> Multimodal architectures consistently outperform single-modality models.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929583C-FA87-7A31-CAF2-03CDCAB2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719" y="3561512"/>
            <a:ext cx="92682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United States Annual Report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Around 90,000 individuals receive a diagnosis of a primary brain tumor annually.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454BAA-93FC-C444-3F14-BA01224D1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451723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BB10507-6799-0E17-8554-7B9D22A73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767" y="4410876"/>
            <a:ext cx="925075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Magnetic Resonance Imaging (MRI) is frequently used in the medical field to classify brain tumors.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4BF876-2195-4A18-CEA2-DE4842A73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821" y="5333752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B7C10C2B-1E1E-01C5-715C-B762B9115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365" y="5259898"/>
            <a:ext cx="97114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medical imaging technology,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xperienced radiologists are using deep learning models to accurately classify brain tumors, enhancing diagnostic accuracy and efficiency.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18F79-241D-496E-F82E-C4DF5C3AB918}"/>
              </a:ext>
            </a:extLst>
          </p:cNvPr>
          <p:cNvSpPr txBox="1"/>
          <p:nvPr/>
        </p:nvSpPr>
        <p:spPr>
          <a:xfrm>
            <a:off x="401216" y="1211446"/>
            <a:ext cx="113646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Unimodal analysis (text-only or image-only) often fails to capture the full context of a crisis. For instance, a text post might be vague without its accompanying image, or an image might be non-informative without its caption.</a:t>
            </a:r>
          </a:p>
        </p:txBody>
      </p:sp>
    </p:spTree>
    <p:extLst>
      <p:ext uri="{BB962C8B-B14F-4D97-AF65-F5344CB8AC3E}">
        <p14:creationId xmlns:p14="http://schemas.microsoft.com/office/powerpoint/2010/main" val="410874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4327-7DFB-7C35-5BA4-63271871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7C610-4EBD-2B3F-A33A-38B1B9EC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04/28/2024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4E512D-86BA-0C1C-8E76-52D17F5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B0EAD9-D54C-244D-78F6-8849A24C4000}"/>
              </a:ext>
            </a:extLst>
          </p:cNvPr>
          <p:cNvSpPr txBox="1">
            <a:spLocks/>
          </p:cNvSpPr>
          <p:nvPr/>
        </p:nvSpPr>
        <p:spPr>
          <a:xfrm>
            <a:off x="228600" y="38222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43EA6B-F4C7-A0EB-A3F2-8BC1814CF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4359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E0557F-2C09-A5C7-E846-A2CBE07FC76D}"/>
              </a:ext>
            </a:extLst>
          </p:cNvPr>
          <p:cNvSpPr txBox="1"/>
          <p:nvPr/>
        </p:nvSpPr>
        <p:spPr>
          <a:xfrm>
            <a:off x="4933803" y="382221"/>
            <a:ext cx="2645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24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BBE112-F23C-4687-88CB-F9174F90A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64634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B98A003-6E7F-8A6F-D60E-40E0F8577073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8E64075B-21EA-2F1A-12AA-7FB145D7620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FEDF93-2BFD-41CA-ABC7-B039102F379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Google Shape;115;p15" descr="image.png">
            <a:extLst>
              <a:ext uri="{FF2B5EF4-FFF2-40B4-BE49-F238E27FC236}">
                <a16:creationId xmlns:a16="http://schemas.microsoft.com/office/drawing/2014/main" id="{1A5E4EF1-3BC0-DDEF-9F5E-7C1BA8A8D4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1400175"/>
            <a:ext cx="52863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16;p15" descr="image.png">
            <a:extLst>
              <a:ext uri="{FF2B5EF4-FFF2-40B4-BE49-F238E27FC236}">
                <a16:creationId xmlns:a16="http://schemas.microsoft.com/office/drawing/2014/main" id="{FEB95180-C7CA-435A-84B2-64EC76826C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09700"/>
            <a:ext cx="526732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17;p15">
            <a:extLst>
              <a:ext uri="{FF2B5EF4-FFF2-40B4-BE49-F238E27FC236}">
                <a16:creationId xmlns:a16="http://schemas.microsoft.com/office/drawing/2014/main" id="{D4CF5CFA-CAAE-74CD-DE87-335851DE7EDD}"/>
              </a:ext>
            </a:extLst>
          </p:cNvPr>
          <p:cNvSpPr txBox="1"/>
          <p:nvPr/>
        </p:nvSpPr>
        <p:spPr>
          <a:xfrm>
            <a:off x="6334125" y="14001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2B5B"/>
                </a:solidFill>
                <a:latin typeface="Merriweather"/>
                <a:ea typeface="Merriweather"/>
                <a:cs typeface="Merriweather"/>
                <a:sym typeface="Merriweather"/>
              </a:rPr>
              <a:t>Bridging High-Accuracy with Real-World Tools</a:t>
            </a:r>
            <a:endParaRPr dirty="0"/>
          </a:p>
        </p:txBody>
      </p:sp>
      <p:sp>
        <p:nvSpPr>
          <p:cNvPr id="21" name="Google Shape;118;p15">
            <a:extLst>
              <a:ext uri="{FF2B5EF4-FFF2-40B4-BE49-F238E27FC236}">
                <a16:creationId xmlns:a16="http://schemas.microsoft.com/office/drawing/2014/main" id="{1A9F777C-C152-7486-A887-06CB10925144}"/>
              </a:ext>
            </a:extLst>
          </p:cNvPr>
          <p:cNvSpPr txBox="1"/>
          <p:nvPr/>
        </p:nvSpPr>
        <p:spPr>
          <a:xfrm>
            <a:off x="6334125" y="18002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rescue drone in a network-destroyed flood zone must process data </a:t>
            </a: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on-board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to identify survivors or road damage.</a:t>
            </a:r>
            <a:endParaRPr dirty="0"/>
          </a:p>
        </p:txBody>
      </p:sp>
      <p:sp>
        <p:nvSpPr>
          <p:cNvPr id="22" name="Google Shape;119;p15">
            <a:extLst>
              <a:ext uri="{FF2B5EF4-FFF2-40B4-BE49-F238E27FC236}">
                <a16:creationId xmlns:a16="http://schemas.microsoft.com/office/drawing/2014/main" id="{A38F422A-A9F2-84F3-148B-68379D63A58D}"/>
              </a:ext>
            </a:extLst>
          </p:cNvPr>
          <p:cNvSpPr txBox="1"/>
          <p:nvPr/>
        </p:nvSpPr>
        <p:spPr>
          <a:xfrm>
            <a:off x="6667500" y="2533650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Computational Heaviness: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Existing models require powerful server GPUs (NVIDIA A100s).</a:t>
            </a:r>
            <a:endParaRPr dirty="0"/>
          </a:p>
        </p:txBody>
      </p:sp>
      <p:sp>
        <p:nvSpPr>
          <p:cNvPr id="23" name="Google Shape;120;p15">
            <a:extLst>
              <a:ext uri="{FF2B5EF4-FFF2-40B4-BE49-F238E27FC236}">
                <a16:creationId xmlns:a16="http://schemas.microsoft.com/office/drawing/2014/main" id="{F79628AD-B58B-2D74-EA70-43ADC5712856}"/>
              </a:ext>
            </a:extLst>
          </p:cNvPr>
          <p:cNvSpPr txBox="1"/>
          <p:nvPr/>
        </p:nvSpPr>
        <p:spPr>
          <a:xfrm>
            <a:off x="6667500" y="3219450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Semantic Ambiguity: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Text/Image in isolation often fails context. "Water is rising" + (Flood Photo) = Urgent.</a:t>
            </a:r>
            <a:endParaRPr dirty="0"/>
          </a:p>
        </p:txBody>
      </p:sp>
      <p:sp>
        <p:nvSpPr>
          <p:cNvPr id="24" name="Google Shape;121;p15">
            <a:extLst>
              <a:ext uri="{FF2B5EF4-FFF2-40B4-BE49-F238E27FC236}">
                <a16:creationId xmlns:a16="http://schemas.microsoft.com/office/drawing/2014/main" id="{AEA51C4E-C818-33D1-FB79-BD60FB9944F0}"/>
              </a:ext>
            </a:extLst>
          </p:cNvPr>
          <p:cNvSpPr txBox="1"/>
          <p:nvPr/>
        </p:nvSpPr>
        <p:spPr>
          <a:xfrm>
            <a:off x="6667500" y="3905250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The Solution:</a:t>
            </a:r>
            <a:r>
              <a:rPr lang="en-US" sz="1425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Efficient Multimodal Learning via CLIP architecture.</a:t>
            </a:r>
            <a:endParaRPr dirty="0"/>
          </a:p>
        </p:txBody>
      </p:sp>
      <p:pic>
        <p:nvPicPr>
          <p:cNvPr id="25" name="Google Shape;124;p15" descr="image.png">
            <a:extLst>
              <a:ext uri="{FF2B5EF4-FFF2-40B4-BE49-F238E27FC236}">
                <a16:creationId xmlns:a16="http://schemas.microsoft.com/office/drawing/2014/main" id="{6FAE8C6B-B198-7810-6E4B-7776B6F69D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7175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25;p15" descr="image.png">
            <a:extLst>
              <a:ext uri="{FF2B5EF4-FFF2-40B4-BE49-F238E27FC236}">
                <a16:creationId xmlns:a16="http://schemas.microsoft.com/office/drawing/2014/main" id="{A4F6C181-BF87-3512-FCA3-6A02A13DF0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5755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26;p15" descr="image.png">
            <a:extLst>
              <a:ext uri="{FF2B5EF4-FFF2-40B4-BE49-F238E27FC236}">
                <a16:creationId xmlns:a16="http://schemas.microsoft.com/office/drawing/2014/main" id="{C65E22FC-F57D-5CB9-2A34-36629BD77B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943350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98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82880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73061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B9AF333-C007-76DB-CCD3-39C1DAEFA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887385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F0F-B25C-202C-5B97-334146C20495}"/>
              </a:ext>
            </a:extLst>
          </p:cNvPr>
          <p:cNvSpPr txBox="1"/>
          <p:nvPr/>
        </p:nvSpPr>
        <p:spPr>
          <a:xfrm>
            <a:off x="1452333" y="1720176"/>
            <a:ext cx="10450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BanglaMM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-Disaster: A Multimodal Transformer-Based Deep Learning Framework for Multiclass Disaster Classification in Bangla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69937-D86A-167C-56F2-4B1E270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6943" y="861916"/>
            <a:ext cx="814900" cy="77559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01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B120C-7B5D-AF73-7552-0812753E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1479" y="2631580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AB298-E22A-FB45-B951-2D608EDEA475}"/>
              </a:ext>
            </a:extLst>
          </p:cNvPr>
          <p:cNvSpPr txBox="1"/>
          <p:nvPr/>
        </p:nvSpPr>
        <p:spPr>
          <a:xfrm>
            <a:off x="1366690" y="3264069"/>
            <a:ext cx="10596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constructed a new dataset of 5,037 Bangla social media posts, each containing an image and a caption, annotated into nine disaster-related categories (e.g., Floods, Agricultural Damage).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integrates transformer-based text encoders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XLM-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CNN backbones (ResNet50, DenseNet169, MobileNetV2). It employs early fusion through feature concatenation to enable cross-modal feature interactions, achieving a best accuracy of 83.76%.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48A77-EDE9-08A2-81B6-EC8013D4B3FA}"/>
              </a:ext>
            </a:extLst>
          </p:cNvPr>
          <p:cNvSpPr txBox="1"/>
          <p:nvPr/>
        </p:nvSpPr>
        <p:spPr>
          <a:xfrm>
            <a:off x="1410101" y="2532304"/>
            <a:ext cx="10596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Ariful Islam, Md. Mahmudul Arif, Md Arifur Rahman, Md Rifat Hossen, Abdullah Al Noman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DA6F4-36EA-4457-1CC8-521437C6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0642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8500F9-BEC3-F2BB-7406-1E93E71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223" y="4940655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88B3-E9C1-8AA3-541E-6F3521BC83F6}"/>
              </a:ext>
            </a:extLst>
          </p:cNvPr>
          <p:cNvSpPr txBox="1"/>
          <p:nvPr/>
        </p:nvSpPr>
        <p:spPr>
          <a:xfrm>
            <a:off x="1366690" y="4848745"/>
            <a:ext cx="10450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architectural choices prioritized computational efficiency, potentially sacrificing the higher performance offered by heavier models like Vision Transformers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newly created dataset is relatively small (5,037 posts) compared to major global disaster datasets.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2B15FB0-190A-9F2F-5960-C7A07834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0430DB3-AAF4-BBD8-F2F9-DB86C2BB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4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82880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73061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B9AF333-C007-76DB-CCD3-39C1DAEFA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702576"/>
            <a:ext cx="264296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F0F-B25C-202C-5B97-334146C20495}"/>
              </a:ext>
            </a:extLst>
          </p:cNvPr>
          <p:cNvSpPr txBox="1"/>
          <p:nvPr/>
        </p:nvSpPr>
        <p:spPr>
          <a:xfrm>
            <a:off x="1094508" y="1719630"/>
            <a:ext cx="10675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Image Classification by Fusing Multimodal Social Media 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69937-D86A-167C-56F2-4B1E270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09675" y="882089"/>
            <a:ext cx="814900" cy="77559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02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B120C-7B5D-AF73-7552-0812753E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074" y="2323213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AB298-E22A-FB45-B951-2D608EDEA475}"/>
              </a:ext>
            </a:extLst>
          </p:cNvPr>
          <p:cNvSpPr txBox="1"/>
          <p:nvPr/>
        </p:nvSpPr>
        <p:spPr>
          <a:xfrm>
            <a:off x="1153744" y="2738065"/>
            <a:ext cx="11056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utilizes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CrisisMMD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dataset, which consists of several thousand manually annotated tweets and images collected during seven major natural disasters in 2017 (e.g., Hurricane Irma, Mexico Earthquake).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researchers proposed a multimodal fusion approach integrating visual and textual features. A deep learning method (VGG16) is used for image feature extraction, while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is employed for textual features. These features are fused via a concatenating operation and passed through three fully connected layers and a SoftMax layer for final classification.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48A77-EDE9-08A2-81B6-EC8013D4B3FA}"/>
              </a:ext>
            </a:extLst>
          </p:cNvPr>
          <p:cNvSpPr txBox="1"/>
          <p:nvPr/>
        </p:nvSpPr>
        <p:spPr>
          <a:xfrm>
            <a:off x="1122500" y="2273604"/>
            <a:ext cx="10347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Zhiqiang Zou, Hongyu Gan,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Qunying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Huang,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Tianhui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Cai, Kai Cao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DA6F4-36EA-4457-1CC8-521437C6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074" y="279921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8500F9-BEC3-F2BB-7406-1E93E71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7731" y="4872835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88B3-E9C1-8AA3-541E-6F3521BC83F6}"/>
              </a:ext>
            </a:extLst>
          </p:cNvPr>
          <p:cNvSpPr txBox="1"/>
          <p:nvPr/>
        </p:nvSpPr>
        <p:spPr>
          <a:xfrm>
            <a:off x="1153744" y="4809912"/>
            <a:ext cx="10671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Simplistic Fusion Logic: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relies on a basic concatenation strategy for fusing modalities rather than more advanced, cross-modal attention-based fusion.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Gap: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does not explore "new age" transformer models for the fusion process, which could more effectively capture the intricate relationships between text and images.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A7BDBD6-CAD8-1E6A-4C4B-FB5F8CAD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44174DC-993E-7C79-DA07-C5AD77F0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4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82880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73061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B9AF333-C007-76DB-CCD3-39C1DAEFA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2" y="1956760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F0F-B25C-202C-5B97-334146C20495}"/>
              </a:ext>
            </a:extLst>
          </p:cNvPr>
          <p:cNvSpPr txBox="1"/>
          <p:nvPr/>
        </p:nvSpPr>
        <p:spPr>
          <a:xfrm>
            <a:off x="1181688" y="1792847"/>
            <a:ext cx="110103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ERMES chatbot: A conversational communication tool for improved emergency management and disaster risk reduction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69937-D86A-167C-56F2-4B1E270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8952" y="1024248"/>
            <a:ext cx="814900" cy="77559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03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B120C-7B5D-AF73-7552-0812753E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2" y="2569677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AB298-E22A-FB45-B951-2D608EDEA475}"/>
              </a:ext>
            </a:extLst>
          </p:cNvPr>
          <p:cNvSpPr txBox="1"/>
          <p:nvPr/>
        </p:nvSpPr>
        <p:spPr>
          <a:xfrm>
            <a:off x="1169058" y="2898224"/>
            <a:ext cx="109047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Validation was performed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in-field demonstration events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realistic emergency scenarios in Corsica (France), Piedmont (Italy), Catalonia (Spain), and Thessaloniki (Greece). A total of 52 organizations and approximately 240 people participated in the validation process.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research follows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(UCD)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approach, involving end-users in requirement definition, technical design, and final validation. The system, named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ERMES Chatbot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implemented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to facilitate real-time bidirectional communication between control centers, field forces, and citizens. It includes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(points, badges, leaderboards) to boost citizen engagement and situational awareness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48A77-EDE9-08A2-81B6-EC8013D4B3FA}"/>
              </a:ext>
            </a:extLst>
          </p:cNvPr>
          <p:cNvSpPr txBox="1"/>
          <p:nvPr/>
        </p:nvSpPr>
        <p:spPr>
          <a:xfrm>
            <a:off x="1181688" y="2498114"/>
            <a:ext cx="9352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Angelica Urbanelli, Antonella Frisiello, Luca Bruno, Claudio Rossi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DA6F4-36EA-4457-1CC8-521437C6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2" y="3525856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8500F9-BEC3-F2BB-7406-1E93E71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2" y="5094952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88B3-E9C1-8AA3-541E-6F3521BC83F6}"/>
              </a:ext>
            </a:extLst>
          </p:cNvPr>
          <p:cNvSpPr txBox="1"/>
          <p:nvPr/>
        </p:nvSpPr>
        <p:spPr>
          <a:xfrm>
            <a:off x="1181688" y="5157763"/>
            <a:ext cx="110103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 Constraint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current research primarily focuses on the citizen dimension of the chatbot, leaving the validation of professional emergency practitioner functionalities for future work.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D86A037-690C-CC24-C260-A5E2331C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DF8C326-BF38-DFD2-26A9-90477EBD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59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82880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73061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B9AF333-C007-76DB-CCD3-39C1DAEFA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13" y="185364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F0F-B25C-202C-5B97-334146C20495}"/>
              </a:ext>
            </a:extLst>
          </p:cNvPr>
          <p:cNvSpPr txBox="1"/>
          <p:nvPr/>
        </p:nvSpPr>
        <p:spPr>
          <a:xfrm>
            <a:off x="1287924" y="1853644"/>
            <a:ext cx="10675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Multimodal Social Media Data Utilizing VIT Base 16 and GPT-2 for Disaster Response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69937-D86A-167C-56F2-4B1E270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3037" y="1010443"/>
            <a:ext cx="814900" cy="77559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04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B120C-7B5D-AF73-7552-0812753E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13" y="2619429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AB298-E22A-FB45-B951-2D608EDEA475}"/>
              </a:ext>
            </a:extLst>
          </p:cNvPr>
          <p:cNvSpPr txBox="1"/>
          <p:nvPr/>
        </p:nvSpPr>
        <p:spPr>
          <a:xfrm>
            <a:off x="1398341" y="3239950"/>
            <a:ext cx="10675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employs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CrisisMMD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dataset, focusing on the first task of classifying whether a tweet is informative or not. It includes 16,058 tweets and 18,082 images.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uniquely combines two advanced transformer models: Vision Transformer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16) for image modality and GPT-2 for text modality. The predictions from both models are concatenated and passed through an ensemble Random Forest Classifier to determine the final label. This method outperformed traditional CNN-based models by 13.23%.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48A77-EDE9-08A2-81B6-EC8013D4B3FA}"/>
              </a:ext>
            </a:extLst>
          </p:cNvPr>
          <p:cNvSpPr txBox="1"/>
          <p:nvPr/>
        </p:nvSpPr>
        <p:spPr>
          <a:xfrm>
            <a:off x="1241570" y="2472176"/>
            <a:ext cx="9895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Shilpa Gite, Shruti Patil, Biswajeet Pradhan, Madhuri Yadav, Sneha Basak,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Arundarasi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Rajendra, Abdullah Alamri, Kaustubh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Raykar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Ketan Kotecha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DA6F4-36EA-4457-1CC8-521437C6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13" y="349518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8500F9-BEC3-F2BB-7406-1E93E71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13" y="5111402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88B3-E9C1-8AA3-541E-6F3521BC83F6}"/>
              </a:ext>
            </a:extLst>
          </p:cNvPr>
          <p:cNvSpPr txBox="1"/>
          <p:nvPr/>
        </p:nvSpPr>
        <p:spPr>
          <a:xfrm>
            <a:off x="1398341" y="5107302"/>
            <a:ext cx="9124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Tuning: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researchers did not perform hyperparameter tuning using specified optimization techniques, identifying this as a primary area for future analysis.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BB32132-E56E-895E-6601-903315FC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C2DB5F1-36A8-1E2F-AEFE-87780D2E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2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82880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73061" y="60969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B9AF333-C007-76DB-CCD3-39C1DAEFA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752295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F0F-B25C-202C-5B97-334146C20495}"/>
              </a:ext>
            </a:extLst>
          </p:cNvPr>
          <p:cNvSpPr txBox="1"/>
          <p:nvPr/>
        </p:nvSpPr>
        <p:spPr>
          <a:xfrm>
            <a:off x="1202393" y="1735761"/>
            <a:ext cx="10675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VLCE: A Knowledge-Enhanced Framework for Image Description in Disaster Assessment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69937-D86A-167C-56F2-4B1E270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3037" y="860642"/>
            <a:ext cx="814900" cy="77559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05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B120C-7B5D-AF73-7552-0812753E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2471129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AB298-E22A-FB45-B951-2D608EDEA475}"/>
              </a:ext>
            </a:extLst>
          </p:cNvPr>
          <p:cNvSpPr txBox="1"/>
          <p:nvPr/>
        </p:nvSpPr>
        <p:spPr>
          <a:xfrm>
            <a:off x="1273853" y="3119556"/>
            <a:ext cx="10675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xBD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(12,738 satellite images)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RescueNet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(4,494 UAV images captured after Hurricane Michael).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Introduces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Language Caption Enhancer (VLCE)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integrates semantic knowledge 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ConceptNet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WordNet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enrich disaster descriptions. It employs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object detection to prompt Vision-Language Models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QwenVL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framework uses two specialized architectures: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satellite imagery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UAV imagery.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48A77-EDE9-08A2-81B6-EC8013D4B3FA}"/>
              </a:ext>
            </a:extLst>
          </p:cNvPr>
          <p:cNvSpPr txBox="1"/>
          <p:nvPr/>
        </p:nvSpPr>
        <p:spPr>
          <a:xfrm>
            <a:off x="1273854" y="2420340"/>
            <a:ext cx="10589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Mahfuzur Rahman,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Marufa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Sunzida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Siddique, Mohd Ariful Haque, Kishor Datta Gupta, Fahad Rahman, Ahmed Rafi Hasan, Roy George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7DA6F4-36EA-4457-1CC8-521437C6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550" y="314438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8500F9-BEC3-F2BB-7406-1E93E713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8413" y="4873882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88B3-E9C1-8AA3-541E-6F3521BC83F6}"/>
              </a:ext>
            </a:extLst>
          </p:cNvPr>
          <p:cNvSpPr txBox="1"/>
          <p:nvPr/>
        </p:nvSpPr>
        <p:spPr>
          <a:xfrm>
            <a:off x="1273853" y="4785107"/>
            <a:ext cx="10675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Dependence on External Knowledge: Performance drops drastically (below 2%)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WordNet.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Semantic Alignment Gains: Knowledge integration improves informativeness, but effects 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CLIPScore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vary by model and dataset.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BF65D8D-D419-FD3C-CF72-3B45DADA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A2D391B-9FB3-9B72-63B3-6DDB13FB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73257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172329" y="403965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2329" y="59402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20904" y="59402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4707B56-BBBF-F2E0-6CD6-708237A16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1315" y="260525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00DBC6-7870-737C-0982-10A44DBD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1315" y="4480802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47EB50-7512-D876-3B9D-D8CB3532D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3961" y="3550433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7AEF2D0-BEF5-43F4-61F5-5FF6EAD7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0CD2AA8-3CEE-D1D1-316F-D8D8A224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6F1B1-07D3-0183-CAE9-7DEB0CE3F776}"/>
              </a:ext>
            </a:extLst>
          </p:cNvPr>
          <p:cNvSpPr txBox="1"/>
          <p:nvPr/>
        </p:nvSpPr>
        <p:spPr>
          <a:xfrm>
            <a:off x="1786594" y="2426725"/>
            <a:ext cx="9734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Noise: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models struggle with the "noise" of social media, where images and text may be misaligned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49660-1851-E246-1CA2-BDC6DD8CD235}"/>
              </a:ext>
            </a:extLst>
          </p:cNvPr>
          <p:cNvSpPr txBox="1"/>
          <p:nvPr/>
        </p:nvSpPr>
        <p:spPr>
          <a:xfrm>
            <a:off x="1688120" y="3429000"/>
            <a:ext cx="9073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Severity: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research focuses on broad classification rather than specific damage severity levels (Mild vs. Severe).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7A28B-A29B-7845-AA9E-AEBDC1F9EB4B}"/>
              </a:ext>
            </a:extLst>
          </p:cNvPr>
          <p:cNvSpPr txBox="1"/>
          <p:nvPr/>
        </p:nvSpPr>
        <p:spPr>
          <a:xfrm>
            <a:off x="1688120" y="4416689"/>
            <a:ext cx="9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fine-tuning often leads to "model collapse" on imbalanced disaster datasets.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AB99A-18D5-9126-BEB9-48243430CE9D}"/>
              </a:ext>
            </a:extLst>
          </p:cNvPr>
          <p:cNvSpPr txBox="1"/>
          <p:nvPr/>
        </p:nvSpPr>
        <p:spPr>
          <a:xfrm>
            <a:off x="1021315" y="1414113"/>
            <a:ext cx="10500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Generalist Vision-Language Models (VLMs) show great progress, they often lack the domain-specific expertise required for disaster scenarios.</a:t>
            </a:r>
          </a:p>
        </p:txBody>
      </p:sp>
    </p:spTree>
    <p:extLst>
      <p:ext uri="{BB962C8B-B14F-4D97-AF65-F5344CB8AC3E}">
        <p14:creationId xmlns:p14="http://schemas.microsoft.com/office/powerpoint/2010/main" val="22417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64634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3844B9E-EF77-0F55-1094-9C12FDB1F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246" y="136883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B5799E-4EAC-BD13-20EC-63089F4D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246" y="2123244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D4357-9C42-E6DD-EEF7-E11ACF1D1E2A}"/>
              </a:ext>
            </a:extLst>
          </p:cNvPr>
          <p:cNvSpPr txBox="1"/>
          <p:nvPr/>
        </p:nvSpPr>
        <p:spPr>
          <a:xfrm>
            <a:off x="1736411" y="1318622"/>
            <a:ext cx="10114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Informativeness: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binary filtering layer to distinguish informative from non-informative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69383-2372-CE04-46DB-2CAA74D27B1F}"/>
              </a:ext>
            </a:extLst>
          </p:cNvPr>
          <p:cNvSpPr txBox="1"/>
          <p:nvPr/>
        </p:nvSpPr>
        <p:spPr>
          <a:xfrm>
            <a:off x="1701612" y="2007797"/>
            <a:ext cx="10624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"Deep Fusion"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 that extracts joint feature embeddings, replacing traditional "Late Fusion" ensemble methods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GPT-2).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12C260-6B1F-B4FD-D0EA-552FC4EDD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246" y="2759101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F6767-E185-1488-6C1D-7FE15A8C7509}"/>
              </a:ext>
            </a:extLst>
          </p:cNvPr>
          <p:cNvSpPr txBox="1"/>
          <p:nvPr/>
        </p:nvSpPr>
        <p:spPr>
          <a:xfrm>
            <a:off x="1701610" y="2698738"/>
            <a:ext cx="10261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model's performance against the baseline in terms of accuracy, precision, recall, and F1-score.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5F533-FCE1-1DBB-5838-6BDFBE32C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9840" y="3531144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8EE3E6-417F-0899-6D80-6C617900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246" y="4928620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664C98-2EF7-BD1C-3282-C3203176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246" y="4226482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1D4468-A270-50D7-7E0F-A29E4F06185F}"/>
              </a:ext>
            </a:extLst>
          </p:cNvPr>
          <p:cNvSpPr txBox="1"/>
          <p:nvPr/>
        </p:nvSpPr>
        <p:spPr>
          <a:xfrm>
            <a:off x="1701611" y="4903172"/>
            <a:ext cx="9548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performance of designed model in terms of accuracy and respond time and losses.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80CF3-8F18-D844-8DA1-1A357BCDC6F2}"/>
              </a:ext>
            </a:extLst>
          </p:cNvPr>
          <p:cNvSpPr txBox="1"/>
          <p:nvPr/>
        </p:nvSpPr>
        <p:spPr>
          <a:xfrm>
            <a:off x="1701611" y="5618511"/>
            <a:ext cx="7835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limitations of current algorithms.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EC2E38-19B0-621A-AC5A-85C6C90E7B11}"/>
              </a:ext>
            </a:extLst>
          </p:cNvPr>
          <p:cNvSpPr txBox="1"/>
          <p:nvPr/>
        </p:nvSpPr>
        <p:spPr>
          <a:xfrm>
            <a:off x="1701611" y="3434086"/>
            <a:ext cx="10073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computational efficiency of the VLM approach compared to complex deep learning ensembles.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1476731-2853-2E38-D77F-9110B7355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FAEA424-3F4C-9548-D758-A5D65482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14</a:t>
            </a:fld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9F77A9-2905-A140-B5BD-3591D4BC5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9840" y="5651786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0AB9D-6879-DAE8-F585-E6CEA89FF8B9}"/>
              </a:ext>
            </a:extLst>
          </p:cNvPr>
          <p:cNvSpPr txBox="1"/>
          <p:nvPr/>
        </p:nvSpPr>
        <p:spPr>
          <a:xfrm>
            <a:off x="1701611" y="4123905"/>
            <a:ext cx="9652189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lnSpc>
                <a:spcPct val="115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compare </a:t>
            </a:r>
            <a:r>
              <a:rPr lang="en-US" sz="2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VGG19, EfficientNetB0 and DenseNet121 with other models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 have more parameters.</a:t>
            </a:r>
          </a:p>
        </p:txBody>
      </p:sp>
    </p:spTree>
    <p:extLst>
      <p:ext uri="{BB962C8B-B14F-4D97-AF65-F5344CB8AC3E}">
        <p14:creationId xmlns:p14="http://schemas.microsoft.com/office/powerpoint/2010/main" val="135636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4" grpId="0"/>
      <p:bldP spid="15" grpId="0"/>
      <p:bldP spid="16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30592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05643" y="593237"/>
            <a:ext cx="31577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850;p15">
            <a:extLst>
              <a:ext uri="{FF2B5EF4-FFF2-40B4-BE49-F238E27FC236}">
                <a16:creationId xmlns:a16="http://schemas.microsoft.com/office/drawing/2014/main" id="{EBE67125-E5D8-7208-8296-6DE18950716E}"/>
              </a:ext>
            </a:extLst>
          </p:cNvPr>
          <p:cNvSpPr/>
          <p:nvPr/>
        </p:nvSpPr>
        <p:spPr>
          <a:xfrm flipH="1">
            <a:off x="454680" y="1200021"/>
            <a:ext cx="1640385" cy="1367407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Dataset Images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" name="Google Shape;1856;p15">
            <a:extLst>
              <a:ext uri="{FF2B5EF4-FFF2-40B4-BE49-F238E27FC236}">
                <a16:creationId xmlns:a16="http://schemas.microsoft.com/office/drawing/2014/main" id="{57CCBF92-B0D9-FF02-C4F2-843591C4EB77}"/>
              </a:ext>
            </a:extLst>
          </p:cNvPr>
          <p:cNvSpPr/>
          <p:nvPr/>
        </p:nvSpPr>
        <p:spPr>
          <a:xfrm rot="10800000" flipH="1">
            <a:off x="2125543" y="1697229"/>
            <a:ext cx="914300" cy="496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25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850;p15">
            <a:extLst>
              <a:ext uri="{FF2B5EF4-FFF2-40B4-BE49-F238E27FC236}">
                <a16:creationId xmlns:a16="http://schemas.microsoft.com/office/drawing/2014/main" id="{F734D71C-762C-736D-E825-A91AE0C2DA93}"/>
              </a:ext>
            </a:extLst>
          </p:cNvPr>
          <p:cNvSpPr/>
          <p:nvPr/>
        </p:nvSpPr>
        <p:spPr>
          <a:xfrm flipH="1">
            <a:off x="3070320" y="1235249"/>
            <a:ext cx="1882799" cy="1367406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Image Preprocessing</a:t>
            </a:r>
            <a:endParaRPr lang="en-US" sz="28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" name="Google Shape;1850;p15">
            <a:extLst>
              <a:ext uri="{FF2B5EF4-FFF2-40B4-BE49-F238E27FC236}">
                <a16:creationId xmlns:a16="http://schemas.microsoft.com/office/drawing/2014/main" id="{C821B5DB-3B3E-2517-E553-37E707EE55E7}"/>
              </a:ext>
            </a:extLst>
          </p:cNvPr>
          <p:cNvSpPr/>
          <p:nvPr/>
        </p:nvSpPr>
        <p:spPr>
          <a:xfrm flipH="1">
            <a:off x="5915747" y="1200021"/>
            <a:ext cx="2060631" cy="1424172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algn="ctr"/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Applying DL models (VGG19, EfficientNetB0,&amp;DenseNet121)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7" name="Google Shape;1850;p15">
            <a:extLst>
              <a:ext uri="{FF2B5EF4-FFF2-40B4-BE49-F238E27FC236}">
                <a16:creationId xmlns:a16="http://schemas.microsoft.com/office/drawing/2014/main" id="{3B9C05D1-3B5B-3130-96D3-EDF61BFC833E}"/>
              </a:ext>
            </a:extLst>
          </p:cNvPr>
          <p:cNvSpPr/>
          <p:nvPr/>
        </p:nvSpPr>
        <p:spPr>
          <a:xfrm flipH="1">
            <a:off x="9047707" y="1228061"/>
            <a:ext cx="1882797" cy="1396132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Extracted Feature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" name="Google Shape;1856;p15">
            <a:extLst>
              <a:ext uri="{FF2B5EF4-FFF2-40B4-BE49-F238E27FC236}">
                <a16:creationId xmlns:a16="http://schemas.microsoft.com/office/drawing/2014/main" id="{3AD8FD0E-EEFD-B2A2-7461-9377E728D0F6}"/>
              </a:ext>
            </a:extLst>
          </p:cNvPr>
          <p:cNvSpPr/>
          <p:nvPr/>
        </p:nvSpPr>
        <p:spPr>
          <a:xfrm rot="10800000" flipH="1">
            <a:off x="8133407" y="1698498"/>
            <a:ext cx="914300" cy="496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25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856;p15">
            <a:extLst>
              <a:ext uri="{FF2B5EF4-FFF2-40B4-BE49-F238E27FC236}">
                <a16:creationId xmlns:a16="http://schemas.microsoft.com/office/drawing/2014/main" id="{D5C99537-82CC-6C59-37AC-CADAB0ABB0A5}"/>
              </a:ext>
            </a:extLst>
          </p:cNvPr>
          <p:cNvSpPr/>
          <p:nvPr/>
        </p:nvSpPr>
        <p:spPr>
          <a:xfrm rot="10800000" flipH="1">
            <a:off x="4972035" y="1670535"/>
            <a:ext cx="914300" cy="4968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25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858;p15">
            <a:extLst>
              <a:ext uri="{FF2B5EF4-FFF2-40B4-BE49-F238E27FC236}">
                <a16:creationId xmlns:a16="http://schemas.microsoft.com/office/drawing/2014/main" id="{19FAA5A9-123E-B824-19A1-374DD1DD9C90}"/>
              </a:ext>
            </a:extLst>
          </p:cNvPr>
          <p:cNvSpPr/>
          <p:nvPr/>
        </p:nvSpPr>
        <p:spPr>
          <a:xfrm rot="5400000">
            <a:off x="9638926" y="2875582"/>
            <a:ext cx="761309" cy="4277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rgbClr val="25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850;p15">
            <a:extLst>
              <a:ext uri="{FF2B5EF4-FFF2-40B4-BE49-F238E27FC236}">
                <a16:creationId xmlns:a16="http://schemas.microsoft.com/office/drawing/2014/main" id="{EB2404AC-D9DF-7882-BC2E-53E73D1353E6}"/>
              </a:ext>
            </a:extLst>
          </p:cNvPr>
          <p:cNvSpPr/>
          <p:nvPr/>
        </p:nvSpPr>
        <p:spPr>
          <a:xfrm flipH="1">
            <a:off x="9078180" y="3470121"/>
            <a:ext cx="1882799" cy="1747504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Classification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00CD7615-3918-DFB1-1294-1A77E985A966}"/>
              </a:ext>
            </a:extLst>
          </p:cNvPr>
          <p:cNvSpPr/>
          <p:nvPr/>
        </p:nvSpPr>
        <p:spPr>
          <a:xfrm>
            <a:off x="8133407" y="3470121"/>
            <a:ext cx="914300" cy="143936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30A9C99E-7324-3341-4288-8031B214DC67}"/>
              </a:ext>
            </a:extLst>
          </p:cNvPr>
          <p:cNvSpPr/>
          <p:nvPr/>
        </p:nvSpPr>
        <p:spPr>
          <a:xfrm>
            <a:off x="8133407" y="3919156"/>
            <a:ext cx="914300" cy="143936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9F7748BB-9B5B-C06E-AE9E-7924A9270752}"/>
              </a:ext>
            </a:extLst>
          </p:cNvPr>
          <p:cNvSpPr/>
          <p:nvPr/>
        </p:nvSpPr>
        <p:spPr>
          <a:xfrm>
            <a:off x="8163881" y="4357597"/>
            <a:ext cx="914300" cy="143936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4A127456-4061-A469-E2DA-800970C73EEC}"/>
              </a:ext>
            </a:extLst>
          </p:cNvPr>
          <p:cNvSpPr/>
          <p:nvPr/>
        </p:nvSpPr>
        <p:spPr>
          <a:xfrm>
            <a:off x="8172421" y="4894293"/>
            <a:ext cx="914300" cy="143936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oogle Shape;1850;p15">
            <a:extLst>
              <a:ext uri="{FF2B5EF4-FFF2-40B4-BE49-F238E27FC236}">
                <a16:creationId xmlns:a16="http://schemas.microsoft.com/office/drawing/2014/main" id="{7CA2C832-800E-97F8-4A59-7ACB66257322}"/>
              </a:ext>
            </a:extLst>
          </p:cNvPr>
          <p:cNvSpPr/>
          <p:nvPr/>
        </p:nvSpPr>
        <p:spPr>
          <a:xfrm flipH="1">
            <a:off x="4909562" y="3258444"/>
            <a:ext cx="3193369" cy="469494"/>
          </a:xfrm>
          <a:prstGeom prst="rect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marL="57150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Meningioma Tumor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441D66-6EFE-ACD6-569C-F5A6431670D0}"/>
              </a:ext>
            </a:extLst>
          </p:cNvPr>
          <p:cNvSpPr txBox="1"/>
          <p:nvPr/>
        </p:nvSpPr>
        <p:spPr>
          <a:xfrm>
            <a:off x="4909563" y="3861833"/>
            <a:ext cx="31933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571500"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Glioma Tumor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6A9C8C-F5AA-02DB-C26F-46BE9AF5655B}"/>
              </a:ext>
            </a:extLst>
          </p:cNvPr>
          <p:cNvSpPr txBox="1"/>
          <p:nvPr/>
        </p:nvSpPr>
        <p:spPr>
          <a:xfrm>
            <a:off x="4909562" y="4357597"/>
            <a:ext cx="31933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Pituitary tumor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C53FD6-303D-050A-6FE6-4D21EAB2604C}"/>
              </a:ext>
            </a:extLst>
          </p:cNvPr>
          <p:cNvSpPr txBox="1"/>
          <p:nvPr/>
        </p:nvSpPr>
        <p:spPr>
          <a:xfrm>
            <a:off x="4921122" y="4817515"/>
            <a:ext cx="31933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No tumor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2EC0B-AE57-8C09-0885-765A16B71040}"/>
              </a:ext>
            </a:extLst>
          </p:cNvPr>
          <p:cNvSpPr/>
          <p:nvPr/>
        </p:nvSpPr>
        <p:spPr>
          <a:xfrm>
            <a:off x="3092547" y="5556879"/>
            <a:ext cx="5198013" cy="56256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Fig.4: Methodology Scheme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774F81-BB6D-A745-DB1C-748A9E9A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47577-1373-B62C-9A1E-78065D4B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2AFFAA72-7370-F372-AD06-32F0A4B8855D}"/>
              </a:ext>
            </a:extLst>
          </p:cNvPr>
          <p:cNvSpPr/>
          <p:nvPr/>
        </p:nvSpPr>
        <p:spPr>
          <a:xfrm>
            <a:off x="3642350" y="3931643"/>
            <a:ext cx="976532" cy="513318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1850;p15">
            <a:extLst>
              <a:ext uri="{FF2B5EF4-FFF2-40B4-BE49-F238E27FC236}">
                <a16:creationId xmlns:a16="http://schemas.microsoft.com/office/drawing/2014/main" id="{47736F42-F547-AA69-B957-75978FF83215}"/>
              </a:ext>
            </a:extLst>
          </p:cNvPr>
          <p:cNvSpPr/>
          <p:nvPr/>
        </p:nvSpPr>
        <p:spPr>
          <a:xfrm flipH="1">
            <a:off x="1890046" y="3835760"/>
            <a:ext cx="1640384" cy="740650"/>
          </a:xfrm>
          <a:prstGeom prst="rect">
            <a:avLst/>
          </a:prstGeom>
          <a:ln>
            <a:solidFill>
              <a:srgbClr val="00206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Result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29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86FD1-5FD3-7B25-B81B-A9E08AC9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53A48-1983-75A9-409D-4398B09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613992-F549-8900-412E-0B9080D7937D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9046D8-562A-CAD4-FD15-80381F38D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30592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210F9F-E636-F0EB-7A1D-0029136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05643" y="593237"/>
            <a:ext cx="31577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DF6EE3-03C7-2155-F018-4B1D7F9D5D2B}"/>
              </a:ext>
            </a:extLst>
          </p:cNvPr>
          <p:cNvSpPr txBox="1"/>
          <p:nvPr/>
        </p:nvSpPr>
        <p:spPr>
          <a:xfrm>
            <a:off x="3819819" y="3349862"/>
            <a:ext cx="4985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Proposed VGG19 Model Architecture [6]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D395D7-02BE-3814-7868-33DA07715F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" b="4797"/>
          <a:stretch/>
        </p:blipFill>
        <p:spPr bwMode="auto">
          <a:xfrm>
            <a:off x="2255520" y="1028008"/>
            <a:ext cx="7680960" cy="21779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0F99BA-435F-E95E-7B07-DA9F0F648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63143"/>
            <a:ext cx="7812258" cy="2205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034C35-442F-5621-C3D0-E343DF6FFFCE}"/>
              </a:ext>
            </a:extLst>
          </p:cNvPr>
          <p:cNvSpPr txBox="1"/>
          <p:nvPr/>
        </p:nvSpPr>
        <p:spPr>
          <a:xfrm>
            <a:off x="3819819" y="6169580"/>
            <a:ext cx="5535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Proposed DenseNet121 Model Architecture [7]</a:t>
            </a:r>
          </a:p>
        </p:txBody>
      </p:sp>
    </p:spTree>
    <p:extLst>
      <p:ext uri="{BB962C8B-B14F-4D97-AF65-F5344CB8AC3E}">
        <p14:creationId xmlns:p14="http://schemas.microsoft.com/office/powerpoint/2010/main" val="353281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16A35-C0AC-1B91-B821-BA1557DA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C3629-941D-0D7E-975B-80A88780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A0182C-1EAE-9839-D808-8F0D0313A5B0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5F2ABD-1D36-46A5-6D9B-A63A5222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30592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367B41-E8DD-E9B1-681C-291FB8E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05643" y="593237"/>
            <a:ext cx="31577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980E08F-CB0E-E9F7-9515-DE4F72B72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28325" y="1899018"/>
            <a:ext cx="4740815" cy="30529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342FB-FD87-9D1B-C1D0-45A5B090C252}"/>
              </a:ext>
            </a:extLst>
          </p:cNvPr>
          <p:cNvSpPr txBox="1"/>
          <p:nvPr/>
        </p:nvSpPr>
        <p:spPr>
          <a:xfrm>
            <a:off x="3205820" y="5956342"/>
            <a:ext cx="574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8: Proposed EfficientNetB0 Model Architecture [8]</a:t>
            </a:r>
          </a:p>
        </p:txBody>
      </p:sp>
    </p:spTree>
    <p:extLst>
      <p:ext uri="{BB962C8B-B14F-4D97-AF65-F5344CB8AC3E}">
        <p14:creationId xmlns:p14="http://schemas.microsoft.com/office/powerpoint/2010/main" val="318478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11415" y="59563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B823932-378A-32B7-8FB4-520A91A5CB50}"/>
              </a:ext>
            </a:extLst>
          </p:cNvPr>
          <p:cNvSpPr txBox="1"/>
          <p:nvPr/>
        </p:nvSpPr>
        <p:spPr>
          <a:xfrm>
            <a:off x="922175" y="2665212"/>
            <a:ext cx="83421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selected </a:t>
            </a:r>
            <a:r>
              <a:rPr lang="en-US" sz="200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utilizes the </a:t>
            </a:r>
            <a:r>
              <a:rPr lang="en-US" sz="2000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CrisisMMD</a:t>
            </a:r>
            <a:r>
              <a:rPr lang="en-US" sz="200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5E3497-FDFA-9FA1-85E2-FEFE5FAC3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71" y="2715764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0025E7-E2E4-7D86-CEF4-710EB7754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71" y="3476268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62880-90BB-2332-A24A-ED87ACFB8136}"/>
              </a:ext>
            </a:extLst>
          </p:cNvPr>
          <p:cNvSpPr txBox="1"/>
          <p:nvPr/>
        </p:nvSpPr>
        <p:spPr>
          <a:xfrm>
            <a:off x="838200" y="3432787"/>
            <a:ext cx="9760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14,465 samples for multimodal feature alignment.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Set: 3,617 samples for high-precision 91% benchmark evaluation.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9B2A42D-9CD6-D0B4-E391-043CDEAE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9EDA8C-EDA3-3AD0-B62A-4E4BE9AC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379268E-D806-2C37-3D4A-03F08A4A8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77382"/>
              </p:ext>
            </p:extLst>
          </p:nvPr>
        </p:nvGraphicFramePr>
        <p:xfrm>
          <a:off x="679225" y="4692056"/>
          <a:ext cx="8128000" cy="148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045399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6361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53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Tweets (Text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16,058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03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Images (Visual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18,082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54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Natural Disasters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42762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A74EB8C-3669-D4E0-1082-5F3D7568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42" y="593237"/>
            <a:ext cx="3825758" cy="31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2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1E31D-AF02-D05C-2A00-53308710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6DBDC-EDF9-7659-2564-F7AF51AA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B6D644-21C0-18EC-BEC3-48E6F3BC4F53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4E20A0-2890-BD5F-25C5-784CE978D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923" y="593237"/>
            <a:ext cx="3935437" cy="2394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6B189D-85E8-F95A-4DF9-EA982F709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9087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138B5AE-FF91-FB50-0CDC-20B817EC9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2433" y="1382859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8CFFD2-D7F2-57FD-7B3A-CBEF1575900F}"/>
              </a:ext>
            </a:extLst>
          </p:cNvPr>
          <p:cNvSpPr txBox="1"/>
          <p:nvPr/>
        </p:nvSpPr>
        <p:spPr>
          <a:xfrm>
            <a:off x="1856935" y="1350803"/>
            <a:ext cx="30948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Splitting: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(80%)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(20%)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C964588-4B96-7053-5DD9-59CE7BD0A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1985185"/>
              </p:ext>
            </p:extLst>
          </p:nvPr>
        </p:nvGraphicFramePr>
        <p:xfrm>
          <a:off x="5457874" y="1535469"/>
          <a:ext cx="6305452" cy="3957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6201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DF492-ED5F-65AA-54F1-C13DFF4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339DDA-86FD-4B90-3045-46A5D31F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4C0AF8-6A62-7129-9CA3-B5B98A4396E2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A5A9E0-4B66-D1E1-CCA1-A4F4DD69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923" y="593237"/>
            <a:ext cx="3935437" cy="2394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C2D57-E97E-042C-3BC3-06B0199F1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9087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169C13-03B8-4629-AF51-6DD404E9AEE2}"/>
              </a:ext>
            </a:extLst>
          </p:cNvPr>
          <p:cNvSpPr txBox="1"/>
          <p:nvPr/>
        </p:nvSpPr>
        <p:spPr>
          <a:xfrm>
            <a:off x="1744392" y="1748730"/>
            <a:ext cx="986145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Hot Encoding: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this method, each tumor type gets translated into a distinct binary array.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Here’s is a way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represent the classes using one-hot encoding:</a:t>
            </a:r>
          </a:p>
          <a:p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Glioma cases: [1, 0, 0, 0]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Meningioma cases: [0, 1, 0, 0]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Pituitary cases: [0, 0, 1, 0]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tumor cases: [0, 0, 0, 1]</a:t>
            </a:r>
          </a:p>
          <a:p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ABADC-8AEF-905D-DC61-537005040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7621" y="1815259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0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33CA9-C6EA-1ECE-D052-0662E067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5401C1-19C1-3710-23A9-017C6A28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2C8801-3039-DB6E-C71E-0C4B22162CB0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PRETAINED MODEL PARAMETER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851213-8A77-D9D6-6BD1-70AB4337E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42081" y="607305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2E6AB-857E-4503-E572-C545CFA8B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72135" y="593237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932CE33-2FE9-CF68-1BAC-AABA5E87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13981"/>
              </p:ext>
            </p:extLst>
          </p:nvPr>
        </p:nvGraphicFramePr>
        <p:xfrm>
          <a:off x="1358722" y="1778746"/>
          <a:ext cx="9474556" cy="429831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73629">
                  <a:extLst>
                    <a:ext uri="{9D8B030D-6E8A-4147-A177-3AD203B41FA5}">
                      <a16:colId xmlns:a16="http://schemas.microsoft.com/office/drawing/2014/main" val="2411093177"/>
                    </a:ext>
                  </a:extLst>
                </a:gridCol>
                <a:gridCol w="5500927">
                  <a:extLst>
                    <a:ext uri="{9D8B030D-6E8A-4147-A177-3AD203B41FA5}">
                      <a16:colId xmlns:a16="http://schemas.microsoft.com/office/drawing/2014/main" val="154275089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Name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3680693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convolution layer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67002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pooling layer                                      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5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737044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ImageNet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1812241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76389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Callbacks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callbacks_checkpoints4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508644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8391574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epochs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7639566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8956565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Function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categorical_crossentropy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214776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082903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DB1F8DD-0976-45B2-8DCE-5D73F89BB5EC}"/>
              </a:ext>
            </a:extLst>
          </p:cNvPr>
          <p:cNvSpPr txBox="1"/>
          <p:nvPr/>
        </p:nvSpPr>
        <p:spPr>
          <a:xfrm>
            <a:off x="2512256" y="1111016"/>
            <a:ext cx="6098344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ctr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.1 MODEL PARAMETERS FOR VGG19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75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569CF-2113-60FA-EF08-8ED8D363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8840C0-1544-80FC-6679-F7DD8F8B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40DBC7-EA0C-FBC8-4DA0-8CB06D422A37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PRETAINED MODEL PARAMETER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A701E3-F414-AC9C-0A42-51DE19CE1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452560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9CBD08-44F7-00F7-2E59-77AE0B9EC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72135" y="454954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CB188D-2AED-8B52-C5AC-3EBEAF289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78041"/>
              </p:ext>
            </p:extLst>
          </p:nvPr>
        </p:nvGraphicFramePr>
        <p:xfrm>
          <a:off x="2250831" y="1237204"/>
          <a:ext cx="8567224" cy="51907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43877">
                  <a:extLst>
                    <a:ext uri="{9D8B030D-6E8A-4147-A177-3AD203B41FA5}">
                      <a16:colId xmlns:a16="http://schemas.microsoft.com/office/drawing/2014/main" val="2623859689"/>
                    </a:ext>
                  </a:extLst>
                </a:gridCol>
                <a:gridCol w="4823347">
                  <a:extLst>
                    <a:ext uri="{9D8B030D-6E8A-4147-A177-3AD203B41FA5}">
                      <a16:colId xmlns:a16="http://schemas.microsoft.com/office/drawing/2014/main" val="1102233693"/>
                    </a:ext>
                  </a:extLst>
                </a:gridCol>
              </a:tblGrid>
              <a:tr h="343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Name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1933505915"/>
                  </a:ext>
                </a:extLst>
              </a:tr>
              <a:tr h="259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contain no. of convolution layer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537135378"/>
                  </a:ext>
                </a:extLst>
              </a:tr>
              <a:tr h="343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pooling layer                                        ( GlobalAveragePooling2D)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1910121031"/>
                  </a:ext>
                </a:extLst>
              </a:tr>
              <a:tr h="320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ImageNet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3431539411"/>
                  </a:ext>
                </a:extLst>
              </a:tr>
              <a:tr h="259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Verbose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378958809"/>
                  </a:ext>
                </a:extLst>
              </a:tr>
              <a:tr h="343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Callbacks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TensorBoard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ModelCheckpoint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ReduceLROnPlateau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409536461"/>
                  </a:ext>
                </a:extLst>
              </a:tr>
              <a:tr h="197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1046655812"/>
                  </a:ext>
                </a:extLst>
              </a:tr>
              <a:tr h="2108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 rate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589456865"/>
                  </a:ext>
                </a:extLst>
              </a:tr>
              <a:tr h="1758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 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1270833904"/>
                  </a:ext>
                </a:extLst>
              </a:tr>
              <a:tr h="2503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Patience 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1831430073"/>
                  </a:ext>
                </a:extLst>
              </a:tr>
              <a:tr h="2201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delta 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472863098"/>
                  </a:ext>
                </a:extLst>
              </a:tr>
              <a:tr h="343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50578616"/>
                  </a:ext>
                </a:extLst>
              </a:tr>
              <a:tr h="259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epochs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3566637962"/>
                  </a:ext>
                </a:extLst>
              </a:tr>
              <a:tr h="259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779719794"/>
                  </a:ext>
                </a:extLst>
              </a:tr>
              <a:tr h="3116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Function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 cross-entropy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766330893"/>
                  </a:ext>
                </a:extLst>
              </a:tr>
              <a:tr h="254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96" marR="52596" marT="0" marB="0" anchor="ctr"/>
                </a:tc>
                <a:extLst>
                  <a:ext uri="{0D108BD9-81ED-4DB2-BD59-A6C34878D82A}">
                    <a16:rowId xmlns:a16="http://schemas.microsoft.com/office/drawing/2014/main" val="207142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35A374-8D10-A483-75A8-3C6BBBC51D9B}"/>
              </a:ext>
            </a:extLst>
          </p:cNvPr>
          <p:cNvSpPr txBox="1"/>
          <p:nvPr/>
        </p:nvSpPr>
        <p:spPr>
          <a:xfrm>
            <a:off x="2502581" y="814659"/>
            <a:ext cx="6870896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ctr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PARAMETERS FOR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DENSENET121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3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2031" y="454953"/>
            <a:ext cx="384018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21282" y="454953"/>
            <a:ext cx="38123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A3C4982-CA79-84EF-F3CD-132862A81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5077" y="1527153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2DC08-89A9-846A-DC4F-69E9E233FE27}"/>
              </a:ext>
            </a:extLst>
          </p:cNvPr>
          <p:cNvSpPr txBox="1"/>
          <p:nvPr/>
        </p:nvSpPr>
        <p:spPr>
          <a:xfrm>
            <a:off x="1645626" y="1463040"/>
            <a:ext cx="725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Graph:  Accuracy graph for Training and Validation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5EBA25-C0D8-CA99-AA30-C42A167C0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491979"/>
            <a:ext cx="3836963" cy="2533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7899AD-9DDE-BCC9-BD32-ACC9AABAB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960" y="2219066"/>
            <a:ext cx="4375785" cy="2924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44327C-26CB-D6E7-DD8F-C106C439B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131" y="2215754"/>
            <a:ext cx="4202137" cy="3086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4D9990-55A0-8CE9-CBA7-356A05446E13}"/>
              </a:ext>
            </a:extLst>
          </p:cNvPr>
          <p:cNvSpPr txBox="1"/>
          <p:nvPr/>
        </p:nvSpPr>
        <p:spPr>
          <a:xfrm>
            <a:off x="89830" y="5018587"/>
            <a:ext cx="349157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10: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ccuracy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VGG19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DA866-1804-F3DE-D053-FA7DEF8ABB43}"/>
              </a:ext>
            </a:extLst>
          </p:cNvPr>
          <p:cNvSpPr txBox="1"/>
          <p:nvPr/>
        </p:nvSpPr>
        <p:spPr>
          <a:xfrm>
            <a:off x="3887960" y="5075033"/>
            <a:ext cx="349157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11: Accuracy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DenseNet121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2ABCFF-272C-6B2D-1F82-8F886987D84D}"/>
              </a:ext>
            </a:extLst>
          </p:cNvPr>
          <p:cNvSpPr txBox="1"/>
          <p:nvPr/>
        </p:nvSpPr>
        <p:spPr>
          <a:xfrm>
            <a:off x="7887946" y="5119868"/>
            <a:ext cx="349157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12: Accuracy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EfficientNetB0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7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438492"/>
            <a:ext cx="384018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51054" y="438492"/>
            <a:ext cx="38123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5B6CCC1-F376-EDCF-E83B-5F6495A75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960" y="1463040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F977A-F66D-1022-E59B-73FC85FBD292}"/>
              </a:ext>
            </a:extLst>
          </p:cNvPr>
          <p:cNvSpPr txBox="1"/>
          <p:nvPr/>
        </p:nvSpPr>
        <p:spPr>
          <a:xfrm>
            <a:off x="1645626" y="1463040"/>
            <a:ext cx="725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Graph: Loss graph for Training and Validation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F0D9D2-C03B-6868-FC61-47F7FF0EF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77" y="2284049"/>
            <a:ext cx="3654818" cy="2805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7B1DF-E3CC-B1E6-1555-3413F3CAF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569" y="2284049"/>
            <a:ext cx="3967166" cy="2841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DFF06D-4406-D439-D87F-00BE7D1D3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736" y="2039815"/>
            <a:ext cx="4234664" cy="3086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A86945-07B2-5886-0934-DFBDE13C3360}"/>
              </a:ext>
            </a:extLst>
          </p:cNvPr>
          <p:cNvSpPr txBox="1"/>
          <p:nvPr/>
        </p:nvSpPr>
        <p:spPr>
          <a:xfrm>
            <a:off x="228600" y="5131328"/>
            <a:ext cx="349157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Loss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VGG19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135682-D67F-5740-0843-E53DF714E00F}"/>
              </a:ext>
            </a:extLst>
          </p:cNvPr>
          <p:cNvSpPr txBox="1"/>
          <p:nvPr/>
        </p:nvSpPr>
        <p:spPr>
          <a:xfrm>
            <a:off x="7887946" y="5119868"/>
            <a:ext cx="349157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Loss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EfficientNetB0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C00DC-690B-DAF1-A182-C53B4C3F21D2}"/>
              </a:ext>
            </a:extLst>
          </p:cNvPr>
          <p:cNvSpPr txBox="1"/>
          <p:nvPr/>
        </p:nvSpPr>
        <p:spPr>
          <a:xfrm>
            <a:off x="3879379" y="5131327"/>
            <a:ext cx="3407685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14: Loss graph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DenseNet121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2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1425" y="438492"/>
            <a:ext cx="384018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51054" y="438492"/>
            <a:ext cx="38123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A8D56C-4C38-DF79-0E18-52201F684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874" y="1276002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501B9-EA31-E05C-16F4-D8EA41E63BBA}"/>
              </a:ext>
            </a:extLst>
          </p:cNvPr>
          <p:cNvSpPr txBox="1"/>
          <p:nvPr/>
        </p:nvSpPr>
        <p:spPr>
          <a:xfrm>
            <a:off x="1436078" y="1243945"/>
            <a:ext cx="991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 </a:t>
            </a:r>
            <a:r>
              <a:rPr lang="en-US" kern="0" dirty="0">
                <a:latin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lassification report for the proposed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DFAAE9-CC62-4545-B032-EB37299EF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87565"/>
              </p:ext>
            </p:extLst>
          </p:nvPr>
        </p:nvGraphicFramePr>
        <p:xfrm>
          <a:off x="198857" y="3051945"/>
          <a:ext cx="3760763" cy="2461861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20998964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13850998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30680198"/>
                    </a:ext>
                  </a:extLst>
                </a:gridCol>
                <a:gridCol w="960413">
                  <a:extLst>
                    <a:ext uri="{9D8B030D-6E8A-4147-A177-3AD203B41FA5}">
                      <a16:colId xmlns:a16="http://schemas.microsoft.com/office/drawing/2014/main" val="1517816150"/>
                    </a:ext>
                  </a:extLst>
                </a:gridCol>
              </a:tblGrid>
              <a:tr h="4267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F-1 score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9124441"/>
                  </a:ext>
                </a:extLst>
              </a:tr>
              <a:tr h="3938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032700"/>
                  </a:ext>
                </a:extLst>
              </a:tr>
              <a:tr h="434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855540"/>
                  </a:ext>
                </a:extLst>
              </a:tr>
              <a:tr h="4020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986539"/>
                  </a:ext>
                </a:extLst>
              </a:tr>
              <a:tr h="3691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2659735"/>
                  </a:ext>
                </a:extLst>
              </a:tr>
              <a:tr h="4349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107309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8D24D7-968A-B759-8D25-DB7374164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873516"/>
              </p:ext>
            </p:extLst>
          </p:nvPr>
        </p:nvGraphicFramePr>
        <p:xfrm>
          <a:off x="4215619" y="3052067"/>
          <a:ext cx="3760762" cy="2433601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74503">
                  <a:extLst>
                    <a:ext uri="{9D8B030D-6E8A-4147-A177-3AD203B41FA5}">
                      <a16:colId xmlns:a16="http://schemas.microsoft.com/office/drawing/2014/main" val="2626859738"/>
                    </a:ext>
                  </a:extLst>
                </a:gridCol>
                <a:gridCol w="895420">
                  <a:extLst>
                    <a:ext uri="{9D8B030D-6E8A-4147-A177-3AD203B41FA5}">
                      <a16:colId xmlns:a16="http://schemas.microsoft.com/office/drawing/2014/main" val="1579775848"/>
                    </a:ext>
                  </a:extLst>
                </a:gridCol>
                <a:gridCol w="955114">
                  <a:extLst>
                    <a:ext uri="{9D8B030D-6E8A-4147-A177-3AD203B41FA5}">
                      <a16:colId xmlns:a16="http://schemas.microsoft.com/office/drawing/2014/main" val="1915880098"/>
                    </a:ext>
                  </a:extLst>
                </a:gridCol>
                <a:gridCol w="835725">
                  <a:extLst>
                    <a:ext uri="{9D8B030D-6E8A-4147-A177-3AD203B41FA5}">
                      <a16:colId xmlns:a16="http://schemas.microsoft.com/office/drawing/2014/main" val="1108537535"/>
                    </a:ext>
                  </a:extLst>
                </a:gridCol>
              </a:tblGrid>
              <a:tr h="4218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F-1 score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5227059"/>
                  </a:ext>
                </a:extLst>
              </a:tr>
              <a:tr h="3893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034304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8384468"/>
                  </a:ext>
                </a:extLst>
              </a:tr>
              <a:tr h="3974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859278"/>
                  </a:ext>
                </a:extLst>
              </a:tr>
              <a:tr h="36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8387610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328539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9D78CD-BE50-1658-6A39-75B0858F8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15360"/>
              </p:ext>
            </p:extLst>
          </p:nvPr>
        </p:nvGraphicFramePr>
        <p:xfrm>
          <a:off x="8232383" y="3051944"/>
          <a:ext cx="3760760" cy="243359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74503">
                  <a:extLst>
                    <a:ext uri="{9D8B030D-6E8A-4147-A177-3AD203B41FA5}">
                      <a16:colId xmlns:a16="http://schemas.microsoft.com/office/drawing/2014/main" val="1335268838"/>
                    </a:ext>
                  </a:extLst>
                </a:gridCol>
                <a:gridCol w="895419">
                  <a:extLst>
                    <a:ext uri="{9D8B030D-6E8A-4147-A177-3AD203B41FA5}">
                      <a16:colId xmlns:a16="http://schemas.microsoft.com/office/drawing/2014/main" val="2696853246"/>
                    </a:ext>
                  </a:extLst>
                </a:gridCol>
                <a:gridCol w="955114">
                  <a:extLst>
                    <a:ext uri="{9D8B030D-6E8A-4147-A177-3AD203B41FA5}">
                      <a16:colId xmlns:a16="http://schemas.microsoft.com/office/drawing/2014/main" val="1210183535"/>
                    </a:ext>
                  </a:extLst>
                </a:gridCol>
                <a:gridCol w="835724">
                  <a:extLst>
                    <a:ext uri="{9D8B030D-6E8A-4147-A177-3AD203B41FA5}">
                      <a16:colId xmlns:a16="http://schemas.microsoft.com/office/drawing/2014/main" val="1299108971"/>
                    </a:ext>
                  </a:extLst>
                </a:gridCol>
              </a:tblGrid>
              <a:tr h="4218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F-1 score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9412903"/>
                  </a:ext>
                </a:extLst>
              </a:tr>
              <a:tr h="3893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5972376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2346726"/>
                  </a:ext>
                </a:extLst>
              </a:tr>
              <a:tr h="3974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7457523"/>
                  </a:ext>
                </a:extLst>
              </a:tr>
              <a:tr h="36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442947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180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858D192-19D7-D9B3-7CA8-3E80883BAFEF}"/>
              </a:ext>
            </a:extLst>
          </p:cNvPr>
          <p:cNvSpPr txBox="1"/>
          <p:nvPr/>
        </p:nvSpPr>
        <p:spPr>
          <a:xfrm>
            <a:off x="-450167" y="2346653"/>
            <a:ext cx="4551779" cy="5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ctr">
              <a:lnSpc>
                <a:spcPct val="115000"/>
              </a:lnSpc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.4 CLASSIFICATION REPORT FOR VGG19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61C61-4B57-6C5C-7A65-72299012C8A9}"/>
              </a:ext>
            </a:extLst>
          </p:cNvPr>
          <p:cNvSpPr txBox="1"/>
          <p:nvPr/>
        </p:nvSpPr>
        <p:spPr>
          <a:xfrm>
            <a:off x="3421822" y="2326560"/>
            <a:ext cx="4551779" cy="5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ctr">
              <a:lnSpc>
                <a:spcPct val="115000"/>
              </a:lnSpc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CLASSIFICATION REPORT FOR DENSENET121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CB25F-F0DE-A95B-2C48-375B25ECC3AE}"/>
              </a:ext>
            </a:extLst>
          </p:cNvPr>
          <p:cNvSpPr txBox="1"/>
          <p:nvPr/>
        </p:nvSpPr>
        <p:spPr>
          <a:xfrm>
            <a:off x="7411621" y="2326560"/>
            <a:ext cx="4551779" cy="5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ctr">
              <a:lnSpc>
                <a:spcPct val="115000"/>
              </a:lnSpc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CLASSIFICATION REPORT FOR 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EFFICIENTNETB0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1425" y="438492"/>
            <a:ext cx="384018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51054" y="438492"/>
            <a:ext cx="381234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5A6784F-7F70-2524-5E1B-9E2170E0B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80" y="1384148"/>
            <a:ext cx="7834679" cy="46338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2C32C3-F875-CF6C-0743-3EE37E8C3825}"/>
              </a:ext>
            </a:extLst>
          </p:cNvPr>
          <p:cNvSpPr txBox="1"/>
          <p:nvPr/>
        </p:nvSpPr>
        <p:spPr>
          <a:xfrm>
            <a:off x="5217942" y="602542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 16: Confusion Matrix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for VGG19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9924C0-55F4-BB7E-73F2-E5FD3101A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007340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57009C-AD3D-F5B8-1BF4-619804CC3B90}"/>
              </a:ext>
            </a:extLst>
          </p:cNvPr>
          <p:cNvSpPr txBox="1"/>
          <p:nvPr/>
        </p:nvSpPr>
        <p:spPr>
          <a:xfrm>
            <a:off x="1308296" y="976405"/>
            <a:ext cx="201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</p:spTree>
    <p:extLst>
      <p:ext uri="{BB962C8B-B14F-4D97-AF65-F5344CB8AC3E}">
        <p14:creationId xmlns:p14="http://schemas.microsoft.com/office/powerpoint/2010/main" val="413723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9029" y="438492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47052" y="438492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E2C9048-2B1B-EB63-8B5D-31AD1DAE4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680" y="929539"/>
            <a:ext cx="9636369" cy="5035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95AB7-36C4-5D98-9284-FFE7BCCF4A1D}"/>
              </a:ext>
            </a:extLst>
          </p:cNvPr>
          <p:cNvSpPr txBox="1"/>
          <p:nvPr/>
        </p:nvSpPr>
        <p:spPr>
          <a:xfrm>
            <a:off x="5255456" y="592846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 17: Confusion Matrix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for DenseNet121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3804D5-5509-6C62-3112-07AD10966E00}"/>
              </a:ext>
            </a:extLst>
          </p:cNvPr>
          <p:cNvSpPr txBox="1"/>
          <p:nvPr/>
        </p:nvSpPr>
        <p:spPr>
          <a:xfrm>
            <a:off x="1046871" y="1015874"/>
            <a:ext cx="201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D257F8-4B01-61F4-404B-F91DD0586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489" y="1022738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8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271" y="6324684"/>
            <a:ext cx="2743200" cy="365125"/>
          </a:xfrm>
        </p:spPr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4112" y="438492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0600" y="454953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295AB7-36C4-5D98-9284-FFE7BCCF4A1D}"/>
              </a:ext>
            </a:extLst>
          </p:cNvPr>
          <p:cNvSpPr txBox="1"/>
          <p:nvPr/>
        </p:nvSpPr>
        <p:spPr>
          <a:xfrm>
            <a:off x="5684521" y="5887260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 18: Confusion Matrix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for EfficientNetB0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2E2D9C-DBEA-2FB4-1384-757444A3A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631" y="1107099"/>
            <a:ext cx="9636369" cy="4780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C9853D-4739-E10B-7697-6F1278D962A3}"/>
              </a:ext>
            </a:extLst>
          </p:cNvPr>
          <p:cNvSpPr txBox="1"/>
          <p:nvPr/>
        </p:nvSpPr>
        <p:spPr>
          <a:xfrm>
            <a:off x="1308296" y="976405"/>
            <a:ext cx="201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24382C-BA12-E568-78F4-C76ADDDD0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007340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98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4112" y="438492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0600" y="454953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5C8FBA9-BC64-28A4-09AC-FB80B3867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158689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785A3-D1EE-5D2F-9E38-6E206D8DD6B7}"/>
              </a:ext>
            </a:extLst>
          </p:cNvPr>
          <p:cNvSpPr txBox="1"/>
          <p:nvPr/>
        </p:nvSpPr>
        <p:spPr>
          <a:xfrm>
            <a:off x="1406769" y="1158689"/>
            <a:ext cx="158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3D421B-FF38-9362-CC76-16A88501A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6" y="2318524"/>
            <a:ext cx="3726619" cy="3111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3814BE-8AB5-D8CB-CB0E-AFCF07A42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252437"/>
            <a:ext cx="4198034" cy="3243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3E839D-03E9-B325-EAF9-07E12D17D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434" y="2142759"/>
            <a:ext cx="4529797" cy="34561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BCF79D-8D8E-819E-BFE6-DE6B0262919A}"/>
              </a:ext>
            </a:extLst>
          </p:cNvPr>
          <p:cNvSpPr txBox="1"/>
          <p:nvPr/>
        </p:nvSpPr>
        <p:spPr>
          <a:xfrm>
            <a:off x="409722" y="5514645"/>
            <a:ext cx="2890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 </a:t>
            </a:r>
            <a:r>
              <a:rPr lang="en-US" b="1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ROC curve for VGG19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F3806D-A3EB-2F22-692C-6F3CA9172715}"/>
              </a:ext>
            </a:extLst>
          </p:cNvPr>
          <p:cNvSpPr txBox="1"/>
          <p:nvPr/>
        </p:nvSpPr>
        <p:spPr>
          <a:xfrm>
            <a:off x="3892795" y="5561837"/>
            <a:ext cx="3575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 20: ROC curve for DenseNet121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E72ED6-8987-44F1-96F3-A3725F258400}"/>
              </a:ext>
            </a:extLst>
          </p:cNvPr>
          <p:cNvSpPr txBox="1"/>
          <p:nvPr/>
        </p:nvSpPr>
        <p:spPr>
          <a:xfrm>
            <a:off x="8241617" y="5552254"/>
            <a:ext cx="3721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 21: ROC curve for EfficientNetB0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1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9F52E-929D-6A4C-E6BF-8EBE0B2A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B0DCC-2E1C-B276-39BE-75646C35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CB43C7-3183-C749-93EF-CB74934951DF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4AAFDF-BE1B-58FC-9822-5C0DFB33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4112" y="438492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375CEC-922D-64B1-D728-69DF5EE4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0600" y="454953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E7E79EF-5010-3081-D516-1B9189E9B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1067246"/>
            <a:ext cx="295422" cy="3052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ADB56-CBE2-E5F3-6E43-2661D4121AC2}"/>
              </a:ext>
            </a:extLst>
          </p:cNvPr>
          <p:cNvSpPr txBox="1"/>
          <p:nvPr/>
        </p:nvSpPr>
        <p:spPr>
          <a:xfrm>
            <a:off x="1406769" y="100734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BF9FB21-2B19-5111-8D09-23221B45C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32703"/>
              </p:ext>
            </p:extLst>
          </p:nvPr>
        </p:nvGraphicFramePr>
        <p:xfrm>
          <a:off x="1856935" y="2614834"/>
          <a:ext cx="7287064" cy="317266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639590">
                  <a:extLst>
                    <a:ext uri="{9D8B030D-6E8A-4147-A177-3AD203B41FA5}">
                      <a16:colId xmlns:a16="http://schemas.microsoft.com/office/drawing/2014/main" val="169095543"/>
                    </a:ext>
                  </a:extLst>
                </a:gridCol>
                <a:gridCol w="1366325">
                  <a:extLst>
                    <a:ext uri="{9D8B030D-6E8A-4147-A177-3AD203B41FA5}">
                      <a16:colId xmlns:a16="http://schemas.microsoft.com/office/drawing/2014/main" val="3850221022"/>
                    </a:ext>
                  </a:extLst>
                </a:gridCol>
                <a:gridCol w="1457413">
                  <a:extLst>
                    <a:ext uri="{9D8B030D-6E8A-4147-A177-3AD203B41FA5}">
                      <a16:colId xmlns:a16="http://schemas.microsoft.com/office/drawing/2014/main" val="1333813855"/>
                    </a:ext>
                  </a:extLst>
                </a:gridCol>
                <a:gridCol w="1275236">
                  <a:extLst>
                    <a:ext uri="{9D8B030D-6E8A-4147-A177-3AD203B41FA5}">
                      <a16:colId xmlns:a16="http://schemas.microsoft.com/office/drawing/2014/main" val="2933592112"/>
                    </a:ext>
                  </a:extLst>
                </a:gridCol>
                <a:gridCol w="1548500">
                  <a:extLst>
                    <a:ext uri="{9D8B030D-6E8A-4147-A177-3AD203B41FA5}">
                      <a16:colId xmlns:a16="http://schemas.microsoft.com/office/drawing/2014/main" val="884490311"/>
                    </a:ext>
                  </a:extLst>
                </a:gridCol>
              </a:tblGrid>
              <a:tr h="8167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F-1 score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4775169"/>
                  </a:ext>
                </a:extLst>
              </a:tr>
              <a:tr h="753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VGG19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86.37%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874947"/>
                  </a:ext>
                </a:extLst>
              </a:tr>
              <a:tr h="8325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DenseNet121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97.24%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141130"/>
                  </a:ext>
                </a:extLst>
              </a:tr>
              <a:tr h="7695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EfficientNetB0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97.70%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69498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DE3EAEC-578C-1824-D64C-0E97BB642077}"/>
              </a:ext>
            </a:extLst>
          </p:cNvPr>
          <p:cNvSpPr txBox="1"/>
          <p:nvPr/>
        </p:nvSpPr>
        <p:spPr>
          <a:xfrm>
            <a:off x="1977976" y="2062448"/>
            <a:ext cx="7484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1.7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PERFORMANCE REPORT OF THE PROPOSED MODEL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1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2E1C-221A-1560-A640-736096972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04/28/2024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ED51B8-1D08-0BD4-5387-7A284756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A48CCF-AA80-A0B6-7A05-EE65B98E2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233419"/>
              </p:ext>
            </p:extLst>
          </p:nvPr>
        </p:nvGraphicFramePr>
        <p:xfrm>
          <a:off x="1922583" y="2514228"/>
          <a:ext cx="8981049" cy="332144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930114">
                  <a:extLst>
                    <a:ext uri="{9D8B030D-6E8A-4147-A177-3AD203B41FA5}">
                      <a16:colId xmlns:a16="http://schemas.microsoft.com/office/drawing/2014/main" val="4029340804"/>
                    </a:ext>
                  </a:extLst>
                </a:gridCol>
                <a:gridCol w="6013952">
                  <a:extLst>
                    <a:ext uri="{9D8B030D-6E8A-4147-A177-3AD203B41FA5}">
                      <a16:colId xmlns:a16="http://schemas.microsoft.com/office/drawing/2014/main" val="1593500807"/>
                    </a:ext>
                  </a:extLst>
                </a:gridCol>
                <a:gridCol w="2036983">
                  <a:extLst>
                    <a:ext uri="{9D8B030D-6E8A-4147-A177-3AD203B41FA5}">
                      <a16:colId xmlns:a16="http://schemas.microsoft.com/office/drawing/2014/main" val="2201539643"/>
                    </a:ext>
                  </a:extLst>
                </a:gridCol>
              </a:tblGrid>
              <a:tr h="319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Models\Methods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597524"/>
                  </a:ext>
                </a:extLst>
              </a:tr>
              <a:tr h="35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[04]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with pretrained VGG19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94.82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0667801"/>
                  </a:ext>
                </a:extLst>
              </a:tr>
              <a:tr h="4880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[09]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(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based on Transfer Learning (TL)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593130"/>
                  </a:ext>
                </a:extLst>
              </a:tr>
              <a:tr h="3752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96.51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073872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[02]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3755896"/>
                  </a:ext>
                </a:extLst>
              </a:tr>
              <a:tr h="3564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Ensemble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218461"/>
                  </a:ext>
                </a:extLst>
              </a:tr>
              <a:tr h="381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Ensemble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3749631"/>
                  </a:ext>
                </a:extLst>
              </a:tr>
              <a:tr h="6949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VGG19 Model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DenseNet121 Model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EfficientNetB0 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86.37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97.24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52300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5A23660-72C5-6915-56D2-DD4BDB4E98C9}"/>
              </a:ext>
            </a:extLst>
          </p:cNvPr>
          <p:cNvSpPr txBox="1">
            <a:spLocks/>
          </p:cNvSpPr>
          <p:nvPr/>
        </p:nvSpPr>
        <p:spPr>
          <a:xfrm>
            <a:off x="228600" y="287143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E60FD2-A3CE-0D68-A07D-E12A6D0D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0322" y="438492"/>
            <a:ext cx="262772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05516-81BB-0C1E-6CE0-2EFC350DA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00623" y="438492"/>
            <a:ext cx="285317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AADF9D9-9EBB-8689-D55B-F743E4358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6674" y="1240730"/>
            <a:ext cx="295422" cy="30521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C7D98-0A5A-1786-2153-55CF57F3B0DC}"/>
              </a:ext>
            </a:extLst>
          </p:cNvPr>
          <p:cNvSpPr txBox="1"/>
          <p:nvPr/>
        </p:nvSpPr>
        <p:spPr>
          <a:xfrm>
            <a:off x="1392702" y="1195491"/>
            <a:ext cx="2055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Art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D6C71-B21D-50E3-AAD4-1F07C875B47E}"/>
              </a:ext>
            </a:extLst>
          </p:cNvPr>
          <p:cNvSpPr txBox="1"/>
          <p:nvPr/>
        </p:nvSpPr>
        <p:spPr>
          <a:xfrm>
            <a:off x="1961271" y="2084560"/>
            <a:ext cx="886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 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1.8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COMPARISON OF VARIOUS MODEL AND THE PROPOSED MODEL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32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424424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8600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7175" y="593237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23E47F7-1E24-566B-702D-CAF91B6E2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15912" y="1872912"/>
            <a:ext cx="288406" cy="296083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BEC28C-B2C3-FCA7-4EE0-80D93F7BD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15912" y="2554500"/>
            <a:ext cx="288406" cy="296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764576-2DDF-651B-7687-AFF7F562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15912" y="3351994"/>
            <a:ext cx="288406" cy="296083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619FD55-9468-F3D0-091E-485CB6D9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BCC969-DA83-BD2C-275C-6CB3CD21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32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8A4B35-3F90-1FA1-64AD-6A7EB8D0DF3E}"/>
              </a:ext>
            </a:extLst>
          </p:cNvPr>
          <p:cNvSpPr txBox="1"/>
          <p:nvPr/>
        </p:nvSpPr>
        <p:spPr>
          <a:xfrm>
            <a:off x="1983544" y="1770486"/>
            <a:ext cx="89146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the model into a mobile chatbot interface similar to the ERMES system.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3C54B9-DD1F-FF3F-65BE-FD553C491D50}"/>
              </a:ext>
            </a:extLst>
          </p:cNvPr>
          <p:cNvSpPr txBox="1"/>
          <p:nvPr/>
        </p:nvSpPr>
        <p:spPr>
          <a:xfrm>
            <a:off x="1983544" y="2471006"/>
            <a:ext cx="9101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develop a mobile app or web-based platform for doctors that allows for real-time updating of patient data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18987-91C3-6EDC-5B3A-5AE98A69C8C2}"/>
              </a:ext>
            </a:extLst>
          </p:cNvPr>
          <p:cNvSpPr txBox="1"/>
          <p:nvPr/>
        </p:nvSpPr>
        <p:spPr>
          <a:xfrm>
            <a:off x="1983544" y="3301511"/>
            <a:ext cx="6499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other models we can gain high performance.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439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222342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7964" y="42681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53619" y="42681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9949CAB-4986-1720-BE50-05C8CF9591DF}"/>
              </a:ext>
            </a:extLst>
          </p:cNvPr>
          <p:cNvSpPr/>
          <p:nvPr/>
        </p:nvSpPr>
        <p:spPr>
          <a:xfrm>
            <a:off x="407964" y="942539"/>
            <a:ext cx="11555436" cy="50221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Milica M.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Badža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Marko C.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Barjaktarovi´c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“Classification of Brain Tumors from MRI Images Using a Convolutional Neural Network”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center, School of Electrical Engineering, University of Belgrade 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 January 2020; Accepted: 12 March 2020; Published: 15 March 2020.</a:t>
            </a:r>
          </a:p>
          <a:p>
            <a:pPr algn="just"/>
            <a:endParaRPr lang="en-US" sz="2000" i="0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Hamid, Marwan A. A. and </a:t>
            </a:r>
            <a:r>
              <a:rPr lang="en-US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Najeed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Ahmed Khan. “Investigation and Classification of MRI Brain Tumors Using Feature Extraction Technique.” </a:t>
            </a:r>
            <a:r>
              <a:rPr lang="en-US" sz="2000" i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Medical and Biological Engineering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40 (2020): 307-317.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pashaei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Hedieh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sajedi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Niloofar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jazayeri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“Brain Tumor Classification via Convolutional Neural Network and Extreme Learning Machines”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and Knowledge Engineering (ICCKE 2018)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October 25-26 2018.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Swati,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Nawab Khan,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Qinghua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Zhao, Muhammad Kabir, Farman Ali, Zakir Ali, Saeed Ahmed, and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Jianfeng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Lu. “Brain tumor classification for MR images using transfer learning and fine-tuning.” </a:t>
            </a:r>
            <a:r>
              <a:rPr lang="en-US" sz="20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Computerized Medical Imaging and Graphics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75 (2019): 34-46.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8BA05-A3B1-4768-C893-16D1C3E1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F154-6E16-98CC-BE49-1D9BDE00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1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342631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4698" y="46662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78823" y="46662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9949CAB-4986-1720-BE50-05C8CF9591DF}"/>
              </a:ext>
            </a:extLst>
          </p:cNvPr>
          <p:cNvSpPr/>
          <p:nvPr/>
        </p:nvSpPr>
        <p:spPr>
          <a:xfrm>
            <a:off x="526952" y="812220"/>
            <a:ext cx="11138096" cy="54525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Hossam H. Sultan , Nancy M. Salem , And Walid Al-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atabany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“Multi-Classification of Brain Tumor Images Using Deep Neural Network”,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Object Identifier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10.1109/ACCESS.2019.2919122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Available from: https://blog.techcraft.org/vgg-19-convolutional-neural-network/ [accessed 24 Apr, 2024] 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Aditya Chatterjee, </a:t>
            </a:r>
            <a:r>
              <a:rPr lang="en-US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Ue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Kiao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, Geoffrey Z. "Architecture of DenseNet-121" </a:t>
            </a:r>
            <a:r>
              <a:rPr lang="en-US" sz="2000" i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Tokyo-Japan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, September 2017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Classification and understanding of cloud structures via satellite images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EfficientUNet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Scientific Figure on ResearchGate. Available from: https://www.researchgate.net/figure/Architecture-of-EfficientNet-B0-with-MBConv-as-Basic-building-blocks_fig4_344410350 [accessed 27 Apr, 2024]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Musa, Usman Ibrahim, Queen Emmanuella Mensah, and Rasheed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Falowo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“Intracranial-Tumor Detection and Classification System using Convnet and Transfer Learning.” </a:t>
            </a:r>
            <a:r>
              <a:rPr lang="en-US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Research Journal of Engineering and Technology (IRJET)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(Jan2023) e-ISSN: 2395-0056 p-ISSN: 2395-0072.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C387A-F678-F8DD-E30A-AF9DFB21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FEE-AE30-528E-DD43-652759B4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57622" cy="365125"/>
          </a:xfrm>
        </p:spPr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A5B2-1805-FF60-4115-317E2A972095}"/>
              </a:ext>
            </a:extLst>
          </p:cNvPr>
          <p:cNvSpPr txBox="1">
            <a:spLocks/>
          </p:cNvSpPr>
          <p:nvPr/>
        </p:nvSpPr>
        <p:spPr>
          <a:xfrm>
            <a:off x="228600" y="222342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A7270A-0411-EA02-8EC4-E56F30A4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7964" y="42681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69D114-61FD-DCE5-C7BE-7567B9C0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53619" y="42681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9949CAB-4986-1720-BE50-05C8CF9591DF}"/>
              </a:ext>
            </a:extLst>
          </p:cNvPr>
          <p:cNvSpPr/>
          <p:nvPr/>
        </p:nvSpPr>
        <p:spPr>
          <a:xfrm>
            <a:off x="407964" y="942539"/>
            <a:ext cx="11555436" cy="50221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Polepaka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Sanjeeva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Ch Srinivasa Rao, and M. Chandra Mohan. “IDSS-based two stage classification of brain tumor using SVM.” </a:t>
            </a:r>
            <a:r>
              <a:rPr lang="en-US" sz="200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 and Technology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10, no. 1 (2020): 249-258.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i="0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Hamid, Marwan A. A. and </a:t>
            </a:r>
            <a:r>
              <a:rPr lang="en-US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Najeed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Ahmed Khan. “Investigation and Classification of MRI Brain Tumors Using Feature Extraction Technique.” </a:t>
            </a:r>
            <a:r>
              <a:rPr lang="en-US" sz="2000" i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Medical and Biological Engineering</a:t>
            </a:r>
            <a:r>
              <a:rPr lang="en-US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40 (2020): 307-317.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M. Y. B. Murthy, A.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Koteswararao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and M. S. Babu, “Adaptive fuzzy deformable fusion and optimized CNN with ensemble classification for automated brain tumor diagnosis,” </a:t>
            </a:r>
            <a:r>
              <a:rPr lang="en-US" sz="2000" i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Biomed. Eng. Lett.,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vol. 12, no. 1,pp. 37_58, Feb.2.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8BA05-A3B1-4768-C893-16D1C3E1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F154-6E16-98CC-BE49-1D9BDE00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8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F54FB8-36A0-3498-1FD0-1377ED3EF1C1}"/>
              </a:ext>
            </a:extLst>
          </p:cNvPr>
          <p:cNvSpPr txBox="1"/>
          <p:nvPr/>
        </p:nvSpPr>
        <p:spPr>
          <a:xfrm>
            <a:off x="3249637" y="2764246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C868-FA3C-53A0-EABF-1F7B3BE3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04/28/2024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835BA-EE7D-4993-C55D-EDBB17F7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54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3527</TotalTime>
  <Words>2978</Words>
  <Application>Microsoft Office PowerPoint</Application>
  <PresentationFormat>Widescreen</PresentationFormat>
  <Paragraphs>490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Century Gothic</vt:lpstr>
      <vt:lpstr>DM Sans</vt:lpstr>
      <vt:lpstr>Merriweather</vt:lpstr>
      <vt:lpstr>Palatino Linotype</vt:lpstr>
      <vt:lpstr>Segoe UI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Nabila Ferdous</cp:lastModifiedBy>
  <cp:revision>203</cp:revision>
  <dcterms:created xsi:type="dcterms:W3CDTF">2023-10-12T15:11:08Z</dcterms:created>
  <dcterms:modified xsi:type="dcterms:W3CDTF">2025-12-30T09:12:58Z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